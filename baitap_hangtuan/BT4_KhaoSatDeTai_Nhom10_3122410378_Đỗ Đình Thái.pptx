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14630400" cy="8229600"/>
  <p:notesSz cx="8229600" cy="14630400"/>
  <p:embeddedFontLst>
    <p:embeddedFont>
      <p:font typeface="Bitter Medium" panose="020B0604020202020204" charset="0"/>
      <p:regular r:id="rId12"/>
    </p:embeddedFon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599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62BBC-7902-EAA5-214B-66107A9E6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E180-FA50-3F2A-F41B-AF7EA86DC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7230A-9ADE-6F95-4394-F6D20A5F37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AFDB2F-EEC8-9A0A-C78E-D9D6B251E3D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3446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l="-3000" r="-3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_Toc193983630"/><Relationship Id="rId7" Type="http://schemas.openxmlformats.org/officeDocument/2006/relationships/hyperlink" Target="#_Toc193983638"/><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_Toc193983635"/><Relationship Id="rId5" Type="http://schemas.openxmlformats.org/officeDocument/2006/relationships/hyperlink" Target="#_Toc193983632"/><Relationship Id="rId4" Type="http://schemas.openxmlformats.org/officeDocument/2006/relationships/hyperlink" Target="#_Toc193983631"/></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317313"/>
            <a:ext cx="10988516"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KHẢO SÁT ĐỀ TÀI</a:t>
            </a:r>
            <a:endParaRPr lang="en-US" sz="4450" dirty="0"/>
          </a:p>
        </p:txBody>
      </p:sp>
      <p:sp>
        <p:nvSpPr>
          <p:cNvPr id="3" name="Text 1"/>
          <p:cNvSpPr/>
          <p:nvPr/>
        </p:nvSpPr>
        <p:spPr>
          <a:xfrm>
            <a:off x="793790" y="3479721"/>
            <a:ext cx="13042821"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4" name="Text 2"/>
          <p:cNvSpPr/>
          <p:nvPr/>
        </p:nvSpPr>
        <p:spPr>
          <a:xfrm>
            <a:off x="793790" y="4823578"/>
            <a:ext cx="13042821" cy="2294851"/>
          </a:xfrm>
          <a:prstGeom prst="rect">
            <a:avLst/>
          </a:prstGeom>
          <a:noFill/>
          <a:ln/>
        </p:spPr>
        <p:txBody>
          <a:bodyPr wrap="square" lIns="0" tIns="0" rIns="0" bIns="0" rtlCol="0" anchor="t"/>
          <a:lstStyle/>
          <a:p>
            <a:pPr marL="0" marR="0" lvl="0" indent="0" algn="l" defTabSz="914400" rtl="0" eaLnBrk="0" fontAlgn="base" latinLnBrk="0" hangingPunct="0">
              <a:lnSpc>
                <a:spcPct val="150000"/>
              </a:lnSpc>
              <a:spcBef>
                <a:spcPct val="0"/>
              </a:spcBef>
              <a:spcAft>
                <a:spcPct val="0"/>
              </a:spcAft>
              <a:buClrTx/>
              <a:buSzTx/>
              <a:buFontTx/>
              <a:buNone/>
              <a:tabLst>
                <a:tab pos="7620000" algn="r"/>
              </a:tabLst>
            </a:pP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Chương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 1: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Giới</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thiệu</a:t>
            </a:r>
            <a:endParaRPr kumimoji="0" lang="en-US" altLang="en-US" sz="1100" b="0" i="0" strike="noStrike" cap="none" normalizeH="0" baseline="0" dirty="0">
              <a:ln>
                <a:noFill/>
              </a:ln>
              <a:solidFill>
                <a:schemeClr val="accent3">
                  <a:lumMod val="7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tab pos="7620000" algn="r"/>
              </a:tabLst>
            </a:pP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Chương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2: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Tổng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quan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về</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nhận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diện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biểu</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cảm</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khuôn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mặt</a:t>
            </a:r>
            <a:endParaRPr kumimoji="0" lang="en-US" altLang="en-US" sz="1100" b="0" i="0" strike="noStrike" cap="none" normalizeH="0" baseline="0" dirty="0">
              <a:ln>
                <a:noFill/>
              </a:ln>
              <a:solidFill>
                <a:schemeClr val="accent3">
                  <a:lumMod val="7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tab pos="7620000" algn="r"/>
              </a:tabLst>
            </a:pP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Chương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3: Các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phương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pháp</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và</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công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nghệ</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hiện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tại</a:t>
            </a:r>
            <a:endParaRPr kumimoji="0" lang="en-US" altLang="en-US" sz="1100" b="0" i="0" strike="noStrike" cap="none" normalizeH="0" baseline="0" dirty="0">
              <a:ln>
                <a:noFill/>
              </a:ln>
              <a:solidFill>
                <a:schemeClr val="accent3">
                  <a:lumMod val="7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tab pos="7620000" algn="r"/>
              </a:tabLst>
            </a:pP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Chương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 4: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Ứng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dụng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và</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thách</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thức</a:t>
            </a:r>
            <a:endParaRPr kumimoji="0" lang="en-US" altLang="en-US" sz="1100" b="0" i="0" strike="noStrike" cap="none" normalizeH="0" baseline="0" dirty="0">
              <a:ln>
                <a:noFill/>
              </a:ln>
              <a:solidFill>
                <a:schemeClr val="accent3">
                  <a:lumMod val="7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tab pos="7620000" algn="r"/>
              </a:tabLst>
            </a:pP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Chương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5: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Kết</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luận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và</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định</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hướng</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nghiên</a:t>
            </a:r>
            <a:r>
              <a:rPr kumimoji="0" lang="en-US" altLang="en-US" sz="1800" b="1" i="0" strike="noStrike" cap="none" normalizeH="0" baseline="0" dirty="0">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 </a:t>
            </a:r>
            <a:r>
              <a:rPr kumimoji="0" lang="en-US" altLang="en-US" sz="1800" b="1" i="0" strike="noStrike" cap="none" normalizeH="0" baseline="0" dirty="0" err="1">
                <a:ln>
                  <a:noFill/>
                </a:ln>
                <a:solidFill>
                  <a:schemeClr val="accent3">
                    <a:lumMod val="75000"/>
                  </a:schemeClr>
                </a:solidFill>
                <a:effectLst/>
                <a:latin typeface="Arial" panose="020B0604020202020204" pitchFamily="34" charset="0"/>
                <a:ea typeface="Times New Roman" panose="02020603050405020304" pitchFamily="18" charset="0"/>
                <a:hlinkClick r:id="rId7">
                  <a:extLst>
                    <a:ext uri="{A12FA001-AC4F-418D-AE19-62706E023703}">
                      <ahyp:hlinkClr xmlns:ahyp="http://schemas.microsoft.com/office/drawing/2018/hyperlinkcolor" val="tx"/>
                    </a:ext>
                  </a:extLst>
                </a:hlinkClick>
              </a:rPr>
              <a:t>cứu</a:t>
            </a:r>
            <a:endParaRPr kumimoji="0" lang="en-US" altLang="en-US" sz="1100" b="0" i="0" strike="noStrike" cap="none" normalizeH="0" baseline="0" dirty="0">
              <a:ln>
                <a:noFill/>
              </a:ln>
              <a:solidFill>
                <a:schemeClr val="accent3">
                  <a:lumMod val="75000"/>
                </a:schemeClr>
              </a:solidFill>
              <a:effectLst/>
              <a:latin typeface="Arial" panose="020B0604020202020204" pitchFamily="34" charset="0"/>
            </a:endParaRPr>
          </a:p>
        </p:txBody>
      </p:sp>
      <p:pic>
        <p:nvPicPr>
          <p:cNvPr id="8" name="Picture 7">
            <a:extLst>
              <a:ext uri="{FF2B5EF4-FFF2-40B4-BE49-F238E27FC236}">
                <a16:creationId xmlns:a16="http://schemas.microsoft.com/office/drawing/2014/main" id="{ABC810EC-E192-CE94-4B4F-A1A027196E5A}"/>
              </a:ext>
            </a:extLst>
          </p:cNvPr>
          <p:cNvPicPr>
            <a:picLocks noChangeAspect="1"/>
          </p:cNvPicPr>
          <p:nvPr/>
        </p:nvPicPr>
        <p:blipFill>
          <a:blip r:embed="rId8"/>
          <a:stretch>
            <a:fillRect/>
          </a:stretch>
        </p:blipFill>
        <p:spPr>
          <a:xfrm>
            <a:off x="6071464" y="217050"/>
            <a:ext cx="7858125" cy="4200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000" r="-3000"/>
          </a:stretch>
        </a:blipFill>
        <a:effectLst/>
      </p:bgPr>
    </p:bg>
    <p:spTree>
      <p:nvGrpSpPr>
        <p:cNvPr id="1" name="">
          <a:extLst>
            <a:ext uri="{FF2B5EF4-FFF2-40B4-BE49-F238E27FC236}">
              <a16:creationId xmlns:a16="http://schemas.microsoft.com/office/drawing/2014/main" id="{7C3FED71-E137-FA3A-0BB6-B36D59B0E2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8D45B02-DF76-48F7-40D6-913814868C10}"/>
              </a:ext>
            </a:extLst>
          </p:cNvPr>
          <p:cNvSpPr/>
          <p:nvPr/>
        </p:nvSpPr>
        <p:spPr>
          <a:xfrm>
            <a:off x="793790" y="2317313"/>
            <a:ext cx="10988516"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Nghiên cứu Nhận Diện Biểu Cảm Khuôn Mặt</a:t>
            </a:r>
            <a:endParaRPr lang="en-US" sz="4450" dirty="0"/>
          </a:p>
        </p:txBody>
      </p:sp>
      <p:sp>
        <p:nvSpPr>
          <p:cNvPr id="3" name="Text 1">
            <a:extLst>
              <a:ext uri="{FF2B5EF4-FFF2-40B4-BE49-F238E27FC236}">
                <a16:creationId xmlns:a16="http://schemas.microsoft.com/office/drawing/2014/main" id="{BD6E96B9-F45E-CF1C-7B05-7EDDA593F03C}"/>
              </a:ext>
            </a:extLst>
          </p:cNvPr>
          <p:cNvSpPr/>
          <p:nvPr/>
        </p:nvSpPr>
        <p:spPr>
          <a:xfrm>
            <a:off x="793790" y="3479721"/>
            <a:ext cx="13042821"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Báo cáo này khảo sát lĩnh vực nghiên cứu nhận diện biểu cảm khuôn mặt, một bài toán quan trọng trong thị giác máy tính. Mục tiêu là nhận diện các trạng thái cảm xúc như vui, buồn, tức giận từ hình ảnh. Các phương pháp từ truyền thống đến hiện đại được phân tích, cùng với sự phát triển của công nghệ và dữ liệu lớn.</a:t>
            </a:r>
            <a:endParaRPr lang="en-US" sz="1750" dirty="0"/>
          </a:p>
        </p:txBody>
      </p:sp>
      <p:sp>
        <p:nvSpPr>
          <p:cNvPr id="4" name="Text 2">
            <a:extLst>
              <a:ext uri="{FF2B5EF4-FFF2-40B4-BE49-F238E27FC236}">
                <a16:creationId xmlns:a16="http://schemas.microsoft.com/office/drawing/2014/main" id="{E1F90EDB-EE0F-EED4-05F4-6B6539465DED}"/>
              </a:ext>
            </a:extLst>
          </p:cNvPr>
          <p:cNvSpPr/>
          <p:nvPr/>
        </p:nvSpPr>
        <p:spPr>
          <a:xfrm>
            <a:off x="793790" y="4823579"/>
            <a:ext cx="13042821"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Báo cáo cũng đề cập đến các ứng dụng thực tiễn như giao tiếp người-máy, y tế, giáo dục, đồng thời chỉ ra những thách thức như độ chính xác trong điều kiện thực tế và sự đa dạng văn hóa. Cuối cùng, các hướng nghiên cứu tiềm năng được đề xuất, bao gồm tích hợp đa phương thức và cải thiện dữ liệu huấn luyện.</a:t>
            </a:r>
            <a:endParaRPr lang="en-US" sz="1750" dirty="0"/>
          </a:p>
        </p:txBody>
      </p:sp>
    </p:spTree>
    <p:extLst>
      <p:ext uri="{BB962C8B-B14F-4D97-AF65-F5344CB8AC3E}">
        <p14:creationId xmlns:p14="http://schemas.microsoft.com/office/powerpoint/2010/main" val="4022844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14155"/>
            <a:ext cx="11389876"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Tổng quan về Nhận Diện Biểu Cảm Khuôn Mặt</a:t>
            </a:r>
            <a:endParaRPr lang="en-US" sz="4450" dirty="0"/>
          </a:p>
        </p:txBody>
      </p:sp>
      <p:sp>
        <p:nvSpPr>
          <p:cNvPr id="3" name="Text 1"/>
          <p:cNvSpPr/>
          <p:nvPr/>
        </p:nvSpPr>
        <p:spPr>
          <a:xfrm>
            <a:off x="793790" y="308991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Định nghĩa</a:t>
            </a:r>
            <a:endParaRPr lang="en-US" sz="2200" dirty="0"/>
          </a:p>
        </p:txBody>
      </p:sp>
      <p:sp>
        <p:nvSpPr>
          <p:cNvPr id="4" name="Text 2"/>
          <p:cNvSpPr/>
          <p:nvPr/>
        </p:nvSpPr>
        <p:spPr>
          <a:xfrm>
            <a:off x="793790" y="3671054"/>
            <a:ext cx="3978116" cy="254031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Nhận diện biểu cảm khuôn mặt (FER) là một bài toán trong thị giác máy tính nhằm phân loại các trạng thái cảm xúc cơ bản của con người, chẳng hạn như vui, buồn, tức giận, ngạc nhiên, sợ hãi, ghê sợ và trung lập, dựa trên dữ liệu hình ảnh tĩnh.</a:t>
            </a:r>
            <a:endParaRPr lang="en-US" sz="1750" dirty="0"/>
          </a:p>
        </p:txBody>
      </p:sp>
      <p:sp>
        <p:nvSpPr>
          <p:cNvPr id="5" name="Text 3"/>
          <p:cNvSpPr/>
          <p:nvPr/>
        </p:nvSpPr>
        <p:spPr>
          <a:xfrm>
            <a:off x="5332928" y="308991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Ý nghĩa</a:t>
            </a:r>
            <a:endParaRPr lang="en-US" sz="2200" dirty="0"/>
          </a:p>
        </p:txBody>
      </p:sp>
      <p:sp>
        <p:nvSpPr>
          <p:cNvPr id="6" name="Text 4"/>
          <p:cNvSpPr/>
          <p:nvPr/>
        </p:nvSpPr>
        <p:spPr>
          <a:xfrm>
            <a:off x="5332928" y="3671054"/>
            <a:ext cx="3978116" cy="254031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mang ý nghĩa lớn trong việc kết nối con người với máy tính, giúp các hệ thống thông minh hiểu và phản hồi theo trạng thái tâm lý của người dùng. Theo Li và Deng (2020), FER đã trở thành một lĩnh vực nghiên cứu nổi bật nhờ sự phát triển của học sâu.</a:t>
            </a:r>
            <a:endParaRPr lang="en-US" sz="1750" dirty="0"/>
          </a:p>
        </p:txBody>
      </p:sp>
      <p:sp>
        <p:nvSpPr>
          <p:cNvPr id="7" name="Text 5"/>
          <p:cNvSpPr/>
          <p:nvPr/>
        </p:nvSpPr>
        <p:spPr>
          <a:xfrm>
            <a:off x="9872067" y="3089910"/>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Tập dữ liệu</a:t>
            </a:r>
            <a:endParaRPr lang="en-US" sz="2200" dirty="0"/>
          </a:p>
        </p:txBody>
      </p:sp>
      <p:sp>
        <p:nvSpPr>
          <p:cNvPr id="8" name="Text 6"/>
          <p:cNvSpPr/>
          <p:nvPr/>
        </p:nvSpPr>
        <p:spPr>
          <a:xfrm>
            <a:off x="9872067" y="3671054"/>
            <a:ext cx="3978116" cy="254031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Một số tập dữ liệu nổi bật bao gồm FER2013 (35,000 ảnh, 7 lớp), AffectNet (1 triệu ảnh, 8 lớp), và RAF-DB (ảnh thực tế). Mollahosseini et al. (2019) chỉ ra rằng dữ liệu thực tế thường thiếu sự đa dạng về độ tuổi, giới tính và văn hóa.</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40224"/>
            <a:ext cx="7556421" cy="1417558"/>
          </a:xfrm>
          <a:prstGeom prst="rect">
            <a:avLst/>
          </a:prstGeom>
          <a:noFill/>
          <a:ln/>
        </p:spPr>
        <p:txBody>
          <a:bodyPr wrap="squar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Phương pháp Nhận Diện Biểu Cảm Khuôn Mặt</a:t>
            </a:r>
            <a:endParaRPr lang="en-US" sz="4450" dirty="0"/>
          </a:p>
        </p:txBody>
      </p:sp>
      <p:pic>
        <p:nvPicPr>
          <p:cNvPr id="4" name="Image 1" descr="preencoded.png"/>
          <p:cNvPicPr>
            <a:picLocks noChangeAspect="1"/>
          </p:cNvPicPr>
          <p:nvPr/>
        </p:nvPicPr>
        <p:blipFill>
          <a:blip r:embed="rId4"/>
          <a:stretch>
            <a:fillRect/>
          </a:stretch>
        </p:blipFill>
        <p:spPr>
          <a:xfrm>
            <a:off x="793790" y="2597944"/>
            <a:ext cx="1134070" cy="2395657"/>
          </a:xfrm>
          <a:prstGeom prst="rect">
            <a:avLst/>
          </a:prstGeom>
        </p:spPr>
      </p:pic>
      <p:sp>
        <p:nvSpPr>
          <p:cNvPr id="5" name="Text 1"/>
          <p:cNvSpPr/>
          <p:nvPr/>
        </p:nvSpPr>
        <p:spPr>
          <a:xfrm>
            <a:off x="2268022" y="2824758"/>
            <a:ext cx="3335179"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Phương pháp truyền thống</a:t>
            </a:r>
            <a:endParaRPr lang="en-US" sz="2200" dirty="0"/>
          </a:p>
        </p:txBody>
      </p:sp>
      <p:sp>
        <p:nvSpPr>
          <p:cNvPr id="6" name="Text 2"/>
          <p:cNvSpPr/>
          <p:nvPr/>
        </p:nvSpPr>
        <p:spPr>
          <a:xfrm>
            <a:off x="2268022" y="3315176"/>
            <a:ext cx="6082189"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Dựa trên trích xuất đặc trưng thủ công và học máy, như HOG kết hợp SVM hoặc LBP với Random Forest/AdaBoost. Georgescu et al. (2019) đạt độ chính xác 65% trên FER2013 bằng HOG+SVM.</a:t>
            </a:r>
            <a:endParaRPr lang="en-US" sz="1750" dirty="0"/>
          </a:p>
        </p:txBody>
      </p:sp>
      <p:pic>
        <p:nvPicPr>
          <p:cNvPr id="7" name="Image 2" descr="preencoded.png"/>
          <p:cNvPicPr>
            <a:picLocks noChangeAspect="1"/>
          </p:cNvPicPr>
          <p:nvPr/>
        </p:nvPicPr>
        <p:blipFill>
          <a:blip r:embed="rId5"/>
          <a:stretch>
            <a:fillRect/>
          </a:stretch>
        </p:blipFill>
        <p:spPr>
          <a:xfrm>
            <a:off x="793790" y="4993600"/>
            <a:ext cx="1134070" cy="2395657"/>
          </a:xfrm>
          <a:prstGeom prst="rect">
            <a:avLst/>
          </a:prstGeom>
        </p:spPr>
      </p:pic>
      <p:sp>
        <p:nvSpPr>
          <p:cNvPr id="8" name="Text 3"/>
          <p:cNvSpPr/>
          <p:nvPr/>
        </p:nvSpPr>
        <p:spPr>
          <a:xfrm>
            <a:off x="2268022" y="5220414"/>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Phương pháp học sâu</a:t>
            </a:r>
            <a:endParaRPr lang="en-US" sz="2200" dirty="0"/>
          </a:p>
        </p:txBody>
      </p:sp>
      <p:sp>
        <p:nvSpPr>
          <p:cNvPr id="9" name="Text 4"/>
          <p:cNvSpPr/>
          <p:nvPr/>
        </p:nvSpPr>
        <p:spPr>
          <a:xfrm>
            <a:off x="2268022" y="5710833"/>
            <a:ext cx="6082189"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Sử dụng CNN để tự động trích xuất đặc trưng, loại bỏ thiết kế thủ công. Zhang et al. (2019) đạt 74% trên FER2013 với CNN không gian-thời gian, trong khi VGG16/ResNet tinh chỉnh đạt trên 90% trên AffectNet (Li &amp; Deng, 2020).</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10270"/>
            <a:ext cx="11537871"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Ứng dụng của Nhận Diện Biểu Cảm Khuôn Mặt</a:t>
            </a:r>
            <a:endParaRPr lang="en-US" sz="4450" dirty="0"/>
          </a:p>
        </p:txBody>
      </p:sp>
      <p:pic>
        <p:nvPicPr>
          <p:cNvPr id="3" name="Image 0" descr="preencoded.png"/>
          <p:cNvPicPr>
            <a:picLocks noChangeAspect="1"/>
          </p:cNvPicPr>
          <p:nvPr/>
        </p:nvPicPr>
        <p:blipFill>
          <a:blip r:embed="rId3"/>
          <a:stretch>
            <a:fillRect/>
          </a:stretch>
        </p:blipFill>
        <p:spPr>
          <a:xfrm>
            <a:off x="793790" y="2412325"/>
            <a:ext cx="566976" cy="566976"/>
          </a:xfrm>
          <a:prstGeom prst="rect">
            <a:avLst/>
          </a:prstGeom>
        </p:spPr>
      </p:pic>
      <p:sp>
        <p:nvSpPr>
          <p:cNvPr id="4" name="Text 1"/>
          <p:cNvSpPr/>
          <p:nvPr/>
        </p:nvSpPr>
        <p:spPr>
          <a:xfrm>
            <a:off x="1587579" y="2372678"/>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Giao tiếp người-máy</a:t>
            </a:r>
            <a:endParaRPr lang="en-US" sz="2200" dirty="0"/>
          </a:p>
        </p:txBody>
      </p:sp>
      <p:sp>
        <p:nvSpPr>
          <p:cNvPr id="5" name="Text 2"/>
          <p:cNvSpPr/>
          <p:nvPr/>
        </p:nvSpPr>
        <p:spPr>
          <a:xfrm>
            <a:off x="1587579" y="2863096"/>
            <a:ext cx="12249031"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giúp nâng cao trải nghiệm người dùng trong các hệ thống trî tuệ nhân tạo, như trợ lý ảo, robot tương tác, và các giao diện người-máy có khả năng đáp ứng theo tâm trạng của người dùng.</a:t>
            </a:r>
            <a:endParaRPr lang="en-US" sz="1750" dirty="0"/>
          </a:p>
        </p:txBody>
      </p:sp>
      <p:pic>
        <p:nvPicPr>
          <p:cNvPr id="6" name="Image 1" descr="preencoded.png"/>
          <p:cNvPicPr>
            <a:picLocks noChangeAspect="1"/>
          </p:cNvPicPr>
          <p:nvPr/>
        </p:nvPicPr>
        <p:blipFill>
          <a:blip r:embed="rId4"/>
          <a:stretch>
            <a:fillRect/>
          </a:stretch>
        </p:blipFill>
        <p:spPr>
          <a:xfrm>
            <a:off x="793790" y="4308991"/>
            <a:ext cx="566976" cy="566976"/>
          </a:xfrm>
          <a:prstGeom prst="rect">
            <a:avLst/>
          </a:prstGeom>
        </p:spPr>
      </p:pic>
      <p:sp>
        <p:nvSpPr>
          <p:cNvPr id="7" name="Text 3"/>
          <p:cNvSpPr/>
          <p:nvPr/>
        </p:nvSpPr>
        <p:spPr>
          <a:xfrm>
            <a:off x="1587579" y="4269343"/>
            <a:ext cx="3121819"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Y tế và sức khỏe tâm thần</a:t>
            </a:r>
            <a:endParaRPr lang="en-US" sz="2200" dirty="0"/>
          </a:p>
        </p:txBody>
      </p:sp>
      <p:sp>
        <p:nvSpPr>
          <p:cNvPr id="8" name="Text 4"/>
          <p:cNvSpPr/>
          <p:nvPr/>
        </p:nvSpPr>
        <p:spPr>
          <a:xfrm>
            <a:off x="1587579" y="4759762"/>
            <a:ext cx="12249031"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hỗ trợ phát hiện các rối loạn tâm lý như trầm cảm, lo âu bằng cách phân tích biểu cảm khuôn mặt. Các hệ thống AI trong y tế có thể hỗ trợ bác sĩ đánh giá tấm trạng bệnh nhân.</a:t>
            </a:r>
            <a:endParaRPr lang="en-US" sz="1750" dirty="0"/>
          </a:p>
        </p:txBody>
      </p:sp>
      <p:pic>
        <p:nvPicPr>
          <p:cNvPr id="9" name="Image 2" descr="preencoded.png"/>
          <p:cNvPicPr>
            <a:picLocks noChangeAspect="1"/>
          </p:cNvPicPr>
          <p:nvPr/>
        </p:nvPicPr>
        <p:blipFill>
          <a:blip r:embed="rId5"/>
          <a:stretch>
            <a:fillRect/>
          </a:stretch>
        </p:blipFill>
        <p:spPr>
          <a:xfrm>
            <a:off x="793790" y="6205657"/>
            <a:ext cx="566976" cy="566976"/>
          </a:xfrm>
          <a:prstGeom prst="rect">
            <a:avLst/>
          </a:prstGeom>
        </p:spPr>
      </p:pic>
      <p:sp>
        <p:nvSpPr>
          <p:cNvPr id="10" name="Text 5"/>
          <p:cNvSpPr/>
          <p:nvPr/>
        </p:nvSpPr>
        <p:spPr>
          <a:xfrm>
            <a:off x="1587579" y="616600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Giáo dục</a:t>
            </a:r>
            <a:endParaRPr lang="en-US" sz="2200" dirty="0"/>
          </a:p>
        </p:txBody>
      </p:sp>
      <p:sp>
        <p:nvSpPr>
          <p:cNvPr id="11" name="Text 6"/>
          <p:cNvSpPr/>
          <p:nvPr/>
        </p:nvSpPr>
        <p:spPr>
          <a:xfrm>
            <a:off x="1587579" y="6656427"/>
            <a:ext cx="12249031"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giúp đánh giá sự chú ý và mức độ tiếp thu kiến thức của học sinh, hỗ trợ giảng dạy trực tuyến hiệu quả hơn.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802499"/>
            <a:ext cx="12358807"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Thách thức trong Nhận Diện Biểu Cảm Khuôn Mặt</a:t>
            </a:r>
            <a:endParaRPr lang="en-US" sz="4450" dirty="0"/>
          </a:p>
        </p:txBody>
      </p:sp>
      <p:sp>
        <p:nvSpPr>
          <p:cNvPr id="4" name="Shape 1"/>
          <p:cNvSpPr/>
          <p:nvPr/>
        </p:nvSpPr>
        <p:spPr>
          <a:xfrm>
            <a:off x="793790" y="4851440"/>
            <a:ext cx="4196358" cy="2410897"/>
          </a:xfrm>
          <a:prstGeom prst="roundRect">
            <a:avLst>
              <a:gd name="adj" fmla="val 3952"/>
            </a:avLst>
          </a:prstGeom>
          <a:solidFill>
            <a:srgbClr val="FCE2CF"/>
          </a:solidFill>
          <a:ln w="7620">
            <a:solidFill>
              <a:srgbClr val="E2C8B5"/>
            </a:solidFill>
            <a:prstDash val="solid"/>
          </a:ln>
        </p:spPr>
      </p:sp>
      <p:sp>
        <p:nvSpPr>
          <p:cNvPr id="5" name="Text 2"/>
          <p:cNvSpPr/>
          <p:nvPr/>
        </p:nvSpPr>
        <p:spPr>
          <a:xfrm>
            <a:off x="1028224" y="5085874"/>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Độ chính xác</a:t>
            </a:r>
            <a:endParaRPr lang="en-US" sz="2200" dirty="0"/>
          </a:p>
        </p:txBody>
      </p:sp>
      <p:sp>
        <p:nvSpPr>
          <p:cNvPr id="6" name="Text 3"/>
          <p:cNvSpPr/>
          <p:nvPr/>
        </p:nvSpPr>
        <p:spPr>
          <a:xfrm>
            <a:off x="1028224" y="5576292"/>
            <a:ext cx="3727490"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Biểu cảm có thể bị ảnh hưởng bởi ánh sáng, góc nhìn, cảm xúc phức tạp và cừ động khuôn mặt.</a:t>
            </a:r>
            <a:endParaRPr lang="en-US" sz="1750" dirty="0"/>
          </a:p>
        </p:txBody>
      </p:sp>
      <p:sp>
        <p:nvSpPr>
          <p:cNvPr id="7" name="Shape 4"/>
          <p:cNvSpPr/>
          <p:nvPr/>
        </p:nvSpPr>
        <p:spPr>
          <a:xfrm>
            <a:off x="5216962" y="4851440"/>
            <a:ext cx="4196358" cy="2410897"/>
          </a:xfrm>
          <a:prstGeom prst="roundRect">
            <a:avLst>
              <a:gd name="adj" fmla="val 3952"/>
            </a:avLst>
          </a:prstGeom>
          <a:solidFill>
            <a:srgbClr val="FCE2CF"/>
          </a:solidFill>
          <a:ln w="7620">
            <a:solidFill>
              <a:srgbClr val="E2C8B5"/>
            </a:solidFill>
            <a:prstDash val="solid"/>
          </a:ln>
        </p:spPr>
      </p:sp>
      <p:sp>
        <p:nvSpPr>
          <p:cNvPr id="8" name="Text 5"/>
          <p:cNvSpPr/>
          <p:nvPr/>
        </p:nvSpPr>
        <p:spPr>
          <a:xfrm>
            <a:off x="5451396" y="5085874"/>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Sự đa dạng văn hóa</a:t>
            </a:r>
            <a:endParaRPr lang="en-US" sz="2200" dirty="0"/>
          </a:p>
        </p:txBody>
      </p:sp>
      <p:sp>
        <p:nvSpPr>
          <p:cNvPr id="9" name="Text 6"/>
          <p:cNvSpPr/>
          <p:nvPr/>
        </p:nvSpPr>
        <p:spPr>
          <a:xfrm>
            <a:off x="5451396" y="5576292"/>
            <a:ext cx="3727490"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Biểu cảm khuôn mặt có thể được biểu đạt khác nhau từng văn hóa, điều này gây khó khăn cho các mô hình tổng quát hoá.</a:t>
            </a:r>
            <a:endParaRPr lang="en-US" sz="1750" dirty="0"/>
          </a:p>
        </p:txBody>
      </p:sp>
      <p:sp>
        <p:nvSpPr>
          <p:cNvPr id="10" name="Shape 7"/>
          <p:cNvSpPr/>
          <p:nvPr/>
        </p:nvSpPr>
        <p:spPr>
          <a:xfrm>
            <a:off x="9640133" y="4851440"/>
            <a:ext cx="4196358" cy="2410897"/>
          </a:xfrm>
          <a:prstGeom prst="roundRect">
            <a:avLst>
              <a:gd name="adj" fmla="val 3952"/>
            </a:avLst>
          </a:prstGeom>
          <a:solidFill>
            <a:srgbClr val="FCE2CF"/>
          </a:solidFill>
          <a:ln w="7620">
            <a:solidFill>
              <a:srgbClr val="E2C8B5"/>
            </a:solidFill>
            <a:prstDash val="solid"/>
          </a:ln>
        </p:spPr>
      </p:sp>
      <p:sp>
        <p:nvSpPr>
          <p:cNvPr id="11" name="Text 8"/>
          <p:cNvSpPr/>
          <p:nvPr/>
        </p:nvSpPr>
        <p:spPr>
          <a:xfrm>
            <a:off x="9874568" y="5085874"/>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Dữ liệu có nhãn</a:t>
            </a:r>
            <a:endParaRPr lang="en-US" sz="2200" dirty="0"/>
          </a:p>
        </p:txBody>
      </p:sp>
      <p:sp>
        <p:nvSpPr>
          <p:cNvPr id="12" name="Text 9"/>
          <p:cNvSpPr/>
          <p:nvPr/>
        </p:nvSpPr>
        <p:spPr>
          <a:xfrm>
            <a:off x="9874568" y="5576292"/>
            <a:ext cx="3727490"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Gán nhãn chính xác cho dữ liệu biểu cảm là quá trình tốn kém.</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72145"/>
            <a:ext cx="8477369"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Định hướng Nghiên cứu Tương Lai</a:t>
            </a:r>
            <a:endParaRPr lang="en-US" sz="4450" dirty="0"/>
          </a:p>
        </p:txBody>
      </p:sp>
      <p:pic>
        <p:nvPicPr>
          <p:cNvPr id="3" name="Image 0" descr="preencoded.png"/>
          <p:cNvPicPr>
            <a:picLocks noChangeAspect="1"/>
          </p:cNvPicPr>
          <p:nvPr/>
        </p:nvPicPr>
        <p:blipFill>
          <a:blip r:embed="rId3"/>
          <a:stretch>
            <a:fillRect/>
          </a:stretch>
        </p:blipFill>
        <p:spPr>
          <a:xfrm>
            <a:off x="2978348" y="2134553"/>
            <a:ext cx="2152055" cy="1669852"/>
          </a:xfrm>
          <a:prstGeom prst="rect">
            <a:avLst/>
          </a:prstGeom>
        </p:spPr>
      </p:pic>
      <p:sp>
        <p:nvSpPr>
          <p:cNvPr id="4" name="Text 1"/>
          <p:cNvSpPr/>
          <p:nvPr/>
        </p:nvSpPr>
        <p:spPr>
          <a:xfrm>
            <a:off x="3894892" y="2986564"/>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1</a:t>
            </a:r>
            <a:endParaRPr lang="en-US" sz="2500" dirty="0"/>
          </a:p>
        </p:txBody>
      </p:sp>
      <p:sp>
        <p:nvSpPr>
          <p:cNvPr id="5" name="Text 2"/>
          <p:cNvSpPr/>
          <p:nvPr/>
        </p:nvSpPr>
        <p:spPr>
          <a:xfrm>
            <a:off x="5357217" y="2542818"/>
            <a:ext cx="3065740"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Tích hợp đa phương thức</a:t>
            </a:r>
            <a:endParaRPr lang="en-US" sz="2200" dirty="0"/>
          </a:p>
        </p:txBody>
      </p:sp>
      <p:sp>
        <p:nvSpPr>
          <p:cNvPr id="6" name="Text 3"/>
          <p:cNvSpPr/>
          <p:nvPr/>
        </p:nvSpPr>
        <p:spPr>
          <a:xfrm>
            <a:off x="5357217" y="3033236"/>
            <a:ext cx="7459027"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Kết hợp FER với nhận diện giọng nói và sinh trắc học để tăng độ chính xác.</a:t>
            </a:r>
            <a:endParaRPr lang="en-US" sz="1750" dirty="0"/>
          </a:p>
        </p:txBody>
      </p:sp>
      <p:sp>
        <p:nvSpPr>
          <p:cNvPr id="7" name="Shape 4"/>
          <p:cNvSpPr/>
          <p:nvPr/>
        </p:nvSpPr>
        <p:spPr>
          <a:xfrm>
            <a:off x="5187077" y="3817501"/>
            <a:ext cx="8592860" cy="15240"/>
          </a:xfrm>
          <a:prstGeom prst="roundRect">
            <a:avLst>
              <a:gd name="adj" fmla="val 625116"/>
            </a:avLst>
          </a:prstGeom>
          <a:solidFill>
            <a:srgbClr val="E2C8B5"/>
          </a:solidFill>
          <a:ln/>
        </p:spPr>
      </p:sp>
      <p:pic>
        <p:nvPicPr>
          <p:cNvPr id="8" name="Image 1" descr="preencoded.png"/>
          <p:cNvPicPr>
            <a:picLocks noChangeAspect="1"/>
          </p:cNvPicPr>
          <p:nvPr/>
        </p:nvPicPr>
        <p:blipFill>
          <a:blip r:embed="rId4"/>
          <a:stretch>
            <a:fillRect/>
          </a:stretch>
        </p:blipFill>
        <p:spPr>
          <a:xfrm>
            <a:off x="1902381" y="3861078"/>
            <a:ext cx="4304109" cy="1669852"/>
          </a:xfrm>
          <a:prstGeom prst="rect">
            <a:avLst/>
          </a:prstGeom>
        </p:spPr>
      </p:pic>
      <p:sp>
        <p:nvSpPr>
          <p:cNvPr id="9" name="Text 5"/>
          <p:cNvSpPr/>
          <p:nvPr/>
        </p:nvSpPr>
        <p:spPr>
          <a:xfrm>
            <a:off x="3894892" y="4496633"/>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2</a:t>
            </a:r>
            <a:endParaRPr lang="en-US" sz="2500" dirty="0"/>
          </a:p>
        </p:txBody>
      </p:sp>
      <p:sp>
        <p:nvSpPr>
          <p:cNvPr id="10" name="Text 6"/>
          <p:cNvSpPr/>
          <p:nvPr/>
        </p:nvSpPr>
        <p:spPr>
          <a:xfrm>
            <a:off x="6433304" y="4269343"/>
            <a:ext cx="3439120"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Cải thiện dữ liệu huấn luyện</a:t>
            </a:r>
            <a:endParaRPr lang="en-US" sz="2200" dirty="0"/>
          </a:p>
        </p:txBody>
      </p:sp>
      <p:sp>
        <p:nvSpPr>
          <p:cNvPr id="11" name="Text 7"/>
          <p:cNvSpPr/>
          <p:nvPr/>
        </p:nvSpPr>
        <p:spPr>
          <a:xfrm>
            <a:off x="6433304" y="4759762"/>
            <a:ext cx="666380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Xây dựng tập dữ liệu lớn, cân bằng về giới tính, độ tuổi và văn hóa.</a:t>
            </a:r>
            <a:endParaRPr lang="en-US" sz="1750" dirty="0"/>
          </a:p>
        </p:txBody>
      </p:sp>
      <p:sp>
        <p:nvSpPr>
          <p:cNvPr id="12" name="Shape 8"/>
          <p:cNvSpPr/>
          <p:nvPr/>
        </p:nvSpPr>
        <p:spPr>
          <a:xfrm>
            <a:off x="6263164" y="5544026"/>
            <a:ext cx="7516773" cy="15240"/>
          </a:xfrm>
          <a:prstGeom prst="roundRect">
            <a:avLst>
              <a:gd name="adj" fmla="val 625116"/>
            </a:avLst>
          </a:prstGeom>
          <a:solidFill>
            <a:srgbClr val="E2C8B5"/>
          </a:solidFill>
          <a:ln/>
        </p:spPr>
      </p:sp>
      <p:pic>
        <p:nvPicPr>
          <p:cNvPr id="13" name="Image 2" descr="preencoded.png"/>
          <p:cNvPicPr>
            <a:picLocks noChangeAspect="1"/>
          </p:cNvPicPr>
          <p:nvPr/>
        </p:nvPicPr>
        <p:blipFill>
          <a:blip r:embed="rId5"/>
          <a:stretch>
            <a:fillRect/>
          </a:stretch>
        </p:blipFill>
        <p:spPr>
          <a:xfrm>
            <a:off x="826294" y="5587603"/>
            <a:ext cx="6456164" cy="1669852"/>
          </a:xfrm>
          <a:prstGeom prst="rect">
            <a:avLst/>
          </a:prstGeom>
        </p:spPr>
      </p:pic>
      <p:sp>
        <p:nvSpPr>
          <p:cNvPr id="14" name="Text 9"/>
          <p:cNvSpPr/>
          <p:nvPr/>
        </p:nvSpPr>
        <p:spPr>
          <a:xfrm>
            <a:off x="3894773" y="6223159"/>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3</a:t>
            </a:r>
            <a:endParaRPr lang="en-US" sz="2500" dirty="0"/>
          </a:p>
        </p:txBody>
      </p:sp>
      <p:sp>
        <p:nvSpPr>
          <p:cNvPr id="15" name="Text 10"/>
          <p:cNvSpPr/>
          <p:nvPr/>
        </p:nvSpPr>
        <p:spPr>
          <a:xfrm>
            <a:off x="7509272" y="581441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Mô hình nhẹ và tối ưu</a:t>
            </a:r>
            <a:endParaRPr lang="en-US" sz="2200" dirty="0"/>
          </a:p>
        </p:txBody>
      </p:sp>
      <p:sp>
        <p:nvSpPr>
          <p:cNvPr id="16" name="Text 11"/>
          <p:cNvSpPr/>
          <p:nvPr/>
        </p:nvSpPr>
        <p:spPr>
          <a:xfrm>
            <a:off x="7509272" y="6304836"/>
            <a:ext cx="6100524"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Phát triển mạng nơ-ron gọn nhẹ nhưng vẫn đảm bảo hiệu suất cao.</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11085"/>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Kết luận</a:t>
            </a:r>
            <a:endParaRPr lang="en-US" sz="4450" dirty="0"/>
          </a:p>
        </p:txBody>
      </p:sp>
      <p:sp>
        <p:nvSpPr>
          <p:cNvPr id="4" name="Text 1"/>
          <p:cNvSpPr/>
          <p:nvPr/>
        </p:nvSpPr>
        <p:spPr>
          <a:xfrm>
            <a:off x="793790" y="3060025"/>
            <a:ext cx="7556421"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là một lĩnh vực đang phát triển mạnh với nhiều tiềm năng ứng dụng, từ giao tiếp người-máy đến y tế và giáo dục. Dù đã có nhiều tiến bộ nhờ học sâu, FER vẫn đối mặt với thách thức về dữ liệu đa dạng, điều kiện thực tế và chi phí tính toán.</a:t>
            </a:r>
            <a:endParaRPr lang="en-US" sz="1750" dirty="0"/>
          </a:p>
        </p:txBody>
      </p:sp>
      <p:sp>
        <p:nvSpPr>
          <p:cNvPr id="5" name="Text 2"/>
          <p:cNvSpPr/>
          <p:nvPr/>
        </p:nvSpPr>
        <p:spPr>
          <a:xfrm>
            <a:off x="793790" y="4766786"/>
            <a:ext cx="7556421"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không chỉ là một bài toán kỹ thuật mà còn đóng vai trò quan trọng trong cách con người tương tác với công nghệ thông minh trong tương lai. Nghiên cứu có thể tập trung vào các hướng như tích hợp đa phương thức, cải thiện dữ liệu huấn luyện, và mô hình nhẹ và tối ưu.</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61135"/>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Tóm tắt</a:t>
            </a:r>
            <a:endParaRPr lang="en-US" sz="4450" dirty="0"/>
          </a:p>
        </p:txBody>
      </p:sp>
      <p:sp>
        <p:nvSpPr>
          <p:cNvPr id="4" name="Shape 1"/>
          <p:cNvSpPr/>
          <p:nvPr/>
        </p:nvSpPr>
        <p:spPr>
          <a:xfrm>
            <a:off x="6280190" y="2765227"/>
            <a:ext cx="510302" cy="510302"/>
          </a:xfrm>
          <a:prstGeom prst="roundRect">
            <a:avLst>
              <a:gd name="adj" fmla="val 18669"/>
            </a:avLst>
          </a:prstGeom>
          <a:solidFill>
            <a:srgbClr val="FCE2CF"/>
          </a:solidFill>
          <a:ln w="7620">
            <a:solidFill>
              <a:srgbClr val="E2C8B5"/>
            </a:solidFill>
            <a:prstDash val="solid"/>
          </a:ln>
        </p:spPr>
      </p:sp>
      <p:sp>
        <p:nvSpPr>
          <p:cNvPr id="5" name="Text 2"/>
          <p:cNvSpPr/>
          <p:nvPr/>
        </p:nvSpPr>
        <p:spPr>
          <a:xfrm>
            <a:off x="7017306" y="276522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Ứng dụng</a:t>
            </a:r>
            <a:endParaRPr lang="en-US" sz="2200" dirty="0"/>
          </a:p>
        </p:txBody>
      </p:sp>
      <p:sp>
        <p:nvSpPr>
          <p:cNvPr id="6" name="Text 3"/>
          <p:cNvSpPr/>
          <p:nvPr/>
        </p:nvSpPr>
        <p:spPr>
          <a:xfrm>
            <a:off x="7017306" y="3255645"/>
            <a:ext cx="2927747"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FER có nhiều ứng dụng tiềm năng trong giao tiếp người-máy, y tế, giáo dục, an ninh và marketing.</a:t>
            </a:r>
            <a:endParaRPr lang="en-US" sz="1750" dirty="0"/>
          </a:p>
        </p:txBody>
      </p:sp>
      <p:sp>
        <p:nvSpPr>
          <p:cNvPr id="7" name="Shape 4"/>
          <p:cNvSpPr/>
          <p:nvPr/>
        </p:nvSpPr>
        <p:spPr>
          <a:xfrm>
            <a:off x="10171867" y="2765227"/>
            <a:ext cx="510302" cy="510302"/>
          </a:xfrm>
          <a:prstGeom prst="roundRect">
            <a:avLst>
              <a:gd name="adj" fmla="val 18669"/>
            </a:avLst>
          </a:prstGeom>
          <a:solidFill>
            <a:srgbClr val="FCE2CF"/>
          </a:solidFill>
          <a:ln w="7620">
            <a:solidFill>
              <a:srgbClr val="E2C8B5"/>
            </a:solidFill>
            <a:prstDash val="solid"/>
          </a:ln>
        </p:spPr>
      </p:sp>
      <p:sp>
        <p:nvSpPr>
          <p:cNvPr id="8" name="Text 5"/>
          <p:cNvSpPr/>
          <p:nvPr/>
        </p:nvSpPr>
        <p:spPr>
          <a:xfrm>
            <a:off x="10908983" y="276522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Thách thức</a:t>
            </a:r>
            <a:endParaRPr lang="en-US" sz="2200" dirty="0"/>
          </a:p>
        </p:txBody>
      </p:sp>
      <p:sp>
        <p:nvSpPr>
          <p:cNvPr id="9" name="Text 6"/>
          <p:cNvSpPr/>
          <p:nvPr/>
        </p:nvSpPr>
        <p:spPr>
          <a:xfrm>
            <a:off x="10908983" y="3255645"/>
            <a:ext cx="2927747"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Độ chính xác trong điều kiện thực tế, sự đa dạng văn hóa, và sự khan hiếm dữ liệu có nhãn là những thách thức chính.</a:t>
            </a:r>
            <a:endParaRPr lang="en-US" sz="1750" dirty="0"/>
          </a:p>
        </p:txBody>
      </p:sp>
      <p:sp>
        <p:nvSpPr>
          <p:cNvPr id="10" name="Shape 7"/>
          <p:cNvSpPr/>
          <p:nvPr/>
        </p:nvSpPr>
        <p:spPr>
          <a:xfrm>
            <a:off x="6280190" y="5552123"/>
            <a:ext cx="510302" cy="510302"/>
          </a:xfrm>
          <a:prstGeom prst="roundRect">
            <a:avLst>
              <a:gd name="adj" fmla="val 18669"/>
            </a:avLst>
          </a:prstGeom>
          <a:solidFill>
            <a:srgbClr val="FCE2CF"/>
          </a:solidFill>
          <a:ln w="7620">
            <a:solidFill>
              <a:srgbClr val="E2C8B5"/>
            </a:solidFill>
            <a:prstDash val="solid"/>
          </a:ln>
        </p:spPr>
      </p:sp>
      <p:sp>
        <p:nvSpPr>
          <p:cNvPr id="11" name="Text 8"/>
          <p:cNvSpPr/>
          <p:nvPr/>
        </p:nvSpPr>
        <p:spPr>
          <a:xfrm>
            <a:off x="7017306" y="555212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Định hướng</a:t>
            </a:r>
            <a:endParaRPr lang="en-US" sz="2200" dirty="0"/>
          </a:p>
        </p:txBody>
      </p:sp>
      <p:sp>
        <p:nvSpPr>
          <p:cNvPr id="12" name="Text 9"/>
          <p:cNvSpPr/>
          <p:nvPr/>
        </p:nvSpPr>
        <p:spPr>
          <a:xfrm>
            <a:off x="7017306" y="6042541"/>
            <a:ext cx="6819305"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Tích hợp đa phương thức, cải thiện dữ liệu huấn luyện, và mô hình nhẹ và tối ưu là những hướng nghiên cứu tiềm năng.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1045</Words>
  <Application>Microsoft Office PowerPoint</Application>
  <PresentationFormat>Custom</PresentationFormat>
  <Paragraphs>64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Bitter Medium</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Thái Đình</cp:lastModifiedBy>
  <cp:revision>2</cp:revision>
  <dcterms:created xsi:type="dcterms:W3CDTF">2025-03-27T09:16:01Z</dcterms:created>
  <dcterms:modified xsi:type="dcterms:W3CDTF">2025-03-27T09:23:35Z</dcterms:modified>
</cp:coreProperties>
</file>