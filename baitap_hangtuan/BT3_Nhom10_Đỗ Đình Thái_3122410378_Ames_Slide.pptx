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Cabin" panose="020B0604020202020204" charset="0"/>
      <p:regular r:id="rId10"/>
    </p:embeddedFont>
    <p:embeddedFont>
      <p:font typeface="Unbounde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8081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tmwr.org/ames"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139077"/>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Khảo sát Bài Báo cho Dữ Liệu Ames Housing</a:t>
            </a:r>
            <a:endParaRPr lang="en-US" sz="4400" dirty="0"/>
          </a:p>
        </p:txBody>
      </p:sp>
      <p:sp>
        <p:nvSpPr>
          <p:cNvPr id="4" name="Text 1"/>
          <p:cNvSpPr/>
          <p:nvPr/>
        </p:nvSpPr>
        <p:spPr>
          <a:xfrm>
            <a:off x="837724" y="3906083"/>
            <a:ext cx="7468553" cy="766048"/>
          </a:xfrm>
          <a:prstGeom prst="rect">
            <a:avLst/>
          </a:prstGeom>
          <a:noFill/>
          <a:ln/>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Chào mừng đến với bài khảo sát về bộ dữ liệu Ames Housing. Chúng ta sẽ khám phá các khía cạnh khác nhau của dữ liệu này.</a:t>
            </a:r>
            <a:endParaRPr lang="en-US" sz="1850" dirty="0"/>
          </a:p>
        </p:txBody>
      </p:sp>
      <p:sp>
        <p:nvSpPr>
          <p:cNvPr id="5" name="Text 2"/>
          <p:cNvSpPr/>
          <p:nvPr/>
        </p:nvSpPr>
        <p:spPr>
          <a:xfrm>
            <a:off x="837724" y="4941332"/>
            <a:ext cx="7468553" cy="1149072"/>
          </a:xfrm>
          <a:prstGeom prst="rect">
            <a:avLst/>
          </a:prstGeom>
          <a:noFill/>
          <a:ln/>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Từ nguồn gốc, lưu trữ, đến các bài toán liên quan và kết quả đạt được. Mục tiêu là cung cấp cái nhìn tổng quan và chi tiết cho sinh viên và nhà nghiên cứu.</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2677239"/>
            <a:ext cx="7762756" cy="704017"/>
          </a:xfrm>
          <a:prstGeom prst="rect">
            <a:avLst/>
          </a:prstGeom>
          <a:noFill/>
          <a:ln/>
        </p:spPr>
        <p:txBody>
          <a:bodyPr wrap="non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Nguồn Gốc của Dữ Liệu</a:t>
            </a:r>
            <a:endParaRPr lang="en-US" sz="4400" dirty="0"/>
          </a:p>
        </p:txBody>
      </p:sp>
      <p:sp>
        <p:nvSpPr>
          <p:cNvPr id="3" name="Text 1"/>
          <p:cNvSpPr/>
          <p:nvPr/>
        </p:nvSpPr>
        <p:spPr>
          <a:xfrm>
            <a:off x="837724" y="3979545"/>
            <a:ext cx="2816185" cy="351949"/>
          </a:xfrm>
          <a:prstGeom prst="rect">
            <a:avLst/>
          </a:prstGeom>
          <a:noFill/>
          <a:ln/>
        </p:spPr>
        <p:txBody>
          <a:bodyPr wrap="none" lIns="0" tIns="0" rIns="0" bIns="0" rtlCol="0" anchor="t"/>
          <a:lstStyle/>
          <a:p>
            <a:pPr marL="0" indent="0">
              <a:lnSpc>
                <a:spcPts val="2750"/>
              </a:lnSpc>
              <a:buNone/>
            </a:pPr>
            <a:r>
              <a:rPr lang="en-US" sz="2200" dirty="0">
                <a:solidFill>
                  <a:srgbClr val="FFFFFF"/>
                </a:solidFill>
                <a:latin typeface="Unbounded" pitchFamily="34" charset="0"/>
                <a:ea typeface="Unbounded" pitchFamily="34" charset="-122"/>
                <a:cs typeface="Unbounded" pitchFamily="34" charset="-120"/>
              </a:rPr>
              <a:t>Bài Báo Gốc</a:t>
            </a:r>
            <a:endParaRPr lang="en-US" sz="2200" dirty="0"/>
          </a:p>
        </p:txBody>
      </p:sp>
      <p:sp>
        <p:nvSpPr>
          <p:cNvPr id="4" name="Text 2"/>
          <p:cNvSpPr/>
          <p:nvPr/>
        </p:nvSpPr>
        <p:spPr>
          <a:xfrm>
            <a:off x="837724" y="4570809"/>
            <a:ext cx="6185535" cy="766048"/>
          </a:xfrm>
          <a:prstGeom prst="rect">
            <a:avLst/>
          </a:prstGeom>
          <a:noFill/>
          <a:ln/>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Bộ dữ liệu được giới thiệu bởi De Cock (2011). Bài báo: "Ames, Iowa: Alternative to the Boston Housing Data".</a:t>
            </a:r>
            <a:endParaRPr lang="en-US" sz="1850" dirty="0"/>
          </a:p>
        </p:txBody>
      </p:sp>
      <p:sp>
        <p:nvSpPr>
          <p:cNvPr id="5" name="Text 3"/>
          <p:cNvSpPr/>
          <p:nvPr/>
        </p:nvSpPr>
        <p:spPr>
          <a:xfrm>
            <a:off x="7614761" y="3979545"/>
            <a:ext cx="2816185" cy="351949"/>
          </a:xfrm>
          <a:prstGeom prst="rect">
            <a:avLst/>
          </a:prstGeom>
          <a:noFill/>
          <a:ln/>
        </p:spPr>
        <p:txBody>
          <a:bodyPr wrap="none" lIns="0" tIns="0" rIns="0" bIns="0" rtlCol="0" anchor="t"/>
          <a:lstStyle/>
          <a:p>
            <a:pPr marL="0" indent="0">
              <a:lnSpc>
                <a:spcPts val="2750"/>
              </a:lnSpc>
              <a:buNone/>
            </a:pPr>
            <a:r>
              <a:rPr lang="en-US" sz="2200" dirty="0">
                <a:solidFill>
                  <a:srgbClr val="FFFFFF"/>
                </a:solidFill>
                <a:latin typeface="Unbounded" pitchFamily="34" charset="0"/>
                <a:ea typeface="Unbounded" pitchFamily="34" charset="-122"/>
                <a:cs typeface="Unbounded" pitchFamily="34" charset="-120"/>
              </a:rPr>
              <a:t>Tạp Chí</a:t>
            </a:r>
            <a:endParaRPr lang="en-US" sz="2200" dirty="0"/>
          </a:p>
        </p:txBody>
      </p:sp>
      <p:sp>
        <p:nvSpPr>
          <p:cNvPr id="6" name="Text 4"/>
          <p:cNvSpPr/>
          <p:nvPr/>
        </p:nvSpPr>
        <p:spPr>
          <a:xfrm>
            <a:off x="7614761" y="4570809"/>
            <a:ext cx="6185535" cy="766048"/>
          </a:xfrm>
          <a:prstGeom prst="rect">
            <a:avLst/>
          </a:prstGeom>
          <a:noFill/>
          <a:ln/>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Đăng trên Tạp chí Giáo dục Thống kê. Bạn có thể tham khảo tại: </a:t>
            </a:r>
            <a:r>
              <a:rPr lang="en-US" sz="1850" u="sng" dirty="0">
                <a:solidFill>
                  <a:srgbClr val="0A988B"/>
                </a:solidFill>
                <a:latin typeface="Cabin" pitchFamily="34" charset="0"/>
                <a:ea typeface="Cabin" pitchFamily="34" charset="-122"/>
                <a:cs typeface="Cabin" pitchFamily="34" charset="-120"/>
                <a:hlinkClick r:id="rId3">
                  <a:extLst>
                    <a:ext uri="{A12FA001-AC4F-418D-AE19-62706E023703}">
                      <ahyp:hlinkClr xmlns:ahyp="http://schemas.microsoft.com/office/drawing/2018/hyperlinkcolor" val="tx"/>
                    </a:ext>
                  </a:extLst>
                </a:hlinkClick>
              </a:rPr>
              <a:t>https://www.tmwr.org/ames</a:t>
            </a:r>
            <a:r>
              <a:rPr lang="en-US" sz="1850" dirty="0">
                <a:solidFill>
                  <a:srgbClr val="CAD6DE"/>
                </a:solidFill>
                <a:latin typeface="Cabin" pitchFamily="34" charset="0"/>
                <a:ea typeface="Cabin" pitchFamily="34" charset="-122"/>
                <a:cs typeface="Cabin" pitchFamily="34" charset="-120"/>
              </a:rPr>
              <a:t>.</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963817"/>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Lưu Trữ và Truy Cập Dữ Liệu</a:t>
            </a:r>
            <a:endParaRPr lang="en-US" sz="4400" dirty="0"/>
          </a:p>
        </p:txBody>
      </p:sp>
      <p:sp>
        <p:nvSpPr>
          <p:cNvPr id="4" name="Shape 1"/>
          <p:cNvSpPr/>
          <p:nvPr/>
        </p:nvSpPr>
        <p:spPr>
          <a:xfrm>
            <a:off x="837724" y="4000024"/>
            <a:ext cx="538520" cy="538520"/>
          </a:xfrm>
          <a:prstGeom prst="roundRect">
            <a:avLst>
              <a:gd name="adj" fmla="val 6668"/>
            </a:avLst>
          </a:prstGeom>
          <a:solidFill>
            <a:srgbClr val="304755"/>
          </a:solidFill>
          <a:ln/>
        </p:spPr>
      </p:sp>
      <p:sp>
        <p:nvSpPr>
          <p:cNvPr id="5" name="Text 2"/>
          <p:cNvSpPr/>
          <p:nvPr/>
        </p:nvSpPr>
        <p:spPr>
          <a:xfrm>
            <a:off x="937974" y="4058007"/>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CAD6DE"/>
                </a:solidFill>
                <a:latin typeface="Unbounded" pitchFamily="34" charset="0"/>
                <a:ea typeface="Unbounded" pitchFamily="34" charset="-122"/>
                <a:cs typeface="Unbounded" pitchFamily="34" charset="-120"/>
              </a:rPr>
              <a:t>1</a:t>
            </a:r>
            <a:endParaRPr lang="en-US" sz="2650" dirty="0"/>
          </a:p>
        </p:txBody>
      </p:sp>
      <p:sp>
        <p:nvSpPr>
          <p:cNvPr id="6" name="Text 3"/>
          <p:cNvSpPr/>
          <p:nvPr/>
        </p:nvSpPr>
        <p:spPr>
          <a:xfrm>
            <a:off x="1615559" y="4000024"/>
            <a:ext cx="2816185" cy="351949"/>
          </a:xfrm>
          <a:prstGeom prst="rect">
            <a:avLst/>
          </a:prstGeom>
          <a:noFill/>
          <a:ln/>
        </p:spPr>
        <p:txBody>
          <a:bodyPr wrap="none" lIns="0" tIns="0" rIns="0" bIns="0" rtlCol="0" anchor="t"/>
          <a:lstStyle/>
          <a:p>
            <a:pPr marL="0" indent="0">
              <a:lnSpc>
                <a:spcPts val="2750"/>
              </a:lnSpc>
              <a:buNone/>
            </a:pPr>
            <a:r>
              <a:rPr lang="en-US" sz="2200" dirty="0">
                <a:solidFill>
                  <a:srgbClr val="CAD6DE"/>
                </a:solidFill>
                <a:latin typeface="Unbounded" pitchFamily="34" charset="0"/>
                <a:ea typeface="Unbounded" pitchFamily="34" charset="-122"/>
                <a:cs typeface="Unbounded" pitchFamily="34" charset="-120"/>
              </a:rPr>
              <a:t>Nhiều Nguồn</a:t>
            </a:r>
            <a:endParaRPr lang="en-US" sz="2200" dirty="0"/>
          </a:p>
        </p:txBody>
      </p:sp>
      <p:sp>
        <p:nvSpPr>
          <p:cNvPr id="7" name="Text 4"/>
          <p:cNvSpPr/>
          <p:nvPr/>
        </p:nvSpPr>
        <p:spPr>
          <a:xfrm>
            <a:off x="1615559" y="4495562"/>
            <a:ext cx="6690717" cy="383024"/>
          </a:xfrm>
          <a:prstGeom prst="rect">
            <a:avLst/>
          </a:prstGeom>
          <a:noFill/>
          <a:ln/>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Dữ liệu có thể tải xuống từ nhiều nguồn khác nhau.</a:t>
            </a:r>
            <a:endParaRPr lang="en-US" sz="1850" dirty="0"/>
          </a:p>
        </p:txBody>
      </p:sp>
      <p:sp>
        <p:nvSpPr>
          <p:cNvPr id="8" name="Shape 5"/>
          <p:cNvSpPr/>
          <p:nvPr/>
        </p:nvSpPr>
        <p:spPr>
          <a:xfrm>
            <a:off x="837724" y="5387102"/>
            <a:ext cx="538520" cy="538520"/>
          </a:xfrm>
          <a:prstGeom prst="roundRect">
            <a:avLst>
              <a:gd name="adj" fmla="val 6668"/>
            </a:avLst>
          </a:prstGeom>
          <a:solidFill>
            <a:srgbClr val="304755"/>
          </a:solidFill>
          <a:ln/>
        </p:spPr>
      </p:sp>
      <p:sp>
        <p:nvSpPr>
          <p:cNvPr id="9" name="Text 6"/>
          <p:cNvSpPr/>
          <p:nvPr/>
        </p:nvSpPr>
        <p:spPr>
          <a:xfrm>
            <a:off x="937974" y="5445085"/>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CAD6DE"/>
                </a:solidFill>
                <a:latin typeface="Unbounded" pitchFamily="34" charset="0"/>
                <a:ea typeface="Unbounded" pitchFamily="34" charset="-122"/>
                <a:cs typeface="Unbounded" pitchFamily="34" charset="-120"/>
              </a:rPr>
              <a:t>2</a:t>
            </a:r>
            <a:endParaRPr lang="en-US" sz="2650" dirty="0"/>
          </a:p>
        </p:txBody>
      </p:sp>
      <p:sp>
        <p:nvSpPr>
          <p:cNvPr id="10" name="Text 7"/>
          <p:cNvSpPr/>
          <p:nvPr/>
        </p:nvSpPr>
        <p:spPr>
          <a:xfrm>
            <a:off x="1615559" y="5387102"/>
            <a:ext cx="3493294" cy="351949"/>
          </a:xfrm>
          <a:prstGeom prst="rect">
            <a:avLst/>
          </a:prstGeom>
          <a:noFill/>
          <a:ln/>
        </p:spPr>
        <p:txBody>
          <a:bodyPr wrap="none" lIns="0" tIns="0" rIns="0" bIns="0" rtlCol="0" anchor="t"/>
          <a:lstStyle/>
          <a:p>
            <a:pPr marL="0" indent="0">
              <a:lnSpc>
                <a:spcPts val="2750"/>
              </a:lnSpc>
              <a:buNone/>
            </a:pPr>
            <a:r>
              <a:rPr lang="en-US" sz="2200" dirty="0">
                <a:solidFill>
                  <a:srgbClr val="CAD6DE"/>
                </a:solidFill>
                <a:latin typeface="Unbounded" pitchFamily="34" charset="0"/>
                <a:ea typeface="Unbounded" pitchFamily="34" charset="-122"/>
                <a:cs typeface="Unbounded" pitchFamily="34" charset="-120"/>
              </a:rPr>
              <a:t>Gói modeldata của R</a:t>
            </a:r>
            <a:endParaRPr lang="en-US" sz="2200" dirty="0"/>
          </a:p>
        </p:txBody>
      </p:sp>
      <p:sp>
        <p:nvSpPr>
          <p:cNvPr id="11" name="Text 8"/>
          <p:cNvSpPr/>
          <p:nvPr/>
        </p:nvSpPr>
        <p:spPr>
          <a:xfrm>
            <a:off x="1615559" y="5882640"/>
            <a:ext cx="6690717" cy="383024"/>
          </a:xfrm>
          <a:prstGeom prst="rect">
            <a:avLst/>
          </a:prstGeom>
          <a:noFill/>
          <a:ln/>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Một phiên bản đã được chuyển đổi có sẵn trong gói này.</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562933"/>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Từ Điển Dữ Liệu Chi Tiết</a:t>
            </a:r>
            <a:endParaRPr lang="en-US" sz="4400" dirty="0"/>
          </a:p>
        </p:txBody>
      </p:sp>
      <p:sp>
        <p:nvSpPr>
          <p:cNvPr id="4" name="Shape 1"/>
          <p:cNvSpPr/>
          <p:nvPr/>
        </p:nvSpPr>
        <p:spPr>
          <a:xfrm>
            <a:off x="837724" y="3329940"/>
            <a:ext cx="7468553" cy="1740218"/>
          </a:xfrm>
          <a:prstGeom prst="roundRect">
            <a:avLst>
              <a:gd name="adj" fmla="val 2063"/>
            </a:avLst>
          </a:prstGeom>
          <a:solidFill>
            <a:srgbClr val="304755"/>
          </a:solidFill>
          <a:ln/>
        </p:spPr>
      </p:sp>
      <p:sp>
        <p:nvSpPr>
          <p:cNvPr id="5" name="Text 2"/>
          <p:cNvSpPr/>
          <p:nvPr/>
        </p:nvSpPr>
        <p:spPr>
          <a:xfrm>
            <a:off x="1077039" y="3569256"/>
            <a:ext cx="2816185" cy="351949"/>
          </a:xfrm>
          <a:prstGeom prst="rect">
            <a:avLst/>
          </a:prstGeom>
          <a:noFill/>
          <a:ln/>
        </p:spPr>
        <p:txBody>
          <a:bodyPr wrap="none" lIns="0" tIns="0" rIns="0" bIns="0" rtlCol="0" anchor="t"/>
          <a:lstStyle/>
          <a:p>
            <a:pPr marL="0" indent="0">
              <a:lnSpc>
                <a:spcPts val="2750"/>
              </a:lnSpc>
              <a:buNone/>
            </a:pPr>
            <a:r>
              <a:rPr lang="en-US" sz="2200" dirty="0">
                <a:solidFill>
                  <a:srgbClr val="CAD6DE"/>
                </a:solidFill>
                <a:latin typeface="Unbounded" pitchFamily="34" charset="0"/>
                <a:ea typeface="Unbounded" pitchFamily="34" charset="-122"/>
                <a:cs typeface="Unbounded" pitchFamily="34" charset="-120"/>
              </a:rPr>
              <a:t>Bài Báo Gốc</a:t>
            </a:r>
            <a:endParaRPr lang="en-US" sz="2200" dirty="0"/>
          </a:p>
        </p:txBody>
      </p:sp>
      <p:sp>
        <p:nvSpPr>
          <p:cNvPr id="6" name="Text 3"/>
          <p:cNvSpPr/>
          <p:nvPr/>
        </p:nvSpPr>
        <p:spPr>
          <a:xfrm>
            <a:off x="1077039" y="4064794"/>
            <a:ext cx="6989921" cy="766048"/>
          </a:xfrm>
          <a:prstGeom prst="rect">
            <a:avLst/>
          </a:prstGeom>
          <a:noFill/>
          <a:ln/>
        </p:spPr>
        <p:txBody>
          <a:bodyPr wrap="squar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Từ điển dữ liệu chi tiết có thể tìm thấy trong bài báo của De Cock (2011).</a:t>
            </a:r>
            <a:endParaRPr lang="en-US" sz="1850" dirty="0"/>
          </a:p>
        </p:txBody>
      </p:sp>
      <p:sp>
        <p:nvSpPr>
          <p:cNvPr id="7" name="Shape 4"/>
          <p:cNvSpPr/>
          <p:nvPr/>
        </p:nvSpPr>
        <p:spPr>
          <a:xfrm>
            <a:off x="837724" y="5309473"/>
            <a:ext cx="7468553" cy="1357193"/>
          </a:xfrm>
          <a:prstGeom prst="roundRect">
            <a:avLst>
              <a:gd name="adj" fmla="val 2646"/>
            </a:avLst>
          </a:prstGeom>
          <a:solidFill>
            <a:srgbClr val="304755"/>
          </a:solidFill>
          <a:ln/>
        </p:spPr>
      </p:sp>
      <p:sp>
        <p:nvSpPr>
          <p:cNvPr id="8" name="Text 5"/>
          <p:cNvSpPr/>
          <p:nvPr/>
        </p:nvSpPr>
        <p:spPr>
          <a:xfrm>
            <a:off x="1077039" y="5548789"/>
            <a:ext cx="2816185" cy="351949"/>
          </a:xfrm>
          <a:prstGeom prst="rect">
            <a:avLst/>
          </a:prstGeom>
          <a:noFill/>
          <a:ln/>
        </p:spPr>
        <p:txBody>
          <a:bodyPr wrap="none" lIns="0" tIns="0" rIns="0" bIns="0" rtlCol="0" anchor="t"/>
          <a:lstStyle/>
          <a:p>
            <a:pPr marL="0" indent="0">
              <a:lnSpc>
                <a:spcPts val="2750"/>
              </a:lnSpc>
              <a:buNone/>
            </a:pPr>
            <a:r>
              <a:rPr lang="en-US" sz="2200" dirty="0">
                <a:solidFill>
                  <a:srgbClr val="CAD6DE"/>
                </a:solidFill>
                <a:latin typeface="Unbounded" pitchFamily="34" charset="0"/>
                <a:ea typeface="Unbounded" pitchFamily="34" charset="-122"/>
                <a:cs typeface="Unbounded" pitchFamily="34" charset="-120"/>
              </a:rPr>
              <a:t>Thông Tin</a:t>
            </a:r>
            <a:endParaRPr lang="en-US" sz="2200" dirty="0"/>
          </a:p>
        </p:txBody>
      </p:sp>
      <p:sp>
        <p:nvSpPr>
          <p:cNvPr id="9" name="Text 6"/>
          <p:cNvSpPr/>
          <p:nvPr/>
        </p:nvSpPr>
        <p:spPr>
          <a:xfrm>
            <a:off x="1077039" y="6044327"/>
            <a:ext cx="6989921" cy="383024"/>
          </a:xfrm>
          <a:prstGeom prst="rect">
            <a:avLst/>
          </a:prstGeom>
          <a:noFill/>
          <a:ln/>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Cung cấp thông tin về các biến và ý nghĩa của chúng.</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429351"/>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Các Bài Toán Liên Quan</a:t>
            </a:r>
            <a:endParaRPr lang="en-US" sz="4400" dirty="0"/>
          </a:p>
        </p:txBody>
      </p:sp>
      <p:pic>
        <p:nvPicPr>
          <p:cNvPr id="4" name="Image 1" descr="preencoded.png"/>
          <p:cNvPicPr>
            <a:picLocks noChangeAspect="1"/>
          </p:cNvPicPr>
          <p:nvPr/>
        </p:nvPicPr>
        <p:blipFill>
          <a:blip r:embed="rId4"/>
          <a:stretch>
            <a:fillRect/>
          </a:stretch>
        </p:blipFill>
        <p:spPr>
          <a:xfrm>
            <a:off x="6324124" y="4196358"/>
            <a:ext cx="598408" cy="598408"/>
          </a:xfrm>
          <a:prstGeom prst="rect">
            <a:avLst/>
          </a:prstGeom>
        </p:spPr>
      </p:pic>
      <p:sp>
        <p:nvSpPr>
          <p:cNvPr id="5" name="Text 1"/>
          <p:cNvSpPr/>
          <p:nvPr/>
        </p:nvSpPr>
        <p:spPr>
          <a:xfrm>
            <a:off x="6324124" y="5034082"/>
            <a:ext cx="3554730"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Dự đoán giá nhà dựa trên các đặc trưng.</a:t>
            </a:r>
            <a:endParaRPr lang="en-US" sz="1850" dirty="0"/>
          </a:p>
        </p:txBody>
      </p:sp>
      <p:pic>
        <p:nvPicPr>
          <p:cNvPr id="6" name="Image 2" descr="preencoded.png"/>
          <p:cNvPicPr>
            <a:picLocks noChangeAspect="1"/>
          </p:cNvPicPr>
          <p:nvPr/>
        </p:nvPicPr>
        <p:blipFill>
          <a:blip r:embed="rId5"/>
          <a:stretch>
            <a:fillRect/>
          </a:stretch>
        </p:blipFill>
        <p:spPr>
          <a:xfrm>
            <a:off x="10237827" y="4196358"/>
            <a:ext cx="598408" cy="598408"/>
          </a:xfrm>
          <a:prstGeom prst="rect">
            <a:avLst/>
          </a:prstGeom>
        </p:spPr>
      </p:pic>
      <p:sp>
        <p:nvSpPr>
          <p:cNvPr id="7" name="Text 2"/>
          <p:cNvSpPr/>
          <p:nvPr/>
        </p:nvSpPr>
        <p:spPr>
          <a:xfrm>
            <a:off x="10237827" y="5034082"/>
            <a:ext cx="3554849"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Diện tích, số phòng ngủ và vị trí.</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3005733"/>
            <a:ext cx="9228058" cy="704017"/>
          </a:xfrm>
          <a:prstGeom prst="rect">
            <a:avLst/>
          </a:prstGeom>
          <a:noFill/>
          <a:ln/>
        </p:spPr>
        <p:txBody>
          <a:bodyPr wrap="non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Kết Quả Đạt Được và Độ Đo</a:t>
            </a:r>
            <a:endParaRPr lang="en-US" sz="4400" dirty="0"/>
          </a:p>
        </p:txBody>
      </p:sp>
      <p:sp>
        <p:nvSpPr>
          <p:cNvPr id="3" name="Text 1"/>
          <p:cNvSpPr/>
          <p:nvPr/>
        </p:nvSpPr>
        <p:spPr>
          <a:xfrm>
            <a:off x="837724" y="4188500"/>
            <a:ext cx="12954952" cy="383024"/>
          </a:xfrm>
          <a:prstGeom prst="rect">
            <a:avLst/>
          </a:prstGeom>
          <a:noFill/>
          <a:ln/>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Lasso và Gradient Boosting đã được áp dụng.</a:t>
            </a:r>
            <a:endParaRPr lang="en-US" sz="1850" dirty="0"/>
          </a:p>
        </p:txBody>
      </p:sp>
      <p:sp>
        <p:nvSpPr>
          <p:cNvPr id="4" name="Text 2"/>
          <p:cNvSpPr/>
          <p:nvPr/>
        </p:nvSpPr>
        <p:spPr>
          <a:xfrm>
            <a:off x="837724" y="4840724"/>
            <a:ext cx="12954952" cy="383024"/>
          </a:xfrm>
          <a:prstGeom prst="rect">
            <a:avLst/>
          </a:prstGeom>
          <a:noFill/>
          <a:ln/>
        </p:spPr>
        <p:txBody>
          <a:bodyPr wrap="none" lIns="0" tIns="0" rIns="0" bIns="0" rtlCol="0" anchor="t"/>
          <a:lstStyle/>
          <a:p>
            <a:pPr marL="0" indent="0">
              <a:lnSpc>
                <a:spcPts val="3000"/>
              </a:lnSpc>
              <a:buNone/>
            </a:pPr>
            <a:r>
              <a:rPr lang="en-US" sz="1850" dirty="0">
                <a:solidFill>
                  <a:srgbClr val="CAD6DE"/>
                </a:solidFill>
                <a:latin typeface="Cabin" pitchFamily="34" charset="0"/>
                <a:ea typeface="Cabin" pitchFamily="34" charset="-122"/>
                <a:cs typeface="Cabin" pitchFamily="34" charset="-120"/>
              </a:rPr>
              <a:t>MAE khoảng $14,000, MAPE là 8%. Tham khảo: link</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076920"/>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FFFFFF"/>
                </a:solidFill>
                <a:latin typeface="Unbounded" pitchFamily="34" charset="0"/>
                <a:ea typeface="Unbounded" pitchFamily="34" charset="-122"/>
                <a:cs typeface="Unbounded" pitchFamily="34" charset="-120"/>
              </a:rPr>
              <a:t>Khảo Sát Tổng Quan về Bộ Dữ Liệu</a:t>
            </a:r>
            <a:endParaRPr lang="en-US" sz="4400" dirty="0"/>
          </a:p>
        </p:txBody>
      </p:sp>
      <p:pic>
        <p:nvPicPr>
          <p:cNvPr id="4" name="Image 1" descr="preencoded.png"/>
          <p:cNvPicPr>
            <a:picLocks noChangeAspect="1"/>
          </p:cNvPicPr>
          <p:nvPr/>
        </p:nvPicPr>
        <p:blipFill>
          <a:blip r:embed="rId4"/>
          <a:stretch>
            <a:fillRect/>
          </a:stretch>
        </p:blipFill>
        <p:spPr>
          <a:xfrm>
            <a:off x="6324124" y="2843927"/>
            <a:ext cx="1196816" cy="1436251"/>
          </a:xfrm>
          <a:prstGeom prst="rect">
            <a:avLst/>
          </a:prstGeom>
        </p:spPr>
      </p:pic>
      <p:sp>
        <p:nvSpPr>
          <p:cNvPr id="5" name="Text 1"/>
          <p:cNvSpPr/>
          <p:nvPr/>
        </p:nvSpPr>
        <p:spPr>
          <a:xfrm>
            <a:off x="7879913" y="3083243"/>
            <a:ext cx="5912763"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Không có khảo sát tổng quan chính thức nào.</a:t>
            </a:r>
            <a:endParaRPr lang="en-US" sz="1850" dirty="0"/>
          </a:p>
        </p:txBody>
      </p:sp>
      <p:pic>
        <p:nvPicPr>
          <p:cNvPr id="6" name="Image 2" descr="preencoded.png"/>
          <p:cNvPicPr>
            <a:picLocks noChangeAspect="1"/>
          </p:cNvPicPr>
          <p:nvPr/>
        </p:nvPicPr>
        <p:blipFill>
          <a:blip r:embed="rId5"/>
          <a:stretch>
            <a:fillRect/>
          </a:stretch>
        </p:blipFill>
        <p:spPr>
          <a:xfrm>
            <a:off x="6324124" y="4280178"/>
            <a:ext cx="1196816" cy="1436251"/>
          </a:xfrm>
          <a:prstGeom prst="rect">
            <a:avLst/>
          </a:prstGeom>
        </p:spPr>
      </p:pic>
      <p:sp>
        <p:nvSpPr>
          <p:cNvPr id="7" name="Text 2"/>
          <p:cNvSpPr/>
          <p:nvPr/>
        </p:nvSpPr>
        <p:spPr>
          <a:xfrm>
            <a:off x="7879913" y="4519493"/>
            <a:ext cx="5912763"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Nhiều nghiên cứu và dự án cá nhân đã phân tích.</a:t>
            </a:r>
            <a:endParaRPr lang="en-US" sz="1850" dirty="0"/>
          </a:p>
        </p:txBody>
      </p:sp>
      <p:pic>
        <p:nvPicPr>
          <p:cNvPr id="8" name="Image 3" descr="preencoded.png"/>
          <p:cNvPicPr>
            <a:picLocks noChangeAspect="1"/>
          </p:cNvPicPr>
          <p:nvPr/>
        </p:nvPicPr>
        <p:blipFill>
          <a:blip r:embed="rId6"/>
          <a:stretch>
            <a:fillRect/>
          </a:stretch>
        </p:blipFill>
        <p:spPr>
          <a:xfrm>
            <a:off x="6324124" y="5716429"/>
            <a:ext cx="1196816" cy="1436251"/>
          </a:xfrm>
          <a:prstGeom prst="rect">
            <a:avLst/>
          </a:prstGeom>
        </p:spPr>
      </p:pic>
      <p:sp>
        <p:nvSpPr>
          <p:cNvPr id="9" name="Text 3"/>
          <p:cNvSpPr/>
          <p:nvPr/>
        </p:nvSpPr>
        <p:spPr>
          <a:xfrm>
            <a:off x="7879913" y="5955744"/>
            <a:ext cx="5912763"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Sử dụng và phân tích bộ dữ liệu này.</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Words>
  <Application>Microsoft Office PowerPoint</Application>
  <PresentationFormat>Custom</PresentationFormat>
  <Paragraphs>37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Unbounded</vt:lpstr>
      <vt:lpstr>Arial</vt:lpstr>
      <vt:lpstr>Cabin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Thái Đình</cp:lastModifiedBy>
  <cp:revision>1</cp:revision>
  <dcterms:created xsi:type="dcterms:W3CDTF">2025-03-13T16:17:04Z</dcterms:created>
  <dcterms:modified xsi:type="dcterms:W3CDTF">2025-03-13T16:18:54Z</dcterms:modified>
</cp:coreProperties>
</file>