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Josefin Sans Bold" charset="1" panose="00000800000000000000"/>
      <p:regular r:id="rId14"/>
    </p:embeddedFont>
    <p:embeddedFont>
      <p:font typeface="DejaVu Serif Bold" charset="1" panose="02060803050605020204"/>
      <p:regular r:id="rId15"/>
    </p:embeddedFont>
    <p:embeddedFont>
      <p:font typeface="Noto Serif Display" charset="1" panose="02020502080505020204"/>
      <p:regular r:id="rId16"/>
    </p:embeddedFont>
    <p:embeddedFont>
      <p:font typeface="Josefin San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B4B82"/>
        </a:solidFill>
      </p:bgPr>
    </p:bg>
    <p:spTree>
      <p:nvGrpSpPr>
        <p:cNvPr id="1" name=""/>
        <p:cNvGrpSpPr/>
        <p:nvPr/>
      </p:nvGrpSpPr>
      <p:grpSpPr>
        <a:xfrm>
          <a:off x="0" y="0"/>
          <a:ext cx="0" cy="0"/>
          <a:chOff x="0" y="0"/>
          <a:chExt cx="0" cy="0"/>
        </a:xfrm>
      </p:grpSpPr>
      <p:sp>
        <p:nvSpPr>
          <p:cNvPr name="Freeform 2" id="2"/>
          <p:cNvSpPr/>
          <p:nvPr/>
        </p:nvSpPr>
        <p:spPr>
          <a:xfrm flipH="false" flipV="false" rot="0">
            <a:off x="1816200" y="3109428"/>
            <a:ext cx="14655600" cy="7177572"/>
          </a:xfrm>
          <a:custGeom>
            <a:avLst/>
            <a:gdLst/>
            <a:ahLst/>
            <a:cxnLst/>
            <a:rect r="r" b="b" t="t" l="l"/>
            <a:pathLst>
              <a:path h="7177572" w="14655600">
                <a:moveTo>
                  <a:pt x="0" y="0"/>
                </a:moveTo>
                <a:lnTo>
                  <a:pt x="14655600" y="0"/>
                </a:lnTo>
                <a:lnTo>
                  <a:pt x="14655600" y="7177572"/>
                </a:lnTo>
                <a:lnTo>
                  <a:pt x="0" y="7177572"/>
                </a:lnTo>
                <a:lnTo>
                  <a:pt x="0" y="0"/>
                </a:lnTo>
                <a:close/>
              </a:path>
            </a:pathLst>
          </a:custGeom>
          <a:blipFill>
            <a:blip r:embed="rId2"/>
            <a:stretch>
              <a:fillRect l="0" t="0" r="0" b="0"/>
            </a:stretch>
          </a:blipFill>
        </p:spPr>
      </p:sp>
      <p:grpSp>
        <p:nvGrpSpPr>
          <p:cNvPr name="Group 3" id="3"/>
          <p:cNvGrpSpPr/>
          <p:nvPr/>
        </p:nvGrpSpPr>
        <p:grpSpPr>
          <a:xfrm rot="0">
            <a:off x="0" y="-371825"/>
            <a:ext cx="18288000" cy="4705010"/>
            <a:chOff x="0" y="0"/>
            <a:chExt cx="24384000" cy="6273347"/>
          </a:xfrm>
        </p:grpSpPr>
        <p:sp>
          <p:nvSpPr>
            <p:cNvPr name="TextBox 4" id="4"/>
            <p:cNvSpPr txBox="true"/>
            <p:nvPr/>
          </p:nvSpPr>
          <p:spPr>
            <a:xfrm rot="0">
              <a:off x="0" y="1679214"/>
              <a:ext cx="24384000" cy="2873036"/>
            </a:xfrm>
            <a:prstGeom prst="rect">
              <a:avLst/>
            </a:prstGeom>
          </p:spPr>
          <p:txBody>
            <a:bodyPr anchor="t" rtlCol="false" tIns="0" lIns="0" bIns="0" rIns="0">
              <a:spAutoFit/>
            </a:bodyPr>
            <a:lstStyle/>
            <a:p>
              <a:pPr algn="l">
                <a:lnSpc>
                  <a:spcPts val="8372"/>
                </a:lnSpc>
              </a:pPr>
              <a:r>
                <a:rPr lang="en-US" sz="7475" b="true">
                  <a:solidFill>
                    <a:srgbClr val="F7B4A7"/>
                  </a:solidFill>
                  <a:latin typeface="Josefin Sans Bold"/>
                  <a:ea typeface="Josefin Sans Bold"/>
                  <a:cs typeface="Josefin Sans Bold"/>
                  <a:sym typeface="Josefin Sans Bold"/>
                </a:rPr>
                <a:t>Nhận diện cảm xúc khuôn mặt bằng Convolutional Neural Networks (CNN).</a:t>
              </a:r>
            </a:p>
          </p:txBody>
        </p:sp>
        <p:sp>
          <p:nvSpPr>
            <p:cNvPr name="TextBox 5" id="5"/>
            <p:cNvSpPr txBox="true"/>
            <p:nvPr/>
          </p:nvSpPr>
          <p:spPr>
            <a:xfrm rot="0">
              <a:off x="0" y="-71755"/>
              <a:ext cx="24384000" cy="544195"/>
            </a:xfrm>
            <a:prstGeom prst="rect">
              <a:avLst/>
            </a:prstGeom>
          </p:spPr>
          <p:txBody>
            <a:bodyPr anchor="t" rtlCol="false" tIns="0" lIns="0" bIns="0" rIns="0">
              <a:spAutoFit/>
            </a:bodyPr>
            <a:lstStyle/>
            <a:p>
              <a:pPr algn="l">
                <a:lnSpc>
                  <a:spcPts val="3359"/>
                </a:lnSpc>
              </a:pPr>
            </a:p>
          </p:txBody>
        </p:sp>
        <p:sp>
          <p:nvSpPr>
            <p:cNvPr name="TextBox 6" id="6"/>
            <p:cNvSpPr txBox="true"/>
            <p:nvPr/>
          </p:nvSpPr>
          <p:spPr>
            <a:xfrm rot="0">
              <a:off x="0" y="5518120"/>
              <a:ext cx="24384000" cy="761153"/>
            </a:xfrm>
            <a:prstGeom prst="rect">
              <a:avLst/>
            </a:prstGeom>
          </p:spPr>
          <p:txBody>
            <a:bodyPr anchor="t" rtlCol="false" tIns="0" lIns="0" bIns="0" rIns="0">
              <a:spAutoFit/>
            </a:bodyPr>
            <a:lstStyle/>
            <a:p>
              <a:pPr algn="l">
                <a:lnSpc>
                  <a:spcPts val="4760"/>
                </a:lnSpc>
              </a:pP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sp>
        <p:nvSpPr>
          <p:cNvPr name="TextBox 2" id="2"/>
          <p:cNvSpPr txBox="true"/>
          <p:nvPr/>
        </p:nvSpPr>
        <p:spPr>
          <a:xfrm rot="0">
            <a:off x="3075289" y="271134"/>
            <a:ext cx="12137422" cy="1835785"/>
          </a:xfrm>
          <a:prstGeom prst="rect">
            <a:avLst/>
          </a:prstGeom>
        </p:spPr>
        <p:txBody>
          <a:bodyPr anchor="t" rtlCol="false" tIns="0" lIns="0" bIns="0" rIns="0">
            <a:spAutoFit/>
          </a:bodyPr>
          <a:lstStyle/>
          <a:p>
            <a:pPr algn="ctr">
              <a:lnSpc>
                <a:spcPts val="7279"/>
              </a:lnSpc>
            </a:pPr>
            <a:r>
              <a:rPr lang="en-US" sz="5199" b="true">
                <a:solidFill>
                  <a:srgbClr val="FFFFFF"/>
                </a:solidFill>
                <a:latin typeface="DejaVu Serif Bold"/>
                <a:ea typeface="DejaVu Serif Bold"/>
                <a:cs typeface="DejaVu Serif Bold"/>
                <a:sym typeface="DejaVu Serif Bold"/>
              </a:rPr>
              <a:t>Các nội</a:t>
            </a:r>
            <a:r>
              <a:rPr lang="en-US" b="true" sz="5199">
                <a:solidFill>
                  <a:srgbClr val="FFFFFF"/>
                </a:solidFill>
                <a:latin typeface="DejaVu Serif Bold"/>
                <a:ea typeface="DejaVu Serif Bold"/>
                <a:cs typeface="DejaVu Serif Bold"/>
                <a:sym typeface="DejaVu Serif Bold"/>
              </a:rPr>
              <a:t> cần thảo luận trong bài khảo sát này</a:t>
            </a:r>
          </a:p>
        </p:txBody>
      </p:sp>
      <p:sp>
        <p:nvSpPr>
          <p:cNvPr name="TextBox 3" id="3"/>
          <p:cNvSpPr txBox="true"/>
          <p:nvPr/>
        </p:nvSpPr>
        <p:spPr>
          <a:xfrm rot="0">
            <a:off x="511055" y="3173248"/>
            <a:ext cx="6827720" cy="580390"/>
          </a:xfrm>
          <a:prstGeom prst="rect">
            <a:avLst/>
          </a:prstGeom>
        </p:spPr>
        <p:txBody>
          <a:bodyPr anchor="t" rtlCol="false" tIns="0" lIns="0" bIns="0" rIns="0">
            <a:spAutoFit/>
          </a:bodyPr>
          <a:lstStyle/>
          <a:p>
            <a:pPr algn="ctr">
              <a:lnSpc>
                <a:spcPts val="4759"/>
              </a:lnSpc>
            </a:pPr>
            <a:r>
              <a:rPr lang="en-US" sz="3399">
                <a:solidFill>
                  <a:srgbClr val="FFFFFF"/>
                </a:solidFill>
                <a:latin typeface="Noto Serif Display"/>
                <a:ea typeface="Noto Serif Display"/>
                <a:cs typeface="Noto Serif Display"/>
                <a:sym typeface="Noto Serif Display"/>
              </a:rPr>
              <a:t>    P</a:t>
            </a:r>
            <a:r>
              <a:rPr lang="en-US" sz="3399">
                <a:solidFill>
                  <a:srgbClr val="FFFFFF"/>
                </a:solidFill>
                <a:latin typeface="Noto Serif Display"/>
                <a:ea typeface="Noto Serif Display"/>
                <a:cs typeface="Noto Serif Display"/>
                <a:sym typeface="Noto Serif Display"/>
              </a:rPr>
              <a:t>hần 1: Tổng quan nghiên cứu</a:t>
            </a:r>
          </a:p>
        </p:txBody>
      </p:sp>
      <p:sp>
        <p:nvSpPr>
          <p:cNvPr name="TextBox 4" id="4"/>
          <p:cNvSpPr txBox="true"/>
          <p:nvPr/>
        </p:nvSpPr>
        <p:spPr>
          <a:xfrm rot="0">
            <a:off x="1028700" y="3996608"/>
            <a:ext cx="6614517" cy="580390"/>
          </a:xfrm>
          <a:prstGeom prst="rect">
            <a:avLst/>
          </a:prstGeom>
        </p:spPr>
        <p:txBody>
          <a:bodyPr anchor="t" rtlCol="false" tIns="0" lIns="0" bIns="0" rIns="0">
            <a:spAutoFit/>
          </a:bodyPr>
          <a:lstStyle/>
          <a:p>
            <a:pPr algn="ctr" marL="0" indent="0" lvl="0">
              <a:lnSpc>
                <a:spcPts val="4759"/>
              </a:lnSpc>
              <a:spcBef>
                <a:spcPct val="0"/>
              </a:spcBef>
            </a:pPr>
            <a:r>
              <a:rPr lang="en-US" sz="3399">
                <a:solidFill>
                  <a:srgbClr val="FEFEFE"/>
                </a:solidFill>
                <a:latin typeface="Noto Serif Display"/>
                <a:ea typeface="Noto Serif Display"/>
                <a:cs typeface="Noto Serif Display"/>
                <a:sym typeface="Noto Serif Display"/>
              </a:rPr>
              <a:t>P</a:t>
            </a:r>
            <a:r>
              <a:rPr lang="en-US" sz="3399" strike="noStrike" u="none">
                <a:solidFill>
                  <a:srgbClr val="FEFEFE"/>
                </a:solidFill>
                <a:latin typeface="Noto Serif Display"/>
                <a:ea typeface="Noto Serif Display"/>
                <a:cs typeface="Noto Serif Display"/>
                <a:sym typeface="Noto Serif Display"/>
              </a:rPr>
              <a:t>h</a:t>
            </a:r>
            <a:r>
              <a:rPr lang="en-US" sz="3399" strike="noStrike" u="none">
                <a:solidFill>
                  <a:srgbClr val="FEFEFE"/>
                </a:solidFill>
                <a:latin typeface="Noto Serif Display"/>
                <a:ea typeface="Noto Serif Display"/>
                <a:cs typeface="Noto Serif Display"/>
                <a:sym typeface="Noto Serif Display"/>
              </a:rPr>
              <a:t>ầ</a:t>
            </a:r>
            <a:r>
              <a:rPr lang="en-US" sz="3399" strike="noStrike" u="none">
                <a:solidFill>
                  <a:srgbClr val="FEFEFE"/>
                </a:solidFill>
                <a:latin typeface="Noto Serif Display"/>
                <a:ea typeface="Noto Serif Display"/>
                <a:cs typeface="Noto Serif Display"/>
                <a:sym typeface="Noto Serif Display"/>
              </a:rPr>
              <a:t>n 2</a:t>
            </a:r>
            <a:r>
              <a:rPr lang="en-US" sz="3399" strike="noStrike" u="none">
                <a:solidFill>
                  <a:srgbClr val="FEFEFE"/>
                </a:solidFill>
                <a:latin typeface="Noto Serif Display"/>
                <a:ea typeface="Noto Serif Display"/>
                <a:cs typeface="Noto Serif Display"/>
                <a:sym typeface="Noto Serif Display"/>
              </a:rPr>
              <a:t>: Tập</a:t>
            </a:r>
            <a:r>
              <a:rPr lang="en-US" sz="3399" strike="noStrike" u="none">
                <a:solidFill>
                  <a:srgbClr val="FEFEFE"/>
                </a:solidFill>
                <a:latin typeface="Noto Serif Display"/>
                <a:ea typeface="Noto Serif Display"/>
                <a:cs typeface="Noto Serif Display"/>
                <a:sym typeface="Noto Serif Display"/>
              </a:rPr>
              <a:t> dữ liệu và </a:t>
            </a:r>
            <a:r>
              <a:rPr lang="en-US" sz="3399" strike="noStrike" u="none">
                <a:solidFill>
                  <a:srgbClr val="FEFEFE"/>
                </a:solidFill>
                <a:latin typeface="Noto Serif Display"/>
                <a:ea typeface="Noto Serif Display"/>
                <a:cs typeface="Noto Serif Display"/>
                <a:sym typeface="Noto Serif Display"/>
              </a:rPr>
              <a:t>t</a:t>
            </a:r>
            <a:r>
              <a:rPr lang="en-US" sz="3399" strike="noStrike" u="none">
                <a:solidFill>
                  <a:srgbClr val="FEFEFE"/>
                </a:solidFill>
                <a:latin typeface="Noto Serif Display"/>
                <a:ea typeface="Noto Serif Display"/>
                <a:cs typeface="Noto Serif Display"/>
                <a:sym typeface="Noto Serif Display"/>
              </a:rPr>
              <a:t>i</a:t>
            </a:r>
            <a:r>
              <a:rPr lang="en-US" sz="3399" strike="noStrike" u="none">
                <a:solidFill>
                  <a:srgbClr val="FEFEFE"/>
                </a:solidFill>
                <a:latin typeface="Noto Serif Display"/>
                <a:ea typeface="Noto Serif Display"/>
                <a:cs typeface="Noto Serif Display"/>
                <a:sym typeface="Noto Serif Display"/>
              </a:rPr>
              <a:t>ền xử</a:t>
            </a:r>
            <a:r>
              <a:rPr lang="en-US" sz="3399" strike="noStrike" u="none">
                <a:solidFill>
                  <a:srgbClr val="FEFEFE"/>
                </a:solidFill>
                <a:latin typeface="Noto Serif Display"/>
                <a:ea typeface="Noto Serif Display"/>
                <a:cs typeface="Noto Serif Display"/>
                <a:sym typeface="Noto Serif Display"/>
              </a:rPr>
              <a:t> lý</a:t>
            </a:r>
            <a:r>
              <a:rPr lang="en-US" sz="3399" strike="noStrike" u="none">
                <a:solidFill>
                  <a:srgbClr val="FEFEFE"/>
                </a:solidFill>
                <a:latin typeface="Noto Serif Display"/>
                <a:ea typeface="Noto Serif Display"/>
                <a:cs typeface="Noto Serif Display"/>
                <a:sym typeface="Noto Serif Display"/>
              </a:rPr>
              <a:t> </a:t>
            </a:r>
          </a:p>
        </p:txBody>
      </p:sp>
      <p:sp>
        <p:nvSpPr>
          <p:cNvPr name="TextBox 5" id="5"/>
          <p:cNvSpPr txBox="true"/>
          <p:nvPr/>
        </p:nvSpPr>
        <p:spPr>
          <a:xfrm rot="0">
            <a:off x="1028700" y="4841358"/>
            <a:ext cx="5003602" cy="580390"/>
          </a:xfrm>
          <a:prstGeom prst="rect">
            <a:avLst/>
          </a:prstGeom>
        </p:spPr>
        <p:txBody>
          <a:bodyPr anchor="t" rtlCol="false" tIns="0" lIns="0" bIns="0" rIns="0">
            <a:spAutoFit/>
          </a:bodyPr>
          <a:lstStyle/>
          <a:p>
            <a:pPr algn="ctr" marL="0" indent="0" lvl="0">
              <a:lnSpc>
                <a:spcPts val="4759"/>
              </a:lnSpc>
              <a:spcBef>
                <a:spcPct val="0"/>
              </a:spcBef>
            </a:pPr>
            <a:r>
              <a:rPr lang="en-US" sz="3399">
                <a:solidFill>
                  <a:srgbClr val="FEFEFE"/>
                </a:solidFill>
                <a:latin typeface="Noto Serif Display"/>
                <a:ea typeface="Noto Serif Display"/>
                <a:cs typeface="Noto Serif Display"/>
                <a:sym typeface="Noto Serif Display"/>
              </a:rPr>
              <a:t>P</a:t>
            </a:r>
            <a:r>
              <a:rPr lang="en-US" sz="3399" strike="noStrike" u="none">
                <a:solidFill>
                  <a:srgbClr val="FEFEFE"/>
                </a:solidFill>
                <a:latin typeface="Noto Serif Display"/>
                <a:ea typeface="Noto Serif Display"/>
                <a:cs typeface="Noto Serif Display"/>
                <a:sym typeface="Noto Serif Display"/>
              </a:rPr>
              <a:t>h</a:t>
            </a:r>
            <a:r>
              <a:rPr lang="en-US" sz="3399" strike="noStrike" u="none">
                <a:solidFill>
                  <a:srgbClr val="FEFEFE"/>
                </a:solidFill>
                <a:latin typeface="Noto Serif Display"/>
                <a:ea typeface="Noto Serif Display"/>
                <a:cs typeface="Noto Serif Display"/>
                <a:sym typeface="Noto Serif Display"/>
              </a:rPr>
              <a:t>ần</a:t>
            </a:r>
            <a:r>
              <a:rPr lang="en-US" sz="3399" strike="noStrike" u="none">
                <a:solidFill>
                  <a:srgbClr val="FEFEFE"/>
                </a:solidFill>
                <a:latin typeface="Noto Serif Display"/>
                <a:ea typeface="Noto Serif Display"/>
                <a:cs typeface="Noto Serif Display"/>
                <a:sym typeface="Noto Serif Display"/>
              </a:rPr>
              <a:t> 3</a:t>
            </a:r>
            <a:r>
              <a:rPr lang="en-US" sz="3399" strike="noStrike" u="none">
                <a:solidFill>
                  <a:srgbClr val="FEFEFE"/>
                </a:solidFill>
                <a:latin typeface="Noto Serif Display"/>
                <a:ea typeface="Noto Serif Display"/>
                <a:cs typeface="Noto Serif Display"/>
                <a:sym typeface="Noto Serif Display"/>
              </a:rPr>
              <a:t>: So</a:t>
            </a:r>
            <a:r>
              <a:rPr lang="en-US" sz="3399" strike="noStrike" u="none">
                <a:solidFill>
                  <a:srgbClr val="FEFEFE"/>
                </a:solidFill>
                <a:latin typeface="Noto Serif Display"/>
                <a:ea typeface="Noto Serif Display"/>
                <a:cs typeface="Noto Serif Display"/>
                <a:sym typeface="Noto Serif Display"/>
              </a:rPr>
              <a:t> sánh mô </a:t>
            </a:r>
            <a:r>
              <a:rPr lang="en-US" sz="3399" strike="noStrike" u="none">
                <a:solidFill>
                  <a:srgbClr val="FEFEFE"/>
                </a:solidFill>
                <a:latin typeface="Noto Serif Display"/>
                <a:ea typeface="Noto Serif Display"/>
                <a:cs typeface="Noto Serif Display"/>
                <a:sym typeface="Noto Serif Display"/>
              </a:rPr>
              <a:t>hì</a:t>
            </a:r>
            <a:r>
              <a:rPr lang="en-US" sz="3399" strike="noStrike" u="none">
                <a:solidFill>
                  <a:srgbClr val="FEFEFE"/>
                </a:solidFill>
                <a:latin typeface="Noto Serif Display"/>
                <a:ea typeface="Noto Serif Display"/>
                <a:cs typeface="Noto Serif Display"/>
                <a:sym typeface="Noto Serif Display"/>
              </a:rPr>
              <a:t>nh</a:t>
            </a:r>
          </a:p>
        </p:txBody>
      </p:sp>
      <p:sp>
        <p:nvSpPr>
          <p:cNvPr name="TextBox 6" id="6"/>
          <p:cNvSpPr txBox="true"/>
          <p:nvPr/>
        </p:nvSpPr>
        <p:spPr>
          <a:xfrm rot="0">
            <a:off x="1028700" y="5688448"/>
            <a:ext cx="5900738" cy="580390"/>
          </a:xfrm>
          <a:prstGeom prst="rect">
            <a:avLst/>
          </a:prstGeom>
        </p:spPr>
        <p:txBody>
          <a:bodyPr anchor="t" rtlCol="false" tIns="0" lIns="0" bIns="0" rIns="0">
            <a:spAutoFit/>
          </a:bodyPr>
          <a:lstStyle/>
          <a:p>
            <a:pPr algn="ctr" marL="0" indent="0" lvl="0">
              <a:lnSpc>
                <a:spcPts val="4759"/>
              </a:lnSpc>
              <a:spcBef>
                <a:spcPct val="0"/>
              </a:spcBef>
            </a:pPr>
            <a:r>
              <a:rPr lang="en-US" sz="3399">
                <a:solidFill>
                  <a:srgbClr val="FEFEFE"/>
                </a:solidFill>
                <a:latin typeface="Noto Serif Display"/>
                <a:ea typeface="Noto Serif Display"/>
                <a:cs typeface="Noto Serif Display"/>
                <a:sym typeface="Noto Serif Display"/>
              </a:rPr>
              <a:t>P</a:t>
            </a:r>
            <a:r>
              <a:rPr lang="en-US" sz="3399" strike="noStrike" u="none">
                <a:solidFill>
                  <a:srgbClr val="FEFEFE"/>
                </a:solidFill>
                <a:latin typeface="Noto Serif Display"/>
                <a:ea typeface="Noto Serif Display"/>
                <a:cs typeface="Noto Serif Display"/>
                <a:sym typeface="Noto Serif Display"/>
              </a:rPr>
              <a:t>h</a:t>
            </a:r>
            <a:r>
              <a:rPr lang="en-US" sz="3399" strike="noStrike" u="none">
                <a:solidFill>
                  <a:srgbClr val="FEFEFE"/>
                </a:solidFill>
                <a:latin typeface="Noto Serif Display"/>
                <a:ea typeface="Noto Serif Display"/>
                <a:cs typeface="Noto Serif Display"/>
                <a:sym typeface="Noto Serif Display"/>
              </a:rPr>
              <a:t>ần</a:t>
            </a:r>
            <a:r>
              <a:rPr lang="en-US" sz="3399" strike="noStrike" u="none">
                <a:solidFill>
                  <a:srgbClr val="FEFEFE"/>
                </a:solidFill>
                <a:latin typeface="Noto Serif Display"/>
                <a:ea typeface="Noto Serif Display"/>
                <a:cs typeface="Noto Serif Display"/>
                <a:sym typeface="Noto Serif Display"/>
              </a:rPr>
              <a:t> 4</a:t>
            </a:r>
            <a:r>
              <a:rPr lang="en-US" sz="3399" strike="noStrike" u="none">
                <a:solidFill>
                  <a:srgbClr val="FEFEFE"/>
                </a:solidFill>
                <a:latin typeface="Noto Serif Display"/>
                <a:ea typeface="Noto Serif Display"/>
                <a:cs typeface="Noto Serif Display"/>
                <a:sym typeface="Noto Serif Display"/>
              </a:rPr>
              <a:t>:</a:t>
            </a:r>
            <a:r>
              <a:rPr lang="en-US" sz="3399" strike="noStrike" u="none">
                <a:solidFill>
                  <a:srgbClr val="FEFEFE"/>
                </a:solidFill>
                <a:latin typeface="Noto Serif Display"/>
                <a:ea typeface="Noto Serif Display"/>
                <a:cs typeface="Noto Serif Display"/>
                <a:sym typeface="Noto Serif Display"/>
              </a:rPr>
              <a:t> Ch</a:t>
            </a:r>
            <a:r>
              <a:rPr lang="en-US" sz="3399" strike="noStrike" u="none">
                <a:solidFill>
                  <a:srgbClr val="FEFEFE"/>
                </a:solidFill>
                <a:latin typeface="Noto Serif Display"/>
                <a:ea typeface="Noto Serif Display"/>
                <a:cs typeface="Noto Serif Display"/>
                <a:sym typeface="Noto Serif Display"/>
              </a:rPr>
              <a:t>i</a:t>
            </a:r>
            <a:r>
              <a:rPr lang="en-US" sz="3399" strike="noStrike" u="none">
                <a:solidFill>
                  <a:srgbClr val="FEFEFE"/>
                </a:solidFill>
                <a:latin typeface="Noto Serif Display"/>
                <a:ea typeface="Noto Serif Display"/>
                <a:cs typeface="Noto Serif Display"/>
                <a:sym typeface="Noto Serif Display"/>
              </a:rPr>
              <a:t> </a:t>
            </a:r>
            <a:r>
              <a:rPr lang="en-US" sz="3399" strike="noStrike" u="none">
                <a:solidFill>
                  <a:srgbClr val="FEFEFE"/>
                </a:solidFill>
                <a:latin typeface="Noto Serif Display"/>
                <a:ea typeface="Noto Serif Display"/>
                <a:cs typeface="Noto Serif Display"/>
                <a:sym typeface="Noto Serif Display"/>
              </a:rPr>
              <a:t>t</a:t>
            </a:r>
            <a:r>
              <a:rPr lang="en-US" sz="3399" strike="noStrike" u="none">
                <a:solidFill>
                  <a:srgbClr val="FEFEFE"/>
                </a:solidFill>
                <a:latin typeface="Noto Serif Display"/>
                <a:ea typeface="Noto Serif Display"/>
                <a:cs typeface="Noto Serif Display"/>
                <a:sym typeface="Noto Serif Display"/>
              </a:rPr>
              <a:t>i</a:t>
            </a:r>
            <a:r>
              <a:rPr lang="en-US" sz="3399" strike="noStrike" u="none">
                <a:solidFill>
                  <a:srgbClr val="FEFEFE"/>
                </a:solidFill>
                <a:latin typeface="Noto Serif Display"/>
                <a:ea typeface="Noto Serif Display"/>
                <a:cs typeface="Noto Serif Display"/>
                <a:sym typeface="Noto Serif Display"/>
              </a:rPr>
              <a:t>ết </a:t>
            </a:r>
            <a:r>
              <a:rPr lang="en-US" sz="3399" strike="noStrike" u="none">
                <a:solidFill>
                  <a:srgbClr val="FEFEFE"/>
                </a:solidFill>
                <a:latin typeface="Noto Serif Display"/>
                <a:ea typeface="Noto Serif Display"/>
                <a:cs typeface="Noto Serif Display"/>
                <a:sym typeface="Noto Serif Display"/>
              </a:rPr>
              <a:t>m</a:t>
            </a:r>
            <a:r>
              <a:rPr lang="en-US" sz="3399" strike="noStrike" u="none">
                <a:solidFill>
                  <a:srgbClr val="FEFEFE"/>
                </a:solidFill>
                <a:latin typeface="Noto Serif Display"/>
                <a:ea typeface="Noto Serif Display"/>
                <a:cs typeface="Noto Serif Display"/>
                <a:sym typeface="Noto Serif Display"/>
              </a:rPr>
              <a:t>ô</a:t>
            </a:r>
            <a:r>
              <a:rPr lang="en-US" sz="3399" strike="noStrike" u="none">
                <a:solidFill>
                  <a:srgbClr val="FEFEFE"/>
                </a:solidFill>
                <a:latin typeface="Noto Serif Display"/>
                <a:ea typeface="Noto Serif Display"/>
                <a:cs typeface="Noto Serif Display"/>
                <a:sym typeface="Noto Serif Display"/>
              </a:rPr>
              <a:t> hình CNN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2B4B82"/>
        </a:solidFill>
      </p:bgPr>
    </p:bg>
    <p:spTree>
      <p:nvGrpSpPr>
        <p:cNvPr id="1" name=""/>
        <p:cNvGrpSpPr/>
        <p:nvPr/>
      </p:nvGrpSpPr>
      <p:grpSpPr>
        <a:xfrm>
          <a:off x="0" y="0"/>
          <a:ext cx="0" cy="0"/>
          <a:chOff x="0" y="0"/>
          <a:chExt cx="0" cy="0"/>
        </a:xfrm>
      </p:grpSpPr>
      <p:grpSp>
        <p:nvGrpSpPr>
          <p:cNvPr name="Group 2" id="2"/>
          <p:cNvGrpSpPr/>
          <p:nvPr/>
        </p:nvGrpSpPr>
        <p:grpSpPr>
          <a:xfrm rot="0">
            <a:off x="308379" y="353399"/>
            <a:ext cx="17671243" cy="6675409"/>
            <a:chOff x="0" y="0"/>
            <a:chExt cx="23561657" cy="8900545"/>
          </a:xfrm>
        </p:grpSpPr>
        <p:sp>
          <p:nvSpPr>
            <p:cNvPr name="TextBox 3" id="3"/>
            <p:cNvSpPr txBox="true"/>
            <p:nvPr/>
          </p:nvSpPr>
          <p:spPr>
            <a:xfrm rot="0">
              <a:off x="990606" y="-9525"/>
              <a:ext cx="13828087" cy="1241425"/>
            </a:xfrm>
            <a:prstGeom prst="rect">
              <a:avLst/>
            </a:prstGeom>
          </p:spPr>
          <p:txBody>
            <a:bodyPr anchor="t" rtlCol="false" tIns="0" lIns="0" bIns="0" rIns="0">
              <a:spAutoFit/>
            </a:bodyPr>
            <a:lstStyle/>
            <a:p>
              <a:pPr algn="l">
                <a:lnSpc>
                  <a:spcPts val="7320"/>
                </a:lnSpc>
              </a:pPr>
              <a:r>
                <a:rPr lang="en-US" sz="6100" b="true">
                  <a:solidFill>
                    <a:srgbClr val="F7B4A7"/>
                  </a:solidFill>
                  <a:latin typeface="Josefin Sans Bold"/>
                  <a:ea typeface="Josefin Sans Bold"/>
                  <a:cs typeface="Josefin Sans Bold"/>
                  <a:sym typeface="Josefin Sans Bold"/>
                </a:rPr>
                <a:t>Tổng quan ng</a:t>
              </a:r>
              <a:r>
                <a:rPr lang="en-US" sz="6100" b="true">
                  <a:solidFill>
                    <a:srgbClr val="F7B4A7"/>
                  </a:solidFill>
                  <a:latin typeface="Josefin Sans Bold"/>
                  <a:ea typeface="Josefin Sans Bold"/>
                  <a:cs typeface="Josefin Sans Bold"/>
                  <a:sym typeface="Josefin Sans Bold"/>
                </a:rPr>
                <a:t>hiên cứu</a:t>
              </a:r>
            </a:p>
          </p:txBody>
        </p:sp>
        <p:sp>
          <p:nvSpPr>
            <p:cNvPr name="TextBox 4" id="4"/>
            <p:cNvSpPr txBox="true"/>
            <p:nvPr/>
          </p:nvSpPr>
          <p:spPr>
            <a:xfrm rot="0">
              <a:off x="0" y="3980988"/>
              <a:ext cx="23561657" cy="4584277"/>
            </a:xfrm>
            <a:prstGeom prst="rect">
              <a:avLst/>
            </a:prstGeom>
          </p:spPr>
          <p:txBody>
            <a:bodyPr anchor="t" rtlCol="false" tIns="0" lIns="0" bIns="0" rIns="0">
              <a:spAutoFit/>
            </a:bodyPr>
            <a:lstStyle/>
            <a:p>
              <a:pPr algn="just">
                <a:lnSpc>
                  <a:spcPts val="3955"/>
                </a:lnSpc>
              </a:pPr>
              <a:r>
                <a:rPr lang="en-US" sz="2825">
                  <a:solidFill>
                    <a:srgbClr val="94DDDE"/>
                  </a:solidFill>
                  <a:latin typeface="Josefin Sans"/>
                  <a:ea typeface="Josefin Sans"/>
                  <a:cs typeface="Josefin Sans"/>
                  <a:sym typeface="Josefin Sans"/>
                </a:rPr>
                <a:t>   Tầm quan trọng của nhận diện cảm xúc khuôn mặt:</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Tăng cường tương tác giữa con người và máy móc</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Ứng dụng trong giáo dục, y tế, thương mại, và an ninh</a:t>
              </a:r>
            </a:p>
            <a:p>
              <a:pPr algn="just">
                <a:lnSpc>
                  <a:spcPts val="3955"/>
                </a:lnSpc>
              </a:pPr>
              <a:r>
                <a:rPr lang="en-US" sz="2825">
                  <a:solidFill>
                    <a:srgbClr val="94DDDE"/>
                  </a:solidFill>
                  <a:latin typeface="Josefin Sans"/>
                  <a:ea typeface="Josefin Sans"/>
                  <a:cs typeface="Josefin Sans"/>
                  <a:sym typeface="Josefin Sans"/>
                </a:rPr>
                <a:t>   </a:t>
              </a:r>
              <a:r>
                <a:rPr lang="en-US" sz="2825">
                  <a:solidFill>
                    <a:srgbClr val="94DDDE"/>
                  </a:solidFill>
                  <a:latin typeface="Josefin Sans"/>
                  <a:ea typeface="Josefin Sans"/>
                  <a:cs typeface="Josefin Sans"/>
                  <a:sym typeface="Josefin Sans"/>
                </a:rPr>
                <a:t>Mục tiêu nghiên cứu:</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Xây dựng hệ thống phân loại bảy cảm xúc cơ bản bằng CNN</a:t>
              </a:r>
            </a:p>
            <a:p>
              <a:pPr algn="just" marL="609918" indent="-304959" lvl="1">
                <a:lnSpc>
                  <a:spcPts val="3955"/>
                </a:lnSpc>
                <a:buFont typeface="Arial"/>
                <a:buChar char="•"/>
              </a:pPr>
              <a:r>
                <a:rPr lang="en-US" sz="2825">
                  <a:solidFill>
                    <a:srgbClr val="94DDDE"/>
                  </a:solidFill>
                  <a:latin typeface="Josefin Sans"/>
                  <a:ea typeface="Josefin Sans"/>
                  <a:cs typeface="Josefin Sans"/>
                  <a:sym typeface="Josefin Sans"/>
                </a:rPr>
                <a:t>Đạt độ chính xác cao trong phân loại</a:t>
              </a:r>
            </a:p>
            <a:p>
              <a:pPr algn="just">
                <a:lnSpc>
                  <a:spcPts val="3955"/>
                </a:lnSpc>
              </a:pP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grpSp>
        <p:nvGrpSpPr>
          <p:cNvPr name="Group 2" id="2"/>
          <p:cNvGrpSpPr/>
          <p:nvPr/>
        </p:nvGrpSpPr>
        <p:grpSpPr>
          <a:xfrm rot="0">
            <a:off x="354393" y="263359"/>
            <a:ext cx="17579213" cy="2629196"/>
            <a:chOff x="0" y="0"/>
            <a:chExt cx="23438951" cy="3505595"/>
          </a:xfrm>
        </p:grpSpPr>
        <p:sp>
          <p:nvSpPr>
            <p:cNvPr name="TextBox 3" id="3"/>
            <p:cNvSpPr txBox="true"/>
            <p:nvPr/>
          </p:nvSpPr>
          <p:spPr>
            <a:xfrm rot="0">
              <a:off x="0" y="623570"/>
              <a:ext cx="23438951" cy="1314450"/>
            </a:xfrm>
            <a:prstGeom prst="rect">
              <a:avLst/>
            </a:prstGeom>
          </p:spPr>
          <p:txBody>
            <a:bodyPr anchor="t" rtlCol="false" tIns="0" lIns="0" bIns="0" rIns="0">
              <a:spAutoFit/>
            </a:bodyPr>
            <a:lstStyle/>
            <a:p>
              <a:pPr algn="l">
                <a:lnSpc>
                  <a:spcPts val="7680"/>
                </a:lnSpc>
              </a:pPr>
              <a:r>
                <a:rPr lang="en-US" sz="6400" b="true">
                  <a:solidFill>
                    <a:srgbClr val="31356E"/>
                  </a:solidFill>
                  <a:latin typeface="Josefin Sans Bold"/>
                  <a:ea typeface="Josefin Sans Bold"/>
                  <a:cs typeface="Josefin Sans Bold"/>
                  <a:sym typeface="Josefin Sans Bold"/>
                </a:rPr>
                <a:t>Tập</a:t>
              </a:r>
              <a:r>
                <a:rPr lang="en-US" sz="6400" b="true">
                  <a:solidFill>
                    <a:srgbClr val="31356E"/>
                  </a:solidFill>
                  <a:latin typeface="Josefin Sans Bold"/>
                  <a:ea typeface="Josefin Sans Bold"/>
                  <a:cs typeface="Josefin Sans Bold"/>
                  <a:sym typeface="Josefin Sans Bold"/>
                </a:rPr>
                <a:t> dữ liệu và tiền xử lý</a:t>
              </a:r>
            </a:p>
          </p:txBody>
        </p:sp>
        <p:sp>
          <p:nvSpPr>
            <p:cNvPr name="TextBox 4" id="4"/>
            <p:cNvSpPr txBox="true"/>
            <p:nvPr/>
          </p:nvSpPr>
          <p:spPr>
            <a:xfrm rot="0">
              <a:off x="0" y="3216670"/>
              <a:ext cx="22456792" cy="593725"/>
            </a:xfrm>
            <a:prstGeom prst="rect">
              <a:avLst/>
            </a:prstGeom>
          </p:spPr>
          <p:txBody>
            <a:bodyPr anchor="t" rtlCol="false" tIns="0" lIns="0" bIns="0" rIns="0">
              <a:spAutoFit/>
            </a:bodyPr>
            <a:lstStyle/>
            <a:p>
              <a:pPr algn="l">
                <a:lnSpc>
                  <a:spcPts val="3480"/>
                </a:lnSpc>
              </a:pPr>
            </a:p>
          </p:txBody>
        </p:sp>
      </p:grpSp>
      <p:sp>
        <p:nvSpPr>
          <p:cNvPr name="TextBox 5" id="5"/>
          <p:cNvSpPr txBox="true"/>
          <p:nvPr/>
        </p:nvSpPr>
        <p:spPr>
          <a:xfrm rot="0">
            <a:off x="219333" y="2613764"/>
            <a:ext cx="17579213" cy="6443980"/>
          </a:xfrm>
          <a:prstGeom prst="rect">
            <a:avLst/>
          </a:prstGeom>
        </p:spPr>
        <p:txBody>
          <a:bodyPr anchor="t" rtlCol="false" tIns="0" lIns="0" bIns="0" rIns="0">
            <a:spAutoFit/>
          </a:bodyPr>
          <a:lstStyle/>
          <a:p>
            <a:pPr algn="l">
              <a:lnSpc>
                <a:spcPts val="3919"/>
              </a:lnSpc>
              <a:spcBef>
                <a:spcPct val="0"/>
              </a:spcBef>
            </a:pPr>
            <a:r>
              <a:rPr lang="en-US" b="true" sz="2799">
                <a:solidFill>
                  <a:srgbClr val="000000"/>
                </a:solidFill>
                <a:latin typeface="Josefin Sans Bold"/>
                <a:ea typeface="Josefin Sans Bold"/>
                <a:cs typeface="Josefin Sans Bold"/>
                <a:sym typeface="Josefin Sans Bold"/>
              </a:rPr>
              <a:t>   </a:t>
            </a:r>
            <a:r>
              <a:rPr lang="en-US" b="true" sz="2799">
                <a:solidFill>
                  <a:srgbClr val="000000"/>
                </a:solidFill>
                <a:latin typeface="Josefin Sans Bold"/>
                <a:ea typeface="Josefin Sans Bold"/>
                <a:cs typeface="Josefin Sans Bold"/>
                <a:sym typeface="Josefin Sans Bold"/>
              </a:rPr>
              <a:t>Tập dữ liệu:</a:t>
            </a:r>
          </a:p>
          <a:p>
            <a:pPr algn="l" marL="604519" indent="-302260" lvl="1">
              <a:lnSpc>
                <a:spcPts val="3919"/>
              </a:lnSpc>
              <a:buFont typeface="Arial"/>
              <a:buChar char="•"/>
            </a:pPr>
            <a:r>
              <a:rPr lang="en-US" b="true" sz="2799">
                <a:solidFill>
                  <a:srgbClr val="000000"/>
                </a:solidFill>
                <a:latin typeface="Josefin Sans Bold"/>
                <a:ea typeface="Josefin Sans Bold"/>
                <a:cs typeface="Josefin Sans Bold"/>
                <a:sym typeface="Josefin Sans Bold"/>
              </a:rPr>
              <a:t>FER2013 dataset: 35.887 hình ảnh xám, kích thước 48x48 pixel</a:t>
            </a:r>
          </a:p>
          <a:p>
            <a:pPr algn="l" marL="604519" indent="-302260" lvl="1">
              <a:lnSpc>
                <a:spcPts val="3919"/>
              </a:lnSpc>
              <a:buFont typeface="Arial"/>
              <a:buChar char="•"/>
            </a:pPr>
            <a:r>
              <a:rPr lang="en-US" b="true" sz="2799">
                <a:solidFill>
                  <a:srgbClr val="000000"/>
                </a:solidFill>
                <a:latin typeface="Josefin Sans Bold"/>
                <a:ea typeface="Josefin Sans Bold"/>
                <a:cs typeface="Josefin Sans Bold"/>
                <a:sym typeface="Josefin Sans Bold"/>
              </a:rPr>
              <a:t>Bảy cảm xúc: vui vẻ, buồn bã, trung tính, sợ hãi, ghê tởm, ngạc nhiên, tức giận</a:t>
            </a:r>
          </a:p>
          <a:p>
            <a:pPr algn="l" marL="604519" indent="-302260" lvl="1">
              <a:lnSpc>
                <a:spcPts val="3919"/>
              </a:lnSpc>
              <a:buFont typeface="Arial"/>
              <a:buChar char="•"/>
            </a:pPr>
            <a:r>
              <a:rPr lang="en-US" b="true" sz="2799">
                <a:solidFill>
                  <a:srgbClr val="000000"/>
                </a:solidFill>
                <a:latin typeface="Josefin Sans Bold"/>
                <a:ea typeface="Josefin Sans Bold"/>
                <a:cs typeface="Josefin Sans Bold"/>
                <a:sym typeface="Josefin Sans Bold"/>
              </a:rPr>
              <a:t>Phân chia: 28.709 hình huấn luyện, 7.178 hình kiểm tra</a:t>
            </a:r>
          </a:p>
          <a:p>
            <a:pPr algn="l">
              <a:lnSpc>
                <a:spcPts val="3919"/>
              </a:lnSpc>
            </a:pPr>
            <a:r>
              <a:rPr lang="en-US" b="true" sz="2799">
                <a:solidFill>
                  <a:srgbClr val="000000"/>
                </a:solidFill>
                <a:latin typeface="Josefin Sans Bold"/>
                <a:ea typeface="Josefin Sans Bold"/>
                <a:cs typeface="Josefin Sans Bold"/>
                <a:sym typeface="Josefin Sans Bold"/>
              </a:rPr>
              <a:t>   </a:t>
            </a:r>
            <a:r>
              <a:rPr lang="en-US" b="true" sz="2799">
                <a:solidFill>
                  <a:srgbClr val="000000"/>
                </a:solidFill>
                <a:latin typeface="Josefin Sans Bold"/>
                <a:ea typeface="Josefin Sans Bold"/>
                <a:cs typeface="Josefin Sans Bold"/>
                <a:sym typeface="Josefin Sans Bold"/>
              </a:rPr>
              <a:t>Các bước tiền xử lý:</a:t>
            </a:r>
          </a:p>
          <a:p>
            <a:pPr algn="l" marL="604519" indent="-302260" lvl="1">
              <a:lnSpc>
                <a:spcPts val="3919"/>
              </a:lnSpc>
              <a:spcBef>
                <a:spcPct val="0"/>
              </a:spcBef>
              <a:buFont typeface="Arial"/>
              <a:buChar char="•"/>
            </a:pPr>
            <a:r>
              <a:rPr lang="en-US" b="true" sz="2799">
                <a:solidFill>
                  <a:srgbClr val="000000"/>
                </a:solidFill>
                <a:latin typeface="Josefin Sans Bold"/>
                <a:ea typeface="Josefin Sans Bold"/>
                <a:cs typeface="Josefin Sans Bold"/>
                <a:sym typeface="Josefin Sans Bold"/>
              </a:rPr>
              <a:t>Thay đổi kích thước hình ảnh về 48x48 pixel</a:t>
            </a:r>
          </a:p>
          <a:p>
            <a:pPr algn="l" marL="604519" indent="-302260" lvl="1">
              <a:lnSpc>
                <a:spcPts val="3919"/>
              </a:lnSpc>
              <a:spcBef>
                <a:spcPct val="0"/>
              </a:spcBef>
              <a:buFont typeface="Arial"/>
              <a:buChar char="•"/>
            </a:pPr>
            <a:r>
              <a:rPr lang="en-US" b="true" sz="2799">
                <a:solidFill>
                  <a:srgbClr val="000000"/>
                </a:solidFill>
                <a:latin typeface="Josefin Sans Bold"/>
                <a:ea typeface="Josefin Sans Bold"/>
                <a:cs typeface="Josefin Sans Bold"/>
                <a:sym typeface="Josefin Sans Bold"/>
              </a:rPr>
              <a:t>Chuyển sang thang xám</a:t>
            </a:r>
          </a:p>
          <a:p>
            <a:pPr algn="l" marL="604519" indent="-302260" lvl="1">
              <a:lnSpc>
                <a:spcPts val="3919"/>
              </a:lnSpc>
              <a:spcBef>
                <a:spcPct val="0"/>
              </a:spcBef>
              <a:buFont typeface="Arial"/>
              <a:buChar char="•"/>
            </a:pPr>
            <a:r>
              <a:rPr lang="en-US" b="true" sz="2799">
                <a:solidFill>
                  <a:srgbClr val="000000"/>
                </a:solidFill>
                <a:latin typeface="Josefin Sans Bold"/>
                <a:ea typeface="Josefin Sans Bold"/>
                <a:cs typeface="Josefin Sans Bold"/>
                <a:sym typeface="Josefin Sans Bold"/>
              </a:rPr>
              <a:t>Chuẩn hóa giá trị pixel</a:t>
            </a:r>
          </a:p>
          <a:p>
            <a:pPr algn="l" marL="604519" indent="-302260" lvl="1">
              <a:lnSpc>
                <a:spcPts val="3919"/>
              </a:lnSpc>
              <a:spcBef>
                <a:spcPct val="0"/>
              </a:spcBef>
              <a:buFont typeface="Arial"/>
              <a:buChar char="•"/>
            </a:pPr>
            <a:r>
              <a:rPr lang="en-US" b="true" sz="2799">
                <a:solidFill>
                  <a:srgbClr val="000000"/>
                </a:solidFill>
                <a:latin typeface="Josefin Sans Bold"/>
                <a:ea typeface="Josefin Sans Bold"/>
                <a:cs typeface="Josefin Sans Bold"/>
                <a:sym typeface="Josefin Sans Bold"/>
              </a:rPr>
              <a:t>Mã hóa one-hot cho nhãn cảm xúc</a:t>
            </a:r>
          </a:p>
          <a:p>
            <a:pPr algn="l">
              <a:lnSpc>
                <a:spcPts val="3919"/>
              </a:lnSpc>
            </a:pPr>
            <a:r>
              <a:rPr lang="en-US" b="true" sz="2799">
                <a:solidFill>
                  <a:srgbClr val="000000"/>
                </a:solidFill>
                <a:latin typeface="Josefin Sans Bold"/>
                <a:ea typeface="Josefin Sans Bold"/>
                <a:cs typeface="Josefin Sans Bold"/>
                <a:sym typeface="Josefin Sans Bold"/>
              </a:rPr>
              <a:t>   </a:t>
            </a:r>
            <a:r>
              <a:rPr lang="en-US" b="true" sz="2799">
                <a:solidFill>
                  <a:srgbClr val="000000"/>
                </a:solidFill>
                <a:latin typeface="Josefin Sans Bold"/>
                <a:ea typeface="Josefin Sans Bold"/>
                <a:cs typeface="Josefin Sans Bold"/>
                <a:sym typeface="Josefin Sans Bold"/>
              </a:rPr>
              <a:t>Ghi chú:</a:t>
            </a:r>
          </a:p>
          <a:p>
            <a:pPr algn="l" marL="604519" indent="-302260" lvl="1">
              <a:lnSpc>
                <a:spcPts val="3919"/>
              </a:lnSpc>
              <a:spcBef>
                <a:spcPct val="0"/>
              </a:spcBef>
              <a:buFont typeface="Arial"/>
              <a:buChar char="•"/>
            </a:pPr>
            <a:r>
              <a:rPr lang="en-US" b="true" sz="2799">
                <a:solidFill>
                  <a:srgbClr val="000000"/>
                </a:solidFill>
                <a:latin typeface="Josefin Sans Bold"/>
                <a:ea typeface="Josefin Sans Bold"/>
                <a:cs typeface="Josefin Sans Bold"/>
                <a:sym typeface="Josefin Sans Bold"/>
              </a:rPr>
              <a:t>Có sự mất cân bằng trong phân phối cảm xúc, đặc biệt với "ghê tởm" (Disgust), với khoảng 600 hình ảnh, trong khi các cảm xúc khác có gần 5.000 hình ảnh mỗi loại.</a:t>
            </a:r>
          </a:p>
          <a:p>
            <a:pPr algn="l">
              <a:lnSpc>
                <a:spcPts val="391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4546545" y="1684634"/>
            <a:ext cx="9194910" cy="8280673"/>
          </a:xfrm>
          <a:custGeom>
            <a:avLst/>
            <a:gdLst/>
            <a:ahLst/>
            <a:cxnLst/>
            <a:rect r="r" b="b" t="t" l="l"/>
            <a:pathLst>
              <a:path h="8280673" w="9194910">
                <a:moveTo>
                  <a:pt x="0" y="0"/>
                </a:moveTo>
                <a:lnTo>
                  <a:pt x="9194910" y="0"/>
                </a:lnTo>
                <a:lnTo>
                  <a:pt x="9194910" y="8280673"/>
                </a:lnTo>
                <a:lnTo>
                  <a:pt x="0" y="8280673"/>
                </a:lnTo>
                <a:lnTo>
                  <a:pt x="0" y="0"/>
                </a:lnTo>
                <a:close/>
              </a:path>
            </a:pathLst>
          </a:custGeom>
          <a:blipFill>
            <a:blip r:embed="rId2"/>
            <a:stretch>
              <a:fillRect l="0" t="0" r="0" b="0"/>
            </a:stretch>
          </a:blipFill>
        </p:spPr>
      </p:sp>
      <p:grpSp>
        <p:nvGrpSpPr>
          <p:cNvPr name="Group 3" id="3"/>
          <p:cNvGrpSpPr/>
          <p:nvPr/>
        </p:nvGrpSpPr>
        <p:grpSpPr>
          <a:xfrm rot="0">
            <a:off x="354393" y="195829"/>
            <a:ext cx="17579213" cy="2629196"/>
            <a:chOff x="0" y="0"/>
            <a:chExt cx="23438951" cy="3505595"/>
          </a:xfrm>
        </p:grpSpPr>
        <p:sp>
          <p:nvSpPr>
            <p:cNvPr name="TextBox 4" id="4"/>
            <p:cNvSpPr txBox="true"/>
            <p:nvPr/>
          </p:nvSpPr>
          <p:spPr>
            <a:xfrm rot="0">
              <a:off x="0" y="623570"/>
              <a:ext cx="23438951" cy="1314450"/>
            </a:xfrm>
            <a:prstGeom prst="rect">
              <a:avLst/>
            </a:prstGeom>
          </p:spPr>
          <p:txBody>
            <a:bodyPr anchor="t" rtlCol="false" tIns="0" lIns="0" bIns="0" rIns="0">
              <a:spAutoFit/>
            </a:bodyPr>
            <a:lstStyle/>
            <a:p>
              <a:pPr algn="ctr">
                <a:lnSpc>
                  <a:spcPts val="7680"/>
                </a:lnSpc>
              </a:pPr>
              <a:r>
                <a:rPr lang="en-US" b="true" sz="6400">
                  <a:solidFill>
                    <a:srgbClr val="31356E"/>
                  </a:solidFill>
                  <a:latin typeface="Josefin Sans Bold"/>
                  <a:ea typeface="Josefin Sans Bold"/>
                  <a:cs typeface="Josefin Sans Bold"/>
                  <a:sym typeface="Josefin Sans Bold"/>
                </a:rPr>
                <a:t>Tập</a:t>
              </a:r>
              <a:r>
                <a:rPr lang="en-US" b="true" sz="6400">
                  <a:solidFill>
                    <a:srgbClr val="31356E"/>
                  </a:solidFill>
                  <a:latin typeface="Josefin Sans Bold"/>
                  <a:ea typeface="Josefin Sans Bold"/>
                  <a:cs typeface="Josefin Sans Bold"/>
                  <a:sym typeface="Josefin Sans Bold"/>
                </a:rPr>
                <a:t> dữ liệu và tiền xử lý</a:t>
              </a:r>
            </a:p>
          </p:txBody>
        </p:sp>
        <p:sp>
          <p:nvSpPr>
            <p:cNvPr name="TextBox 5" id="5"/>
            <p:cNvSpPr txBox="true"/>
            <p:nvPr/>
          </p:nvSpPr>
          <p:spPr>
            <a:xfrm rot="0">
              <a:off x="0" y="3216670"/>
              <a:ext cx="22456792" cy="593725"/>
            </a:xfrm>
            <a:prstGeom prst="rect">
              <a:avLst/>
            </a:prstGeom>
          </p:spPr>
          <p:txBody>
            <a:bodyPr anchor="t" rtlCol="false" tIns="0" lIns="0" bIns="0" rIns="0">
              <a:spAutoFit/>
            </a:bodyPr>
            <a:lstStyle/>
            <a:p>
              <a:pPr algn="l">
                <a:lnSpc>
                  <a:spcPts val="348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grpSp>
        <p:nvGrpSpPr>
          <p:cNvPr name="Group 2" id="2"/>
          <p:cNvGrpSpPr/>
          <p:nvPr/>
        </p:nvGrpSpPr>
        <p:grpSpPr>
          <a:xfrm rot="0">
            <a:off x="623519" y="615888"/>
            <a:ext cx="16969198" cy="5708268"/>
            <a:chOff x="0" y="0"/>
            <a:chExt cx="22625597" cy="7611023"/>
          </a:xfrm>
        </p:grpSpPr>
        <p:sp>
          <p:nvSpPr>
            <p:cNvPr name="TextBox 3" id="3"/>
            <p:cNvSpPr txBox="true"/>
            <p:nvPr/>
          </p:nvSpPr>
          <p:spPr>
            <a:xfrm rot="0">
              <a:off x="0" y="-19050"/>
              <a:ext cx="22625597" cy="1314450"/>
            </a:xfrm>
            <a:prstGeom prst="rect">
              <a:avLst/>
            </a:prstGeom>
          </p:spPr>
          <p:txBody>
            <a:bodyPr anchor="t" rtlCol="false" tIns="0" lIns="0" bIns="0" rIns="0">
              <a:spAutoFit/>
            </a:bodyPr>
            <a:lstStyle/>
            <a:p>
              <a:pPr algn="l">
                <a:lnSpc>
                  <a:spcPts val="7680"/>
                </a:lnSpc>
              </a:pPr>
              <a:r>
                <a:rPr lang="en-US" sz="6400" b="true">
                  <a:solidFill>
                    <a:srgbClr val="2B4B82"/>
                  </a:solidFill>
                  <a:latin typeface="Josefin Sans Bold"/>
                  <a:ea typeface="Josefin Sans Bold"/>
                  <a:cs typeface="Josefin Sans Bold"/>
                  <a:sym typeface="Josefin Sans Bold"/>
                </a:rPr>
                <a:t>So sánh mô hình</a:t>
              </a:r>
            </a:p>
          </p:txBody>
        </p:sp>
        <p:sp>
          <p:nvSpPr>
            <p:cNvPr name="TextBox 4" id="4"/>
            <p:cNvSpPr txBox="true"/>
            <p:nvPr/>
          </p:nvSpPr>
          <p:spPr>
            <a:xfrm rot="0">
              <a:off x="0" y="3216188"/>
              <a:ext cx="22625597" cy="3896995"/>
            </a:xfrm>
            <a:prstGeom prst="rect">
              <a:avLst/>
            </a:prstGeom>
          </p:spPr>
          <p:txBody>
            <a:bodyPr anchor="t" rtlCol="false" tIns="0" lIns="0" bIns="0" rIns="0">
              <a:spAutoFit/>
            </a:bodyPr>
            <a:lstStyle/>
            <a:p>
              <a:pPr algn="l">
                <a:lnSpc>
                  <a:spcPts val="3359"/>
                </a:lnSpc>
              </a:pPr>
              <a:r>
                <a:rPr lang="en-US" sz="2400">
                  <a:solidFill>
                    <a:srgbClr val="2B4B82"/>
                  </a:solidFill>
                  <a:latin typeface="Josefin Sans"/>
                  <a:ea typeface="Josefin Sans"/>
                  <a:cs typeface="Josefin Sans"/>
                  <a:sym typeface="Josefin Sans"/>
                </a:rPr>
                <a:t>   Các mô hình được đánh giá:</a:t>
              </a:r>
            </a:p>
            <a:p>
              <a:pPr algn="l" marL="518160" indent="-259080" lvl="1">
                <a:lnSpc>
                  <a:spcPts val="3359"/>
                </a:lnSpc>
                <a:buFont typeface="Arial"/>
                <a:buChar char="•"/>
              </a:pPr>
              <a:r>
                <a:rPr lang="en-US" sz="2400">
                  <a:solidFill>
                    <a:srgbClr val="2B4B82"/>
                  </a:solidFill>
                  <a:latin typeface="Josefin Sans"/>
                  <a:ea typeface="Josefin Sans"/>
                  <a:cs typeface="Josefin Sans"/>
                  <a:sym typeface="Josefin Sans"/>
                </a:rPr>
                <a:t>Decision Trees: Độ chính xác 30,84%</a:t>
              </a:r>
            </a:p>
            <a:p>
              <a:pPr algn="l" marL="518160" indent="-259080" lvl="1">
                <a:lnSpc>
                  <a:spcPts val="3359"/>
                </a:lnSpc>
                <a:buFont typeface="Arial"/>
                <a:buChar char="•"/>
              </a:pPr>
              <a:r>
                <a:rPr lang="en-US" sz="2400">
                  <a:solidFill>
                    <a:srgbClr val="2B4B82"/>
                  </a:solidFill>
                  <a:latin typeface="Josefin Sans"/>
                  <a:ea typeface="Josefin Sans"/>
                  <a:cs typeface="Josefin Sans"/>
                  <a:sym typeface="Josefin Sans"/>
                </a:rPr>
                <a:t>Feedforward Neural Networks: Độ chính xác 17,38%</a:t>
              </a:r>
            </a:p>
            <a:p>
              <a:pPr algn="l" marL="518160" indent="-259080" lvl="1">
                <a:lnSpc>
                  <a:spcPts val="3359"/>
                </a:lnSpc>
                <a:buFont typeface="Arial"/>
                <a:buChar char="•"/>
              </a:pPr>
              <a:r>
                <a:rPr lang="en-US" sz="2400">
                  <a:solidFill>
                    <a:srgbClr val="2B4B82"/>
                  </a:solidFill>
                  <a:latin typeface="Josefin Sans"/>
                  <a:ea typeface="Josefin Sans"/>
                  <a:cs typeface="Josefin Sans"/>
                  <a:sym typeface="Josefin Sans"/>
                </a:rPr>
                <a:t>CNN: Độ chính xác 63,36%</a:t>
              </a:r>
            </a:p>
            <a:p>
              <a:pPr algn="l">
                <a:lnSpc>
                  <a:spcPts val="3359"/>
                </a:lnSpc>
              </a:pPr>
              <a:r>
                <a:rPr lang="en-US" sz="2400">
                  <a:solidFill>
                    <a:srgbClr val="2B4B82"/>
                  </a:solidFill>
                  <a:latin typeface="Josefin Sans"/>
                  <a:ea typeface="Josefin Sans"/>
                  <a:cs typeface="Josefin Sans"/>
                  <a:sym typeface="Josefin Sans"/>
                </a:rPr>
                <a:t>   </a:t>
              </a:r>
              <a:r>
                <a:rPr lang="en-US" sz="2400">
                  <a:solidFill>
                    <a:srgbClr val="2B4B82"/>
                  </a:solidFill>
                  <a:latin typeface="Josefin Sans"/>
                  <a:ea typeface="Josefin Sans"/>
                  <a:cs typeface="Josefin Sans"/>
                  <a:sym typeface="Josefin Sans"/>
                </a:rPr>
                <a:t>Kết luận:</a:t>
              </a:r>
            </a:p>
            <a:p>
              <a:pPr algn="l" marL="518160" indent="-259080" lvl="1">
                <a:lnSpc>
                  <a:spcPts val="3359"/>
                </a:lnSpc>
                <a:buFont typeface="Arial"/>
                <a:buChar char="•"/>
              </a:pPr>
              <a:r>
                <a:rPr lang="en-US" sz="2400">
                  <a:solidFill>
                    <a:srgbClr val="2B4B82"/>
                  </a:solidFill>
                  <a:latin typeface="Josefin Sans"/>
                  <a:ea typeface="Josefin Sans"/>
                  <a:cs typeface="Josefin Sans"/>
                  <a:sym typeface="Josefin Sans"/>
                </a:rPr>
                <a:t>CNN vượt trội nhờ khả năng xử lý dữ liệu hình ảnh phức tạp</a:t>
              </a:r>
            </a:p>
            <a:p>
              <a:pPr algn="l">
                <a:lnSpc>
                  <a:spcPts val="3359"/>
                </a:lnSpc>
              </a:pPr>
            </a:p>
          </p:txBody>
        </p:sp>
      </p:grpSp>
      <p:sp>
        <p:nvSpPr>
          <p:cNvPr name="Freeform 5" id="5"/>
          <p:cNvSpPr/>
          <p:nvPr/>
        </p:nvSpPr>
        <p:spPr>
          <a:xfrm flipH="false" flipV="false" rot="0">
            <a:off x="2170038" y="5841273"/>
            <a:ext cx="13947923" cy="3781975"/>
          </a:xfrm>
          <a:custGeom>
            <a:avLst/>
            <a:gdLst/>
            <a:ahLst/>
            <a:cxnLst/>
            <a:rect r="r" b="b" t="t" l="l"/>
            <a:pathLst>
              <a:path h="3781975" w="13947923">
                <a:moveTo>
                  <a:pt x="0" y="0"/>
                </a:moveTo>
                <a:lnTo>
                  <a:pt x="13947924" y="0"/>
                </a:lnTo>
                <a:lnTo>
                  <a:pt x="13947924" y="3781975"/>
                </a:lnTo>
                <a:lnTo>
                  <a:pt x="0" y="3781975"/>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94DDDE"/>
        </a:solidFill>
      </p:bgPr>
    </p:bg>
    <p:spTree>
      <p:nvGrpSpPr>
        <p:cNvPr id="1" name=""/>
        <p:cNvGrpSpPr/>
        <p:nvPr/>
      </p:nvGrpSpPr>
      <p:grpSpPr>
        <a:xfrm>
          <a:off x="0" y="0"/>
          <a:ext cx="0" cy="0"/>
          <a:chOff x="0" y="0"/>
          <a:chExt cx="0" cy="0"/>
        </a:xfrm>
      </p:grpSpPr>
      <p:sp>
        <p:nvSpPr>
          <p:cNvPr name="TextBox 2" id="2"/>
          <p:cNvSpPr txBox="true"/>
          <p:nvPr/>
        </p:nvSpPr>
        <p:spPr>
          <a:xfrm rot="0">
            <a:off x="1028700" y="379369"/>
            <a:ext cx="16135350" cy="990600"/>
          </a:xfrm>
          <a:prstGeom prst="rect">
            <a:avLst/>
          </a:prstGeom>
        </p:spPr>
        <p:txBody>
          <a:bodyPr anchor="t" rtlCol="false" tIns="0" lIns="0" bIns="0" rIns="0">
            <a:spAutoFit/>
          </a:bodyPr>
          <a:lstStyle/>
          <a:p>
            <a:pPr algn="ctr">
              <a:lnSpc>
                <a:spcPts val="7680"/>
              </a:lnSpc>
            </a:pPr>
            <a:r>
              <a:rPr lang="en-US" b="true" sz="6400">
                <a:solidFill>
                  <a:srgbClr val="2B4B82"/>
                </a:solidFill>
                <a:latin typeface="Josefin Sans Bold"/>
                <a:ea typeface="Josefin Sans Bold"/>
                <a:cs typeface="Josefin Sans Bold"/>
                <a:sym typeface="Josefin Sans Bold"/>
              </a:rPr>
              <a:t>Chi tiết mô hình CNN</a:t>
            </a:r>
          </a:p>
        </p:txBody>
      </p:sp>
      <p:sp>
        <p:nvSpPr>
          <p:cNvPr name="TextBox 3" id="3"/>
          <p:cNvSpPr txBox="true"/>
          <p:nvPr/>
        </p:nvSpPr>
        <p:spPr>
          <a:xfrm rot="0">
            <a:off x="0" y="2209800"/>
            <a:ext cx="18288000" cy="5448300"/>
          </a:xfrm>
          <a:prstGeom prst="rect">
            <a:avLst/>
          </a:prstGeom>
        </p:spPr>
        <p:txBody>
          <a:bodyPr anchor="t" rtlCol="false" tIns="0" lIns="0" bIns="0" rIns="0">
            <a:spAutoFit/>
          </a:bodyPr>
          <a:lstStyle/>
          <a:p>
            <a:pPr algn="l">
              <a:lnSpc>
                <a:spcPts val="2879"/>
              </a:lnSpc>
              <a:spcBef>
                <a:spcPct val="0"/>
              </a:spcBef>
            </a:pPr>
            <a:r>
              <a:rPr lang="en-US" b="true" sz="2400">
                <a:solidFill>
                  <a:srgbClr val="2B4B82"/>
                </a:solidFill>
                <a:latin typeface="Josefin Sans Bold"/>
                <a:ea typeface="Josefin Sans Bold"/>
                <a:cs typeface="Josefin Sans Bold"/>
                <a:sym typeface="Josefin Sans Bold"/>
              </a:rPr>
              <a:t>   </a:t>
            </a:r>
            <a:r>
              <a:rPr lang="en-US" b="true" sz="2400">
                <a:solidFill>
                  <a:srgbClr val="2B4B82"/>
                </a:solidFill>
                <a:latin typeface="Josefin Sans Bold"/>
                <a:ea typeface="Josefin Sans Bold"/>
                <a:cs typeface="Josefin Sans Bold"/>
                <a:sym typeface="Josefin Sans Bold"/>
              </a:rPr>
              <a:t>Kiến trúc:</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Nhiều lớp Conv2D với hàm kích hoạt ReLU</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Lớp MaxPooling2D để giảm kích thước</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Lớp Dropout để tránh overfitting</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Lớp Dense cho phân loại</a:t>
            </a:r>
          </a:p>
          <a:p>
            <a:pPr algn="l">
              <a:lnSpc>
                <a:spcPts val="2879"/>
              </a:lnSpc>
            </a:pPr>
            <a:r>
              <a:rPr lang="en-US" b="true" sz="2400">
                <a:solidFill>
                  <a:srgbClr val="2B4B82"/>
                </a:solidFill>
                <a:latin typeface="Josefin Sans Bold"/>
                <a:ea typeface="Josefin Sans Bold"/>
                <a:cs typeface="Josefin Sans Bold"/>
                <a:sym typeface="Josefin Sans Bold"/>
              </a:rPr>
              <a:t>   </a:t>
            </a:r>
            <a:r>
              <a:rPr lang="en-US" b="true" sz="2400">
                <a:solidFill>
                  <a:srgbClr val="2B4B82"/>
                </a:solidFill>
                <a:latin typeface="Josefin Sans Bold"/>
                <a:ea typeface="Josefin Sans Bold"/>
                <a:cs typeface="Josefin Sans Bold"/>
                <a:sym typeface="Josefin Sans Bold"/>
              </a:rPr>
              <a:t>Các lớp cụ thể:</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Conv2D-64, Conv2D-64, MaxPooling2D, Dropout</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Conv2D-128, Conv2D-128, MaxPooling2D, Dropout</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Conv2D-256, Conv2D-256, MaxPooling2D, Dropout</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Flatten, Dense-512, Dropout, Dense-256, Dropout, Dense-7 (Softmax)</a:t>
            </a:r>
          </a:p>
          <a:p>
            <a:pPr algn="l">
              <a:lnSpc>
                <a:spcPts val="2879"/>
              </a:lnSpc>
            </a:pPr>
            <a:r>
              <a:rPr lang="en-US" b="true" sz="2400">
                <a:solidFill>
                  <a:srgbClr val="2B4B82"/>
                </a:solidFill>
                <a:latin typeface="Josefin Sans Bold"/>
                <a:ea typeface="Josefin Sans Bold"/>
                <a:cs typeface="Josefin Sans Bold"/>
                <a:sym typeface="Josefin Sans Bold"/>
              </a:rPr>
              <a:t>   </a:t>
            </a:r>
            <a:r>
              <a:rPr lang="en-US" b="true" sz="2400">
                <a:solidFill>
                  <a:srgbClr val="2B4B82"/>
                </a:solidFill>
                <a:latin typeface="Josefin Sans Bold"/>
                <a:ea typeface="Josefin Sans Bold"/>
                <a:cs typeface="Josefin Sans Bold"/>
                <a:sym typeface="Josefin Sans Bold"/>
              </a:rPr>
              <a:t>Tối ưu hóa:</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Sử dụng bộ tối ưu hóa Adam</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Kích thước batch: 128</a:t>
            </a:r>
          </a:p>
          <a:p>
            <a:pPr algn="l" marL="518160" indent="-259080" lvl="1">
              <a:lnSpc>
                <a:spcPts val="2879"/>
              </a:lnSpc>
              <a:buFont typeface="Arial"/>
              <a:buChar char="•"/>
            </a:pPr>
            <a:r>
              <a:rPr lang="en-US" b="true" sz="2400">
                <a:solidFill>
                  <a:srgbClr val="2B4B82"/>
                </a:solidFill>
                <a:latin typeface="Josefin Sans Bold"/>
                <a:ea typeface="Josefin Sans Bold"/>
                <a:cs typeface="Josefin Sans Bold"/>
                <a:sym typeface="Josefin Sans Bold"/>
              </a:rPr>
              <a:t>Huấn luyện 28 epochs với early stopping</a:t>
            </a:r>
          </a:p>
          <a:p>
            <a:pPr algn="l">
              <a:lnSpc>
                <a:spcPts val="287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4DDDE"/>
        </a:solidFill>
      </p:bgPr>
    </p:bg>
    <p:spTree>
      <p:nvGrpSpPr>
        <p:cNvPr id="1" name=""/>
        <p:cNvGrpSpPr/>
        <p:nvPr/>
      </p:nvGrpSpPr>
      <p:grpSpPr>
        <a:xfrm>
          <a:off x="0" y="0"/>
          <a:ext cx="0" cy="0"/>
          <a:chOff x="0" y="0"/>
          <a:chExt cx="0" cy="0"/>
        </a:xfrm>
      </p:grpSpPr>
      <p:sp>
        <p:nvSpPr>
          <p:cNvPr name="Freeform 2" id="2"/>
          <p:cNvSpPr/>
          <p:nvPr/>
        </p:nvSpPr>
        <p:spPr>
          <a:xfrm flipH="false" flipV="false" rot="0">
            <a:off x="0" y="1696993"/>
            <a:ext cx="18288000" cy="7771054"/>
          </a:xfrm>
          <a:custGeom>
            <a:avLst/>
            <a:gdLst/>
            <a:ahLst/>
            <a:cxnLst/>
            <a:rect r="r" b="b" t="t" l="l"/>
            <a:pathLst>
              <a:path h="7771054" w="18288000">
                <a:moveTo>
                  <a:pt x="0" y="0"/>
                </a:moveTo>
                <a:lnTo>
                  <a:pt x="18288000" y="0"/>
                </a:lnTo>
                <a:lnTo>
                  <a:pt x="18288000" y="7771054"/>
                </a:lnTo>
                <a:lnTo>
                  <a:pt x="0" y="7771054"/>
                </a:lnTo>
                <a:lnTo>
                  <a:pt x="0" y="0"/>
                </a:lnTo>
                <a:close/>
              </a:path>
            </a:pathLst>
          </a:custGeom>
          <a:blipFill>
            <a:blip r:embed="rId2"/>
            <a:stretch>
              <a:fillRect l="0" t="0" r="0" b="0"/>
            </a:stretch>
          </a:blipFill>
        </p:spPr>
      </p:sp>
      <p:sp>
        <p:nvSpPr>
          <p:cNvPr name="TextBox 3" id="3"/>
          <p:cNvSpPr txBox="true"/>
          <p:nvPr/>
        </p:nvSpPr>
        <p:spPr>
          <a:xfrm rot="0">
            <a:off x="1028700" y="379369"/>
            <a:ext cx="16135350" cy="990600"/>
          </a:xfrm>
          <a:prstGeom prst="rect">
            <a:avLst/>
          </a:prstGeom>
        </p:spPr>
        <p:txBody>
          <a:bodyPr anchor="t" rtlCol="false" tIns="0" lIns="0" bIns="0" rIns="0">
            <a:spAutoFit/>
          </a:bodyPr>
          <a:lstStyle/>
          <a:p>
            <a:pPr algn="ctr">
              <a:lnSpc>
                <a:spcPts val="7680"/>
              </a:lnSpc>
            </a:pPr>
            <a:r>
              <a:rPr lang="en-US" b="true" sz="6400">
                <a:solidFill>
                  <a:srgbClr val="2B4B82"/>
                </a:solidFill>
                <a:latin typeface="Josefin Sans Bold"/>
                <a:ea typeface="Josefin Sans Bold"/>
                <a:cs typeface="Josefin Sans Bold"/>
                <a:sym typeface="Josefin Sans Bold"/>
              </a:rPr>
              <a:t>Chi tiết mô hình CNN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DAGi5rektvg</dc:identifier>
  <dcterms:modified xsi:type="dcterms:W3CDTF">2011-08-01T06:04:30Z</dcterms:modified>
  <cp:revision>1</cp:revision>
  <dc:title>Khảo sát đề tài</dc:title>
</cp:coreProperties>
</file>