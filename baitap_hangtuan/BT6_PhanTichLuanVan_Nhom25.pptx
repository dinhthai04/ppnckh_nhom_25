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embeddedFontLst>
    <p:embeddedFont>
      <p:font typeface="Bryndan Write" panose="020B0604020202020204" charset="0"/>
      <p:regular r:id="rId31"/>
    </p:embeddedFont>
    <p:embeddedFont>
      <p:font typeface="Gochi Hand" panose="020B0604020202020204" charset="0"/>
      <p:regular r:id="rId32"/>
    </p:embeddedFont>
    <p:embeddedFont>
      <p:font typeface="Now" panose="020B0604020202020204" charset="0"/>
      <p:regular r:id="rId33"/>
    </p:embeddedFont>
    <p:embeddedFont>
      <p:font typeface="Now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image" Target="../media/image1.jpe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 Id="rId9" Type="http://schemas.openxmlformats.org/officeDocument/2006/relationships/image" Target="../media/image29.svg"/></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8.sv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8.sv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8.sv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8.sv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9.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38.sv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image" Target="../media/image45.png"/><Relationship Id="rId7" Type="http://schemas.openxmlformats.org/officeDocument/2006/relationships/image" Target="../media/image47.svg"/><Relationship Id="rId12"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25.svg"/><Relationship Id="rId15" Type="http://schemas.openxmlformats.org/officeDocument/2006/relationships/image" Target="../media/image55.svg"/><Relationship Id="rId10" Type="http://schemas.openxmlformats.org/officeDocument/2006/relationships/image" Target="../media/image50.png"/><Relationship Id="rId4" Type="http://schemas.openxmlformats.org/officeDocument/2006/relationships/image" Target="../media/image24.png"/><Relationship Id="rId9" Type="http://schemas.openxmlformats.org/officeDocument/2006/relationships/image" Target="../media/image49.svg"/><Relationship Id="rId14" Type="http://schemas.openxmlformats.org/officeDocument/2006/relationships/image" Target="../media/image54.png"/></Relationships>
</file>

<file path=ppt/slides/_rels/slide13.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image" Target="../media/image45.png"/><Relationship Id="rId7" Type="http://schemas.openxmlformats.org/officeDocument/2006/relationships/image" Target="../media/image47.svg"/><Relationship Id="rId12"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25.svg"/><Relationship Id="rId15" Type="http://schemas.openxmlformats.org/officeDocument/2006/relationships/image" Target="../media/image55.svg"/><Relationship Id="rId10" Type="http://schemas.openxmlformats.org/officeDocument/2006/relationships/image" Target="../media/image50.png"/><Relationship Id="rId4" Type="http://schemas.openxmlformats.org/officeDocument/2006/relationships/image" Target="../media/image24.png"/><Relationship Id="rId9" Type="http://schemas.openxmlformats.org/officeDocument/2006/relationships/image" Target="../media/image49.svg"/><Relationship Id="rId14" Type="http://schemas.openxmlformats.org/officeDocument/2006/relationships/image" Target="../media/image54.png"/></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image" Target="../media/image45.png"/><Relationship Id="rId7" Type="http://schemas.openxmlformats.org/officeDocument/2006/relationships/image" Target="../media/image47.svg"/><Relationship Id="rId12"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svg"/><Relationship Id="rId5" Type="http://schemas.openxmlformats.org/officeDocument/2006/relationships/image" Target="../media/image25.svg"/><Relationship Id="rId15" Type="http://schemas.openxmlformats.org/officeDocument/2006/relationships/image" Target="../media/image55.svg"/><Relationship Id="rId10" Type="http://schemas.openxmlformats.org/officeDocument/2006/relationships/image" Target="../media/image50.png"/><Relationship Id="rId4" Type="http://schemas.openxmlformats.org/officeDocument/2006/relationships/image" Target="../media/image24.png"/><Relationship Id="rId9" Type="http://schemas.openxmlformats.org/officeDocument/2006/relationships/image" Target="../media/image49.svg"/><Relationship Id="rId14" Type="http://schemas.openxmlformats.org/officeDocument/2006/relationships/image" Target="../media/image54.png"/></Relationships>
</file>

<file path=ppt/slides/_rels/slide15.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56.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57.svg"/></Relationships>
</file>

<file path=ppt/slides/_rels/slide16.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9.sv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10" Type="http://schemas.openxmlformats.org/officeDocument/2006/relationships/image" Target="../media/image64.jpeg"/><Relationship Id="rId4" Type="http://schemas.openxmlformats.org/officeDocument/2006/relationships/image" Target="../media/image24.png"/><Relationship Id="rId9" Type="http://schemas.openxmlformats.org/officeDocument/2006/relationships/image" Target="../media/image29.svg"/></Relationships>
</file>

<file path=ppt/slides/_rels/slide20.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45.png"/><Relationship Id="rId7" Type="http://schemas.openxmlformats.org/officeDocument/2006/relationships/image" Target="../media/image15.svg"/><Relationship Id="rId12" Type="http://schemas.openxmlformats.org/officeDocument/2006/relationships/image" Target="../media/image6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68.svg"/><Relationship Id="rId5" Type="http://schemas.openxmlformats.org/officeDocument/2006/relationships/image" Target="../media/image13.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12.png"/><Relationship Id="rId9" Type="http://schemas.openxmlformats.org/officeDocument/2006/relationships/image" Target="../media/image66.svg"/><Relationship Id="rId1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45.png"/><Relationship Id="rId7" Type="http://schemas.openxmlformats.org/officeDocument/2006/relationships/image" Target="../media/image15.svg"/><Relationship Id="rId12" Type="http://schemas.openxmlformats.org/officeDocument/2006/relationships/image" Target="../media/image6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68.svg"/><Relationship Id="rId5" Type="http://schemas.openxmlformats.org/officeDocument/2006/relationships/image" Target="../media/image13.svg"/><Relationship Id="rId15" Type="http://schemas.openxmlformats.org/officeDocument/2006/relationships/image" Target="../media/image72.svg"/><Relationship Id="rId10" Type="http://schemas.openxmlformats.org/officeDocument/2006/relationships/image" Target="../media/image67.png"/><Relationship Id="rId4" Type="http://schemas.openxmlformats.org/officeDocument/2006/relationships/image" Target="../media/image12.png"/><Relationship Id="rId9" Type="http://schemas.openxmlformats.org/officeDocument/2006/relationships/image" Target="../media/image66.svg"/><Relationship Id="rId14" Type="http://schemas.openxmlformats.org/officeDocument/2006/relationships/image" Target="../media/image71.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2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svg"/><Relationship Id="rId4" Type="http://schemas.openxmlformats.org/officeDocument/2006/relationships/image" Target="../media/image31.png"/><Relationship Id="rId9" Type="http://schemas.openxmlformats.org/officeDocument/2006/relationships/image" Target="../media/image36.svg"/></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2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2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2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29.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75.png"/><Relationship Id="rId3" Type="http://schemas.openxmlformats.org/officeDocument/2006/relationships/image" Target="../media/image73.png"/><Relationship Id="rId7" Type="http://schemas.openxmlformats.org/officeDocument/2006/relationships/image" Target="../media/image6.png"/><Relationship Id="rId12" Type="http://schemas.openxmlformats.org/officeDocument/2006/relationships/image" Target="../media/image15.svg"/><Relationship Id="rId2" Type="http://schemas.openxmlformats.org/officeDocument/2006/relationships/image" Target="../media/image1.jpeg"/><Relationship Id="rId16" Type="http://schemas.openxmlformats.org/officeDocument/2006/relationships/image" Target="../media/image78.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4.png"/><Relationship Id="rId5" Type="http://schemas.openxmlformats.org/officeDocument/2006/relationships/image" Target="../media/image4.png"/><Relationship Id="rId15" Type="http://schemas.openxmlformats.org/officeDocument/2006/relationships/image" Target="../media/image77.png"/><Relationship Id="rId10" Type="http://schemas.openxmlformats.org/officeDocument/2006/relationships/image" Target="../media/image13.svg"/><Relationship Id="rId4" Type="http://schemas.openxmlformats.org/officeDocument/2006/relationships/image" Target="../media/image74.svg"/><Relationship Id="rId9" Type="http://schemas.openxmlformats.org/officeDocument/2006/relationships/image" Target="../media/image12.png"/><Relationship Id="rId14" Type="http://schemas.openxmlformats.org/officeDocument/2006/relationships/image" Target="../media/image7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2633080" y="847219"/>
            <a:ext cx="10444488" cy="4434247"/>
          </a:xfrm>
          <a:prstGeom prst="rect">
            <a:avLst/>
          </a:prstGeom>
        </p:spPr>
        <p:txBody>
          <a:bodyPr lIns="0" tIns="0" rIns="0" bIns="0" rtlCol="0" anchor="t">
            <a:spAutoFit/>
          </a:bodyPr>
          <a:lstStyle/>
          <a:p>
            <a:pPr algn="ctr">
              <a:lnSpc>
                <a:spcPts val="16506"/>
              </a:lnSpc>
            </a:pPr>
            <a:r>
              <a:rPr lang="en-US" sz="16506" dirty="0" err="1">
                <a:solidFill>
                  <a:srgbClr val="FFFFFF"/>
                </a:solidFill>
                <a:latin typeface="Bryndan Write"/>
                <a:ea typeface="Bryndan Write"/>
                <a:cs typeface="Bryndan Write"/>
                <a:sym typeface="Bryndan Write"/>
              </a:rPr>
              <a:t>Phân</a:t>
            </a:r>
            <a:r>
              <a:rPr lang="en-US" sz="16506" dirty="0">
                <a:solidFill>
                  <a:srgbClr val="FFFFFF"/>
                </a:solidFill>
                <a:latin typeface="Bryndan Write"/>
                <a:ea typeface="Bryndan Write"/>
                <a:cs typeface="Bryndan Write"/>
                <a:sym typeface="Bryndan Write"/>
              </a:rPr>
              <a:t> </a:t>
            </a:r>
            <a:r>
              <a:rPr lang="en-US" sz="16506" dirty="0" err="1">
                <a:solidFill>
                  <a:srgbClr val="FFFFFF"/>
                </a:solidFill>
                <a:latin typeface="Bryndan Write"/>
                <a:ea typeface="Bryndan Write"/>
                <a:cs typeface="Bryndan Write"/>
                <a:sym typeface="Bryndan Write"/>
              </a:rPr>
              <a:t>tích</a:t>
            </a:r>
            <a:r>
              <a:rPr lang="en-US" sz="16506" dirty="0">
                <a:solidFill>
                  <a:srgbClr val="FFFFFF"/>
                </a:solidFill>
                <a:latin typeface="Bryndan Write"/>
                <a:ea typeface="Bryndan Write"/>
                <a:cs typeface="Bryndan Write"/>
                <a:sym typeface="Bryndan Write"/>
              </a:rPr>
              <a:t> </a:t>
            </a:r>
            <a:r>
              <a:rPr lang="en-US" sz="16506" dirty="0" err="1">
                <a:solidFill>
                  <a:srgbClr val="FFFFFF"/>
                </a:solidFill>
                <a:latin typeface="Bryndan Write"/>
                <a:ea typeface="Bryndan Write"/>
                <a:cs typeface="Bryndan Write"/>
                <a:sym typeface="Bryndan Write"/>
              </a:rPr>
              <a:t>luận</a:t>
            </a:r>
            <a:r>
              <a:rPr lang="en-US" sz="16506" dirty="0">
                <a:solidFill>
                  <a:srgbClr val="FFFFFF"/>
                </a:solidFill>
                <a:latin typeface="Bryndan Write"/>
                <a:ea typeface="Bryndan Write"/>
                <a:cs typeface="Bryndan Write"/>
                <a:sym typeface="Bryndan Write"/>
              </a:rPr>
              <a:t> </a:t>
            </a:r>
            <a:r>
              <a:rPr lang="en-US" sz="16506" dirty="0" err="1">
                <a:solidFill>
                  <a:srgbClr val="FFFFFF"/>
                </a:solidFill>
                <a:latin typeface="Bryndan Write"/>
                <a:ea typeface="Bryndan Write"/>
                <a:cs typeface="Bryndan Write"/>
                <a:sym typeface="Bryndan Write"/>
              </a:rPr>
              <a:t>văn</a:t>
            </a:r>
            <a:endParaRPr lang="en-US" sz="16506" dirty="0">
              <a:solidFill>
                <a:srgbClr val="FFFFFF"/>
              </a:solidFill>
              <a:latin typeface="Bryndan Write"/>
              <a:ea typeface="Bryndan Write"/>
              <a:cs typeface="Bryndan Write"/>
              <a:sym typeface="Bryndan Write"/>
            </a:endParaRPr>
          </a:p>
        </p:txBody>
      </p:sp>
      <p:sp>
        <p:nvSpPr>
          <p:cNvPr id="4" name="Freeform 4"/>
          <p:cNvSpPr/>
          <p:nvPr/>
        </p:nvSpPr>
        <p:spPr>
          <a:xfrm rot="1097523">
            <a:off x="11156873" y="1560993"/>
            <a:ext cx="1885747" cy="1296022"/>
          </a:xfrm>
          <a:custGeom>
            <a:avLst/>
            <a:gdLst/>
            <a:ahLst/>
            <a:cxnLst/>
            <a:rect l="l" t="t" r="r" b="b"/>
            <a:pathLst>
              <a:path w="1885747" h="1296022">
                <a:moveTo>
                  <a:pt x="0" y="0"/>
                </a:moveTo>
                <a:lnTo>
                  <a:pt x="1885746" y="0"/>
                </a:lnTo>
                <a:lnTo>
                  <a:pt x="1885746" y="1296022"/>
                </a:lnTo>
                <a:lnTo>
                  <a:pt x="0" y="12960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rot="-4107262">
            <a:off x="-865704" y="-473050"/>
            <a:ext cx="3387936" cy="2297637"/>
          </a:xfrm>
          <a:custGeom>
            <a:avLst/>
            <a:gdLst/>
            <a:ahLst/>
            <a:cxnLst/>
            <a:rect l="l" t="t" r="r" b="b"/>
            <a:pathLst>
              <a:path w="3387936" h="2297637">
                <a:moveTo>
                  <a:pt x="0" y="0"/>
                </a:moveTo>
                <a:lnTo>
                  <a:pt x="3387936" y="0"/>
                </a:lnTo>
                <a:lnTo>
                  <a:pt x="3387936" y="2297637"/>
                </a:lnTo>
                <a:lnTo>
                  <a:pt x="0" y="22976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rot="6829267">
            <a:off x="15774367" y="8189225"/>
            <a:ext cx="3715300" cy="2519649"/>
          </a:xfrm>
          <a:custGeom>
            <a:avLst/>
            <a:gdLst/>
            <a:ahLst/>
            <a:cxnLst/>
            <a:rect l="l" t="t" r="r" b="b"/>
            <a:pathLst>
              <a:path w="3715300" h="2519649">
                <a:moveTo>
                  <a:pt x="0" y="0"/>
                </a:moveTo>
                <a:lnTo>
                  <a:pt x="3715301" y="0"/>
                </a:lnTo>
                <a:lnTo>
                  <a:pt x="3715301" y="2519649"/>
                </a:lnTo>
                <a:lnTo>
                  <a:pt x="0" y="25196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rot="-1559470">
            <a:off x="1535457" y="2497886"/>
            <a:ext cx="2195245" cy="2279892"/>
          </a:xfrm>
          <a:custGeom>
            <a:avLst/>
            <a:gdLst/>
            <a:ahLst/>
            <a:cxnLst/>
            <a:rect l="l" t="t" r="r" b="b"/>
            <a:pathLst>
              <a:path w="2195245" h="2279892">
                <a:moveTo>
                  <a:pt x="0" y="0"/>
                </a:moveTo>
                <a:lnTo>
                  <a:pt x="2195245" y="0"/>
                </a:lnTo>
                <a:lnTo>
                  <a:pt x="2195245" y="2279892"/>
                </a:lnTo>
                <a:lnTo>
                  <a:pt x="0" y="227989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rot="280170">
            <a:off x="13972610" y="5900178"/>
            <a:ext cx="1664513" cy="2142851"/>
          </a:xfrm>
          <a:custGeom>
            <a:avLst/>
            <a:gdLst/>
            <a:ahLst/>
            <a:cxnLst/>
            <a:rect l="l" t="t" r="r" b="b"/>
            <a:pathLst>
              <a:path w="1664513" h="2142851">
                <a:moveTo>
                  <a:pt x="0" y="0"/>
                </a:moveTo>
                <a:lnTo>
                  <a:pt x="1664513" y="0"/>
                </a:lnTo>
                <a:lnTo>
                  <a:pt x="1664513" y="2142851"/>
                </a:lnTo>
                <a:lnTo>
                  <a:pt x="0" y="21428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Freeform 9"/>
          <p:cNvSpPr/>
          <p:nvPr/>
        </p:nvSpPr>
        <p:spPr>
          <a:xfrm rot="-1391118">
            <a:off x="14634691" y="-2104991"/>
            <a:ext cx="3665666" cy="3796829"/>
          </a:xfrm>
          <a:custGeom>
            <a:avLst/>
            <a:gdLst/>
            <a:ahLst/>
            <a:cxnLst/>
            <a:rect l="l" t="t" r="r" b="b"/>
            <a:pathLst>
              <a:path w="3665666" h="3796829">
                <a:moveTo>
                  <a:pt x="0" y="0"/>
                </a:moveTo>
                <a:lnTo>
                  <a:pt x="3665665" y="0"/>
                </a:lnTo>
                <a:lnTo>
                  <a:pt x="3665665" y="3796829"/>
                </a:lnTo>
                <a:lnTo>
                  <a:pt x="0" y="3796829"/>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 name="Freeform 10"/>
          <p:cNvSpPr/>
          <p:nvPr/>
        </p:nvSpPr>
        <p:spPr>
          <a:xfrm rot="-6979330">
            <a:off x="-712187" y="8552632"/>
            <a:ext cx="3453702" cy="1902676"/>
          </a:xfrm>
          <a:custGeom>
            <a:avLst/>
            <a:gdLst/>
            <a:ahLst/>
            <a:cxnLst/>
            <a:rect l="l" t="t" r="r" b="b"/>
            <a:pathLst>
              <a:path w="3453702" h="1902676">
                <a:moveTo>
                  <a:pt x="0" y="0"/>
                </a:moveTo>
                <a:lnTo>
                  <a:pt x="3453703" y="0"/>
                </a:lnTo>
                <a:lnTo>
                  <a:pt x="3453703" y="1902676"/>
                </a:lnTo>
                <a:lnTo>
                  <a:pt x="0" y="190267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1" name="TextBox 11"/>
          <p:cNvSpPr txBox="1"/>
          <p:nvPr/>
        </p:nvSpPr>
        <p:spPr>
          <a:xfrm>
            <a:off x="5412611" y="5983006"/>
            <a:ext cx="9935592" cy="3466044"/>
          </a:xfrm>
          <a:prstGeom prst="rect">
            <a:avLst/>
          </a:prstGeom>
        </p:spPr>
        <p:txBody>
          <a:bodyPr lIns="0" tIns="0" rIns="0" bIns="0" rtlCol="0" anchor="t">
            <a:spAutoFit/>
          </a:bodyPr>
          <a:lstStyle/>
          <a:p>
            <a:pPr algn="l">
              <a:lnSpc>
                <a:spcPts val="5179"/>
              </a:lnSpc>
            </a:pPr>
            <a:r>
              <a:rPr lang="en-US" sz="3699" b="1">
                <a:solidFill>
                  <a:srgbClr val="FFFFFF"/>
                </a:solidFill>
                <a:latin typeface="Now Bold"/>
                <a:ea typeface="Now Bold"/>
                <a:cs typeface="Now Bold"/>
                <a:sym typeface="Now Bold"/>
              </a:rPr>
              <a:t>Nhóm 25</a:t>
            </a:r>
          </a:p>
          <a:p>
            <a:pPr algn="l">
              <a:lnSpc>
                <a:spcPts val="4619"/>
              </a:lnSpc>
            </a:pPr>
            <a:r>
              <a:rPr lang="en-US" sz="3299" b="1">
                <a:solidFill>
                  <a:srgbClr val="FFFFFF"/>
                </a:solidFill>
                <a:latin typeface="Now Bold"/>
                <a:ea typeface="Now Bold"/>
                <a:cs typeface="Now Bold"/>
                <a:sym typeface="Now Bold"/>
              </a:rPr>
              <a:t>Đỗ Đình Thái 3122410378</a:t>
            </a:r>
          </a:p>
          <a:p>
            <a:pPr algn="l">
              <a:lnSpc>
                <a:spcPts val="4619"/>
              </a:lnSpc>
            </a:pPr>
            <a:r>
              <a:rPr lang="en-US" sz="3299" b="1">
                <a:solidFill>
                  <a:srgbClr val="FFFFFF"/>
                </a:solidFill>
                <a:latin typeface="Now Bold"/>
                <a:ea typeface="Now Bold"/>
                <a:cs typeface="Now Bold"/>
                <a:sym typeface="Now Bold"/>
              </a:rPr>
              <a:t>Nguyễn Minh Trí 3122410424</a:t>
            </a:r>
          </a:p>
          <a:p>
            <a:pPr algn="l">
              <a:lnSpc>
                <a:spcPts val="4619"/>
              </a:lnSpc>
            </a:pPr>
            <a:r>
              <a:rPr lang="en-US" sz="3299" b="1">
                <a:solidFill>
                  <a:srgbClr val="FFFFFF"/>
                </a:solidFill>
                <a:latin typeface="Now Bold"/>
                <a:ea typeface="Now Bold"/>
                <a:cs typeface="Now Bold"/>
                <a:sym typeface="Now Bold"/>
              </a:rPr>
              <a:t>Đào Thành Phát 3122410290</a:t>
            </a:r>
          </a:p>
          <a:p>
            <a:pPr algn="l">
              <a:lnSpc>
                <a:spcPts val="4619"/>
              </a:lnSpc>
            </a:pPr>
            <a:r>
              <a:rPr lang="en-US" sz="3299" b="1">
                <a:solidFill>
                  <a:srgbClr val="FFFFFF"/>
                </a:solidFill>
                <a:latin typeface="Now Bold"/>
                <a:ea typeface="Now Bold"/>
                <a:cs typeface="Now Bold"/>
                <a:sym typeface="Now Bold"/>
              </a:rPr>
              <a:t>Nguyễn Trọng Phú 3122410316</a:t>
            </a:r>
          </a:p>
          <a:p>
            <a:pPr algn="l">
              <a:lnSpc>
                <a:spcPts val="4008"/>
              </a:lnSpc>
            </a:pPr>
            <a:endParaRPr lang="en-US" sz="3299" b="1">
              <a:solidFill>
                <a:srgbClr val="FFFFFF"/>
              </a:solidFill>
              <a:latin typeface="Now Bold"/>
              <a:ea typeface="Now Bold"/>
              <a:cs typeface="Now Bold"/>
              <a:sym typeface="Now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6496022" y="1759980"/>
            <a:ext cx="9640627"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Giới Thiệu</a:t>
            </a:r>
          </a:p>
        </p:txBody>
      </p:sp>
      <p:sp>
        <p:nvSpPr>
          <p:cNvPr id="6" name="TextBox 6"/>
          <p:cNvSpPr txBox="1"/>
          <p:nvPr/>
        </p:nvSpPr>
        <p:spPr>
          <a:xfrm>
            <a:off x="6496022" y="2687719"/>
            <a:ext cx="9935592" cy="5002429"/>
          </a:xfrm>
          <a:prstGeom prst="rect">
            <a:avLst/>
          </a:prstGeom>
        </p:spPr>
        <p:txBody>
          <a:bodyPr lIns="0" tIns="0" rIns="0" bIns="0" rtlCol="0" anchor="t">
            <a:spAutoFit/>
          </a:bodyPr>
          <a:lstStyle/>
          <a:p>
            <a:pPr algn="l">
              <a:lnSpc>
                <a:spcPts val="4008"/>
              </a:lnSpc>
            </a:pPr>
            <a:r>
              <a:rPr lang="en-US" sz="2863" b="1">
                <a:solidFill>
                  <a:srgbClr val="FFFFFF"/>
                </a:solidFill>
                <a:latin typeface="Now Bold"/>
                <a:ea typeface="Now Bold"/>
                <a:cs typeface="Now Bold"/>
                <a:sym typeface="Now Bold"/>
              </a:rPr>
              <a:t>Tên đồ án: </a:t>
            </a:r>
          </a:p>
          <a:p>
            <a:pPr algn="l">
              <a:lnSpc>
                <a:spcPts val="4008"/>
              </a:lnSpc>
            </a:pPr>
            <a:r>
              <a:rPr lang="en-US" sz="2863">
                <a:solidFill>
                  <a:srgbClr val="FFFFFF"/>
                </a:solidFill>
                <a:latin typeface="Now"/>
                <a:ea typeface="Now"/>
                <a:cs typeface="Now"/>
                <a:sym typeface="Now"/>
              </a:rPr>
              <a:t>NHẬN DIỆN CẢM XÚC MẶT NGƯỜI SỬ DỤNG MẠNG HỌC SÂU CÓ CHÚ Ý.</a:t>
            </a:r>
          </a:p>
          <a:p>
            <a:pPr algn="l">
              <a:lnSpc>
                <a:spcPts val="4008"/>
              </a:lnSpc>
            </a:pPr>
            <a:r>
              <a:rPr lang="en-US" sz="2863" b="1">
                <a:solidFill>
                  <a:srgbClr val="FFFFFF"/>
                </a:solidFill>
                <a:latin typeface="Now Bold"/>
                <a:ea typeface="Now Bold"/>
                <a:cs typeface="Now Bold"/>
                <a:sym typeface="Now Bold"/>
              </a:rPr>
              <a:t>Tác giả: </a:t>
            </a:r>
          </a:p>
          <a:p>
            <a:pPr algn="l">
              <a:lnSpc>
                <a:spcPts val="4008"/>
              </a:lnSpc>
            </a:pPr>
            <a:r>
              <a:rPr lang="en-US" sz="2863">
                <a:solidFill>
                  <a:srgbClr val="FFFFFF"/>
                </a:solidFill>
                <a:latin typeface="Now"/>
                <a:ea typeface="Now"/>
                <a:cs typeface="Now"/>
                <a:sym typeface="Now"/>
              </a:rPr>
              <a:t>Phạm Quí Luận</a:t>
            </a:r>
          </a:p>
          <a:p>
            <a:pPr algn="l">
              <a:lnSpc>
                <a:spcPts val="4008"/>
              </a:lnSpc>
            </a:pPr>
            <a:r>
              <a:rPr lang="en-US" sz="2863" b="1">
                <a:solidFill>
                  <a:srgbClr val="FFFFFF"/>
                </a:solidFill>
                <a:latin typeface="Now Bold"/>
                <a:ea typeface="Now Bold"/>
                <a:cs typeface="Now Bold"/>
                <a:sym typeface="Now Bold"/>
              </a:rPr>
              <a:t>Nơi công bố: </a:t>
            </a:r>
          </a:p>
          <a:p>
            <a:pPr algn="l">
              <a:lnSpc>
                <a:spcPts val="4008"/>
              </a:lnSpc>
            </a:pPr>
            <a:r>
              <a:rPr lang="en-US" sz="2863">
                <a:solidFill>
                  <a:srgbClr val="FFFFFF"/>
                </a:solidFill>
                <a:latin typeface="Now"/>
                <a:ea typeface="Now"/>
                <a:cs typeface="Now"/>
                <a:sym typeface="Now"/>
              </a:rPr>
              <a:t>ĐẠI HỌC QUỐC GIA THÀNH PHỐ HỒ CHÍ MINH</a:t>
            </a:r>
          </a:p>
          <a:p>
            <a:pPr algn="l">
              <a:lnSpc>
                <a:spcPts val="4008"/>
              </a:lnSpc>
            </a:pPr>
            <a:r>
              <a:rPr lang="en-US" sz="2863">
                <a:solidFill>
                  <a:srgbClr val="FFFFFF"/>
                </a:solidFill>
                <a:latin typeface="Now"/>
                <a:ea typeface="Now"/>
                <a:cs typeface="Now"/>
                <a:sym typeface="Now"/>
              </a:rPr>
              <a:t>TRƯỜNG ĐẠI HỌC BÁCH KHOA</a:t>
            </a:r>
          </a:p>
          <a:p>
            <a:pPr algn="l">
              <a:lnSpc>
                <a:spcPts val="4008"/>
              </a:lnSpc>
            </a:pPr>
            <a:r>
              <a:rPr lang="en-US" sz="2863" b="1">
                <a:solidFill>
                  <a:srgbClr val="FFFFFF"/>
                </a:solidFill>
                <a:latin typeface="Now Bold"/>
                <a:ea typeface="Now Bold"/>
                <a:cs typeface="Now Bold"/>
                <a:sym typeface="Now Bold"/>
              </a:rPr>
              <a:t>Năm công bố:</a:t>
            </a:r>
            <a:r>
              <a:rPr lang="en-US" sz="2863">
                <a:solidFill>
                  <a:srgbClr val="FFFFFF"/>
                </a:solidFill>
                <a:latin typeface="Now"/>
                <a:ea typeface="Now"/>
                <a:cs typeface="Now"/>
                <a:sym typeface="Now"/>
              </a:rPr>
              <a:t> 2019</a:t>
            </a:r>
          </a:p>
          <a:p>
            <a:pPr algn="l">
              <a:lnSpc>
                <a:spcPts val="4008"/>
              </a:lnSpc>
            </a:pPr>
            <a:endParaRPr lang="en-US" sz="2863">
              <a:solidFill>
                <a:srgbClr val="FFFFFF"/>
              </a:solidFill>
              <a:latin typeface="Now"/>
              <a:ea typeface="Now"/>
              <a:cs typeface="Now"/>
              <a:sym typeface="Now"/>
            </a:endParaRPr>
          </a:p>
        </p:txBody>
      </p:sp>
      <p:sp>
        <p:nvSpPr>
          <p:cNvPr id="7" name="Freeform 7"/>
          <p:cNvSpPr/>
          <p:nvPr/>
        </p:nvSpPr>
        <p:spPr>
          <a:xfrm rot="1353809">
            <a:off x="13566310" y="25331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16181" r="48502"/>
            <a:stretch>
              <a:fillRect/>
            </a:stretch>
          </p:blipFill>
          <p:spPr>
            <a:xfrm>
              <a:off x="0" y="0"/>
              <a:ext cx="7370417" cy="13913357"/>
            </a:xfrm>
            <a:prstGeom prst="rect">
              <a:avLst/>
            </a:prstGeom>
          </p:spPr>
        </p:pic>
      </p:grpSp>
      <p:sp>
        <p:nvSpPr>
          <p:cNvPr id="5" name="TextBox 5"/>
          <p:cNvSpPr txBox="1"/>
          <p:nvPr/>
        </p:nvSpPr>
        <p:spPr>
          <a:xfrm>
            <a:off x="6637217" y="552450"/>
            <a:ext cx="9640627"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Mục tiêu nghiên cứu</a:t>
            </a:r>
          </a:p>
        </p:txBody>
      </p:sp>
      <p:sp>
        <p:nvSpPr>
          <p:cNvPr id="6" name="TextBox 6"/>
          <p:cNvSpPr txBox="1"/>
          <p:nvPr/>
        </p:nvSpPr>
        <p:spPr>
          <a:xfrm>
            <a:off x="5445872" y="2645608"/>
            <a:ext cx="12842128" cy="4437817"/>
          </a:xfrm>
          <a:prstGeom prst="rect">
            <a:avLst/>
          </a:prstGeom>
        </p:spPr>
        <p:txBody>
          <a:bodyPr lIns="0" tIns="0" rIns="0" bIns="0" rtlCol="0" anchor="t">
            <a:spAutoFit/>
          </a:bodyPr>
          <a:lstStyle/>
          <a:p>
            <a:pPr marL="609427" lvl="1" indent="-304713" algn="l">
              <a:lnSpc>
                <a:spcPts val="3951"/>
              </a:lnSpc>
              <a:buFont typeface="Arial"/>
              <a:buChar char="•"/>
            </a:pPr>
            <a:r>
              <a:rPr lang="en-US" sz="2822">
                <a:solidFill>
                  <a:srgbClr val="FFFFFF"/>
                </a:solidFill>
                <a:latin typeface="Now"/>
                <a:ea typeface="Now"/>
                <a:cs typeface="Now"/>
                <a:sym typeface="Now"/>
              </a:rPr>
              <a:t>Tập trung vào học sâu: Khảo sát, đánh giá, thử nghiệm và cải tiến các mô hình học sâu hiện đại để nâng cao hiệu suất trong phân tích biểu cảm khuôn mặt.</a:t>
            </a:r>
          </a:p>
          <a:p>
            <a:pPr marL="609427" lvl="1" indent="-304713" algn="l">
              <a:lnSpc>
                <a:spcPts val="3951"/>
              </a:lnSpc>
              <a:buFont typeface="Arial"/>
              <a:buChar char="•"/>
            </a:pPr>
            <a:r>
              <a:rPr lang="en-US" sz="2822">
                <a:solidFill>
                  <a:srgbClr val="FFFFFF"/>
                </a:solidFill>
                <a:latin typeface="Now"/>
                <a:ea typeface="Now"/>
                <a:cs typeface="Now"/>
                <a:sym typeface="Now"/>
              </a:rPr>
              <a:t>Dữ liệu thực tế phức tạp: Sử dụng hai bộ dữ liệu công khai phức tạp (đặc tả trong Chương 4) để thực nghiệm và so sánh, tập trung vào dữ liệu biểu cảm khuôn mặt thực tế.</a:t>
            </a:r>
          </a:p>
          <a:p>
            <a:pPr marL="609427" lvl="1" indent="-304713" algn="l">
              <a:lnSpc>
                <a:spcPts val="3951"/>
              </a:lnSpc>
              <a:buFont typeface="Arial"/>
              <a:buChar char="•"/>
            </a:pPr>
            <a:r>
              <a:rPr lang="en-US" sz="2822">
                <a:solidFill>
                  <a:srgbClr val="FFFFFF"/>
                </a:solidFill>
                <a:latin typeface="Now"/>
                <a:ea typeface="Now"/>
                <a:cs typeface="Now"/>
                <a:sym typeface="Now"/>
              </a:rPr>
              <a:t>So sánh công bằng: Hiện thực và huấn luyện lại các mô hình học sâu hiện đại để so sánh trực tiếp với mô hình đề xuất, đồng thời đối chiếu với kết quả báo cáo khoa học.</a:t>
            </a:r>
          </a:p>
        </p:txBody>
      </p:sp>
      <p:sp>
        <p:nvSpPr>
          <p:cNvPr id="7" name="Freeform 7"/>
          <p:cNvSpPr/>
          <p:nvPr/>
        </p:nvSpPr>
        <p:spPr>
          <a:xfrm rot="-4393055" flipH="1">
            <a:off x="2261869" y="1827708"/>
            <a:ext cx="4947445" cy="1942997"/>
          </a:xfrm>
          <a:custGeom>
            <a:avLst/>
            <a:gdLst/>
            <a:ahLst/>
            <a:cxnLst/>
            <a:rect l="l" t="t" r="r" b="b"/>
            <a:pathLst>
              <a:path w="4947445" h="1942997">
                <a:moveTo>
                  <a:pt x="4947445" y="0"/>
                </a:moveTo>
                <a:lnTo>
                  <a:pt x="0" y="0"/>
                </a:lnTo>
                <a:lnTo>
                  <a:pt x="0" y="1942997"/>
                </a:lnTo>
                <a:lnTo>
                  <a:pt x="4947445" y="1942997"/>
                </a:lnTo>
                <a:lnTo>
                  <a:pt x="494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5717653" y="8108592"/>
            <a:ext cx="3083294" cy="3083294"/>
          </a:xfrm>
          <a:custGeom>
            <a:avLst/>
            <a:gdLst/>
            <a:ahLst/>
            <a:cxnLst/>
            <a:rect l="l" t="t" r="r" b="b"/>
            <a:pathLst>
              <a:path w="3083294" h="3083294">
                <a:moveTo>
                  <a:pt x="0" y="0"/>
                </a:moveTo>
                <a:lnTo>
                  <a:pt x="3083294" y="0"/>
                </a:lnTo>
                <a:lnTo>
                  <a:pt x="3083294" y="3083294"/>
                </a:lnTo>
                <a:lnTo>
                  <a:pt x="0" y="30832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47858" y="8869657"/>
            <a:ext cx="6632619" cy="1121516"/>
          </a:xfrm>
          <a:custGeom>
            <a:avLst/>
            <a:gdLst/>
            <a:ahLst/>
            <a:cxnLst/>
            <a:rect l="l" t="t" r="r" b="b"/>
            <a:pathLst>
              <a:path w="6632619" h="1121516">
                <a:moveTo>
                  <a:pt x="0" y="0"/>
                </a:moveTo>
                <a:lnTo>
                  <a:pt x="6632619" y="0"/>
                </a:lnTo>
                <a:lnTo>
                  <a:pt x="6632619" y="1121515"/>
                </a:lnTo>
                <a:lnTo>
                  <a:pt x="0" y="112151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16181" r="48502"/>
            <a:stretch>
              <a:fillRect/>
            </a:stretch>
          </p:blipFill>
          <p:spPr>
            <a:xfrm>
              <a:off x="0" y="0"/>
              <a:ext cx="7370417" cy="13913357"/>
            </a:xfrm>
            <a:prstGeom prst="rect">
              <a:avLst/>
            </a:prstGeom>
          </p:spPr>
        </p:pic>
      </p:grpSp>
      <p:sp>
        <p:nvSpPr>
          <p:cNvPr id="5" name="TextBox 5"/>
          <p:cNvSpPr txBox="1"/>
          <p:nvPr/>
        </p:nvSpPr>
        <p:spPr>
          <a:xfrm>
            <a:off x="6637217" y="552450"/>
            <a:ext cx="9640627"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Mục tiêu nghiên cứu</a:t>
            </a:r>
          </a:p>
        </p:txBody>
      </p:sp>
      <p:sp>
        <p:nvSpPr>
          <p:cNvPr id="6" name="TextBox 6"/>
          <p:cNvSpPr txBox="1"/>
          <p:nvPr/>
        </p:nvSpPr>
        <p:spPr>
          <a:xfrm>
            <a:off x="5445872" y="2850618"/>
            <a:ext cx="12842128" cy="3448403"/>
          </a:xfrm>
          <a:prstGeom prst="rect">
            <a:avLst/>
          </a:prstGeom>
        </p:spPr>
        <p:txBody>
          <a:bodyPr lIns="0" tIns="0" rIns="0" bIns="0" rtlCol="0" anchor="t">
            <a:spAutoFit/>
          </a:bodyPr>
          <a:lstStyle/>
          <a:p>
            <a:pPr marL="609427" lvl="1" indent="-304713" algn="l">
              <a:lnSpc>
                <a:spcPts val="3951"/>
              </a:lnSpc>
              <a:buFont typeface="Arial"/>
              <a:buChar char="•"/>
            </a:pPr>
            <a:r>
              <a:rPr lang="en-US" sz="2822">
                <a:solidFill>
                  <a:srgbClr val="FFFFFF"/>
                </a:solidFill>
                <a:latin typeface="Now"/>
                <a:ea typeface="Now"/>
                <a:cs typeface="Now"/>
                <a:sym typeface="Now"/>
              </a:rPr>
              <a:t>Cải thiện độ chính xác: Tăng cường độ chính xác trên các bộ dữ liệu thực tế phức tạp, xem bài toán phân tích biểu cảm như bài toán phân lớp với 6 biểu cảm rời rạc.</a:t>
            </a:r>
          </a:p>
          <a:p>
            <a:pPr marL="609427" lvl="1" indent="-304713" algn="l">
              <a:lnSpc>
                <a:spcPts val="3951"/>
              </a:lnSpc>
              <a:buFont typeface="Arial"/>
              <a:buChar char="•"/>
            </a:pPr>
            <a:r>
              <a:rPr lang="en-US" sz="2822">
                <a:solidFill>
                  <a:srgbClr val="FFFFFF"/>
                </a:solidFill>
                <a:latin typeface="Now"/>
                <a:ea typeface="Now"/>
                <a:cs typeface="Now"/>
                <a:sym typeface="Now"/>
              </a:rPr>
              <a:t>Xây dựng bộ dữ liệu mới: Phát triển bộ dữ liệu biểu cảm khuôn mặt của người Việt Nam, lấy cảm hứng từ nghiên cứu của GS. Guoying Zhao, nhằm thúc đẩy nghiên cứu và ứng dụng trong bối cảnh Việt Nam (trình bày trong Chương 4).</a:t>
            </a:r>
          </a:p>
        </p:txBody>
      </p:sp>
      <p:sp>
        <p:nvSpPr>
          <p:cNvPr id="7" name="Freeform 7"/>
          <p:cNvSpPr/>
          <p:nvPr/>
        </p:nvSpPr>
        <p:spPr>
          <a:xfrm rot="-4393055" flipH="1">
            <a:off x="2261869" y="1827708"/>
            <a:ext cx="4947445" cy="1942997"/>
          </a:xfrm>
          <a:custGeom>
            <a:avLst/>
            <a:gdLst/>
            <a:ahLst/>
            <a:cxnLst/>
            <a:rect l="l" t="t" r="r" b="b"/>
            <a:pathLst>
              <a:path w="4947445" h="1942997">
                <a:moveTo>
                  <a:pt x="4947445" y="0"/>
                </a:moveTo>
                <a:lnTo>
                  <a:pt x="0" y="0"/>
                </a:lnTo>
                <a:lnTo>
                  <a:pt x="0" y="1942997"/>
                </a:lnTo>
                <a:lnTo>
                  <a:pt x="4947445" y="1942997"/>
                </a:lnTo>
                <a:lnTo>
                  <a:pt x="494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5717653" y="8108592"/>
            <a:ext cx="3083294" cy="3083294"/>
          </a:xfrm>
          <a:custGeom>
            <a:avLst/>
            <a:gdLst/>
            <a:ahLst/>
            <a:cxnLst/>
            <a:rect l="l" t="t" r="r" b="b"/>
            <a:pathLst>
              <a:path w="3083294" h="3083294">
                <a:moveTo>
                  <a:pt x="0" y="0"/>
                </a:moveTo>
                <a:lnTo>
                  <a:pt x="3083294" y="0"/>
                </a:lnTo>
                <a:lnTo>
                  <a:pt x="3083294" y="3083294"/>
                </a:lnTo>
                <a:lnTo>
                  <a:pt x="0" y="30832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47858" y="8869657"/>
            <a:ext cx="6632619" cy="1121516"/>
          </a:xfrm>
          <a:custGeom>
            <a:avLst/>
            <a:gdLst/>
            <a:ahLst/>
            <a:cxnLst/>
            <a:rect l="l" t="t" r="r" b="b"/>
            <a:pathLst>
              <a:path w="6632619" h="1121516">
                <a:moveTo>
                  <a:pt x="0" y="0"/>
                </a:moveTo>
                <a:lnTo>
                  <a:pt x="6632619" y="0"/>
                </a:lnTo>
                <a:lnTo>
                  <a:pt x="6632619" y="1121515"/>
                </a:lnTo>
                <a:lnTo>
                  <a:pt x="0" y="112151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4291370" y="3588120"/>
            <a:ext cx="9705260" cy="4274239"/>
          </a:xfrm>
          <a:custGeom>
            <a:avLst/>
            <a:gdLst/>
            <a:ahLst/>
            <a:cxnLst/>
            <a:rect l="l" t="t" r="r" b="b"/>
            <a:pathLst>
              <a:path w="9705260" h="4274239">
                <a:moveTo>
                  <a:pt x="0" y="0"/>
                </a:moveTo>
                <a:lnTo>
                  <a:pt x="9705260" y="0"/>
                </a:lnTo>
                <a:lnTo>
                  <a:pt x="9705260" y="4274238"/>
                </a:lnTo>
                <a:lnTo>
                  <a:pt x="0" y="4274238"/>
                </a:lnTo>
                <a:lnTo>
                  <a:pt x="0" y="0"/>
                </a:lnTo>
                <a:close/>
              </a:path>
            </a:pathLst>
          </a:custGeom>
          <a:blipFill>
            <a:blip r:embed="rId3"/>
            <a:stretch>
              <a:fillRect l="-16157" t="-92539"/>
            </a:stretch>
          </a:blipFill>
        </p:spPr>
      </p:sp>
      <p:sp>
        <p:nvSpPr>
          <p:cNvPr id="4" name="Freeform 4"/>
          <p:cNvSpPr/>
          <p:nvPr/>
        </p:nvSpPr>
        <p:spPr>
          <a:xfrm rot="721296">
            <a:off x="6325472" y="5529041"/>
            <a:ext cx="5637056" cy="1434887"/>
          </a:xfrm>
          <a:custGeom>
            <a:avLst/>
            <a:gdLst/>
            <a:ahLst/>
            <a:cxnLst/>
            <a:rect l="l" t="t" r="r" b="b"/>
            <a:pathLst>
              <a:path w="5637056" h="1434887">
                <a:moveTo>
                  <a:pt x="0" y="0"/>
                </a:moveTo>
                <a:lnTo>
                  <a:pt x="5637056" y="0"/>
                </a:lnTo>
                <a:lnTo>
                  <a:pt x="5637056" y="1434887"/>
                </a:lnTo>
                <a:lnTo>
                  <a:pt x="0" y="1434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3026566">
            <a:off x="2743604" y="2404370"/>
            <a:ext cx="3728345" cy="2367499"/>
          </a:xfrm>
          <a:custGeom>
            <a:avLst/>
            <a:gdLst/>
            <a:ahLst/>
            <a:cxnLst/>
            <a:rect l="l" t="t" r="r" b="b"/>
            <a:pathLst>
              <a:path w="3728345" h="2367499">
                <a:moveTo>
                  <a:pt x="0" y="0"/>
                </a:moveTo>
                <a:lnTo>
                  <a:pt x="3728345" y="0"/>
                </a:lnTo>
                <a:lnTo>
                  <a:pt x="3728345" y="2367499"/>
                </a:lnTo>
                <a:lnTo>
                  <a:pt x="0" y="23674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687259" y="4768977"/>
            <a:ext cx="10913483" cy="1101471"/>
          </a:xfrm>
          <a:prstGeom prst="rect">
            <a:avLst/>
          </a:prstGeom>
        </p:spPr>
        <p:txBody>
          <a:bodyPr lIns="0" tIns="0" rIns="0" bIns="0" rtlCol="0" anchor="t">
            <a:spAutoFit/>
          </a:bodyPr>
          <a:lstStyle/>
          <a:p>
            <a:pPr algn="ctr">
              <a:lnSpc>
                <a:spcPts val="7872"/>
              </a:lnSpc>
            </a:pPr>
            <a:r>
              <a:rPr lang="en-US" sz="9600">
                <a:solidFill>
                  <a:srgbClr val="000000"/>
                </a:solidFill>
                <a:latin typeface="Gochi Hand"/>
                <a:ea typeface="Gochi Hand"/>
                <a:cs typeface="Gochi Hand"/>
                <a:sym typeface="Gochi Hand"/>
              </a:rPr>
              <a:t>Cơ sở lý thuyết</a:t>
            </a:r>
          </a:p>
        </p:txBody>
      </p:sp>
      <p:sp>
        <p:nvSpPr>
          <p:cNvPr id="7" name="Freeform 7"/>
          <p:cNvSpPr/>
          <p:nvPr/>
        </p:nvSpPr>
        <p:spPr>
          <a:xfrm rot="7671314">
            <a:off x="11833594" y="5972294"/>
            <a:ext cx="3728345" cy="2367499"/>
          </a:xfrm>
          <a:custGeom>
            <a:avLst/>
            <a:gdLst/>
            <a:ahLst/>
            <a:cxnLst/>
            <a:rect l="l" t="t" r="r" b="b"/>
            <a:pathLst>
              <a:path w="3728345" h="2367499">
                <a:moveTo>
                  <a:pt x="0" y="0"/>
                </a:moveTo>
                <a:lnTo>
                  <a:pt x="3728344" y="0"/>
                </a:lnTo>
                <a:lnTo>
                  <a:pt x="3728344" y="2367499"/>
                </a:lnTo>
                <a:lnTo>
                  <a:pt x="0" y="23674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3645403" y="1101336"/>
            <a:ext cx="1091348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Cơ sở lý thuyết</a:t>
            </a:r>
          </a:p>
        </p:txBody>
      </p:sp>
      <p:sp>
        <p:nvSpPr>
          <p:cNvPr id="4" name="Freeform 4"/>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6" name="Picture 6"/>
          <p:cNvPicPr>
            <a:picLocks noChangeAspect="1"/>
          </p:cNvPicPr>
          <p:nvPr/>
        </p:nvPicPr>
        <p:blipFill>
          <a:blip r:embed="rId7"/>
          <a:srcRect/>
          <a:stretch>
            <a:fillRect/>
          </a:stretch>
        </p:blipFill>
        <p:spPr>
          <a:xfrm>
            <a:off x="2860480" y="2092584"/>
            <a:ext cx="11121081" cy="8229600"/>
          </a:xfrm>
          <a:prstGeom prst="rect">
            <a:avLst/>
          </a:prstGeom>
        </p:spPr>
      </p:pic>
      <p:sp>
        <p:nvSpPr>
          <p:cNvPr id="7" name="TextBox 7"/>
          <p:cNvSpPr txBox="1"/>
          <p:nvPr/>
        </p:nvSpPr>
        <p:spPr>
          <a:xfrm>
            <a:off x="3550671" y="3809348"/>
            <a:ext cx="10063775" cy="5308646"/>
          </a:xfrm>
          <a:prstGeom prst="rect">
            <a:avLst/>
          </a:prstGeom>
        </p:spPr>
        <p:txBody>
          <a:bodyPr lIns="0" tIns="0" rIns="0" bIns="0" rtlCol="0" anchor="t">
            <a:spAutoFit/>
          </a:bodyPr>
          <a:lstStyle/>
          <a:p>
            <a:pPr algn="l">
              <a:lnSpc>
                <a:spcPts val="3248"/>
              </a:lnSpc>
            </a:pPr>
            <a:r>
              <a:rPr lang="en-US" sz="2165" b="1">
                <a:solidFill>
                  <a:srgbClr val="000000"/>
                </a:solidFill>
                <a:latin typeface="Now Bold"/>
                <a:ea typeface="Now Bold"/>
                <a:cs typeface="Now Bold"/>
                <a:sym typeface="Now Bold"/>
              </a:rPr>
              <a:t>1. Biểu thị cảm xúc trên khuôn mặt người:</a:t>
            </a:r>
          </a:p>
          <a:p>
            <a:pPr algn="l">
              <a:lnSpc>
                <a:spcPts val="3248"/>
              </a:lnSpc>
            </a:pPr>
            <a:r>
              <a:rPr lang="en-US" sz="2165">
                <a:solidFill>
                  <a:srgbClr val="000000"/>
                </a:solidFill>
                <a:latin typeface="Now"/>
                <a:ea typeface="Now"/>
                <a:cs typeface="Now"/>
                <a:sym typeface="Now"/>
              </a:rPr>
              <a:t>Khuôn mặt là trung tâm thể hiện cảm xúc, phản ánh trạng thái tinh thần, hành vi phi ngôn ngữ trong giao tiếp. Ekman và Friesen đã xác định sáu cảm xúc cơ bản có thể biểu đạt qua khuôn mặt: giận dữ, ghê tởm, sợ hãi, hạnh phúc, buồn bã, ngạc nhiên – mang tính phổ quát, không phụ thuộc vào văn hóa, tuổi tác, giới tính​.</a:t>
            </a:r>
          </a:p>
          <a:p>
            <a:pPr algn="l">
              <a:lnSpc>
                <a:spcPts val="3248"/>
              </a:lnSpc>
            </a:pPr>
            <a:r>
              <a:rPr lang="en-US" sz="2165" b="1">
                <a:solidFill>
                  <a:srgbClr val="000000"/>
                </a:solidFill>
                <a:latin typeface="Now Bold"/>
                <a:ea typeface="Now Bold"/>
                <a:cs typeface="Now Bold"/>
                <a:sym typeface="Now Bold"/>
              </a:rPr>
              <a:t>2. Hệ thống mã hóa cơ mặt:</a:t>
            </a:r>
          </a:p>
          <a:p>
            <a:pPr algn="l">
              <a:lnSpc>
                <a:spcPts val="3248"/>
              </a:lnSpc>
            </a:pPr>
            <a:r>
              <a:rPr lang="en-US" sz="2165">
                <a:solidFill>
                  <a:srgbClr val="000000"/>
                </a:solidFill>
                <a:latin typeface="Now"/>
                <a:ea typeface="Now"/>
                <a:cs typeface="Now"/>
                <a:sym typeface="Now"/>
              </a:rPr>
              <a:t>Hệ thống FACS (Facial Action Coding System) do Ekman &amp; Friesen phát triển, dùng để mã hóa biểu cảm khuôn mặt thông qua các đơn vị hoạt động (Action Units - AUs). Ví dụ, cảm xúc "hạnh phúc" được mã hóa bởi AUs 6 và 12 (nâng má và kéo khóe miệng). Có 46 đơn vị được định nghĩa để mô tả các biểu cảm khác nhau​.</a:t>
            </a:r>
          </a:p>
          <a:p>
            <a:pPr algn="l">
              <a:lnSpc>
                <a:spcPts val="3248"/>
              </a:lnSpc>
            </a:pPr>
            <a:endParaRPr lang="en-US" sz="2165">
              <a:solidFill>
                <a:srgbClr val="000000"/>
              </a:solidFill>
              <a:latin typeface="Now"/>
              <a:ea typeface="Now"/>
              <a:cs typeface="Now"/>
              <a:sym typeface="Now"/>
            </a:endParaRPr>
          </a:p>
        </p:txBody>
      </p:sp>
      <p:sp>
        <p:nvSpPr>
          <p:cNvPr id="8" name="TextBox 8"/>
          <p:cNvSpPr txBox="1"/>
          <p:nvPr/>
        </p:nvSpPr>
        <p:spPr>
          <a:xfrm>
            <a:off x="3645403" y="2225934"/>
            <a:ext cx="9969043" cy="464984"/>
          </a:xfrm>
          <a:prstGeom prst="rect">
            <a:avLst/>
          </a:prstGeom>
        </p:spPr>
        <p:txBody>
          <a:bodyPr lIns="0" tIns="0" rIns="0" bIns="0" rtlCol="0" anchor="t">
            <a:spAutoFit/>
          </a:bodyPr>
          <a:lstStyle/>
          <a:p>
            <a:pPr algn="ctr">
              <a:lnSpc>
                <a:spcPts val="3239"/>
              </a:lnSpc>
            </a:pPr>
            <a:r>
              <a:rPr lang="en-US" sz="3950">
                <a:solidFill>
                  <a:srgbClr val="FFFFFF"/>
                </a:solidFill>
                <a:latin typeface="Gochi Hand"/>
                <a:ea typeface="Gochi Hand"/>
                <a:cs typeface="Gochi Hand"/>
                <a:sym typeface="Gochi Hand"/>
              </a:rPr>
              <a:t>Cảm xúc con người thông qua biểu thị nét mặt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3645403" y="1101336"/>
            <a:ext cx="1091348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Cơ sở lý thuyết</a:t>
            </a:r>
          </a:p>
        </p:txBody>
      </p:sp>
      <p:sp>
        <p:nvSpPr>
          <p:cNvPr id="4" name="Freeform 4"/>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6" name="Picture 6"/>
          <p:cNvPicPr>
            <a:picLocks noChangeAspect="1"/>
          </p:cNvPicPr>
          <p:nvPr/>
        </p:nvPicPr>
        <p:blipFill>
          <a:blip r:embed="rId7"/>
          <a:srcRect/>
          <a:stretch>
            <a:fillRect/>
          </a:stretch>
        </p:blipFill>
        <p:spPr>
          <a:xfrm>
            <a:off x="2860480" y="2092584"/>
            <a:ext cx="11121081" cy="8229600"/>
          </a:xfrm>
          <a:prstGeom prst="rect">
            <a:avLst/>
          </a:prstGeom>
        </p:spPr>
      </p:pic>
      <p:sp>
        <p:nvSpPr>
          <p:cNvPr id="7" name="TextBox 7"/>
          <p:cNvSpPr txBox="1"/>
          <p:nvPr/>
        </p:nvSpPr>
        <p:spPr>
          <a:xfrm>
            <a:off x="3598037" y="4134086"/>
            <a:ext cx="10063775" cy="4079921"/>
          </a:xfrm>
          <a:prstGeom prst="rect">
            <a:avLst/>
          </a:prstGeom>
        </p:spPr>
        <p:txBody>
          <a:bodyPr lIns="0" tIns="0" rIns="0" bIns="0" rtlCol="0" anchor="t">
            <a:spAutoFit/>
          </a:bodyPr>
          <a:lstStyle/>
          <a:p>
            <a:pPr algn="l">
              <a:lnSpc>
                <a:spcPts val="3248"/>
              </a:lnSpc>
            </a:pPr>
            <a:r>
              <a:rPr lang="en-US" sz="2165" b="1">
                <a:solidFill>
                  <a:srgbClr val="000000"/>
                </a:solidFill>
                <a:latin typeface="Now Bold"/>
                <a:ea typeface="Now Bold"/>
                <a:cs typeface="Now Bold"/>
                <a:sym typeface="Now Bold"/>
              </a:rPr>
              <a:t>1 Tổng quan về mạng nơ-ron tích chập:</a:t>
            </a:r>
          </a:p>
          <a:p>
            <a:pPr algn="l">
              <a:lnSpc>
                <a:spcPts val="3248"/>
              </a:lnSpc>
            </a:pPr>
            <a:r>
              <a:rPr lang="en-US" sz="2165">
                <a:solidFill>
                  <a:srgbClr val="000000"/>
                </a:solidFill>
                <a:latin typeface="Now"/>
                <a:ea typeface="Now"/>
                <a:cs typeface="Now"/>
                <a:sym typeface="Now"/>
              </a:rPr>
              <a:t>Mạng ConvNet xử lý ảnh bằng cách giữ lại cấu trúc không gian của dữ liệu đầu vào (chiều rộng, chiều cao, chiều sâu). Không giống MLP, ConvNet kết nối nơ-ron với vùng nhỏ trong ảnh, giảm số tham số và tăng hiệu quả học đặc trưng​.</a:t>
            </a:r>
          </a:p>
          <a:p>
            <a:pPr algn="l">
              <a:lnSpc>
                <a:spcPts val="3248"/>
              </a:lnSpc>
            </a:pPr>
            <a:r>
              <a:rPr lang="en-US" sz="2165" b="1">
                <a:solidFill>
                  <a:srgbClr val="000000"/>
                </a:solidFill>
                <a:latin typeface="Now Bold"/>
                <a:ea typeface="Now Bold"/>
                <a:cs typeface="Now Bold"/>
                <a:sym typeface="Now Bold"/>
              </a:rPr>
              <a:t>2. Các lớp cơ bản trong ConvNet:</a:t>
            </a:r>
          </a:p>
          <a:p>
            <a:pPr algn="l">
              <a:lnSpc>
                <a:spcPts val="3248"/>
              </a:lnSpc>
            </a:pPr>
            <a:r>
              <a:rPr lang="en-US" sz="2165">
                <a:solidFill>
                  <a:srgbClr val="000000"/>
                </a:solidFill>
                <a:latin typeface="Now"/>
                <a:ea typeface="Now"/>
                <a:cs typeface="Now"/>
                <a:sym typeface="Now"/>
              </a:rPr>
              <a:t>ConvNet bao gồm ba loại lớp chính: Lớp tích chập (CONV), lớp gộp (POOL), và lớp kết nối đầy đủ (FC). Một kiến trúc điển hình như: INPUT - CONV - RELU - POOL - FC, nơi các khối đầu vào 3 chiều được biến đổi dần qua mỗi lớp​.</a:t>
            </a:r>
          </a:p>
        </p:txBody>
      </p:sp>
      <p:sp>
        <p:nvSpPr>
          <p:cNvPr id="8" name="TextBox 8"/>
          <p:cNvSpPr txBox="1"/>
          <p:nvPr/>
        </p:nvSpPr>
        <p:spPr>
          <a:xfrm>
            <a:off x="3645403" y="2225934"/>
            <a:ext cx="9969043" cy="464984"/>
          </a:xfrm>
          <a:prstGeom prst="rect">
            <a:avLst/>
          </a:prstGeom>
        </p:spPr>
        <p:txBody>
          <a:bodyPr lIns="0" tIns="0" rIns="0" bIns="0" rtlCol="0" anchor="t">
            <a:spAutoFit/>
          </a:bodyPr>
          <a:lstStyle/>
          <a:p>
            <a:pPr algn="ctr">
              <a:lnSpc>
                <a:spcPts val="3239"/>
              </a:lnSpc>
            </a:pPr>
            <a:r>
              <a:rPr lang="en-US" sz="3950">
                <a:solidFill>
                  <a:srgbClr val="FFFFFF"/>
                </a:solidFill>
                <a:latin typeface="Gochi Hand"/>
                <a:ea typeface="Gochi Hand"/>
                <a:cs typeface="Gochi Hand"/>
                <a:sym typeface="Gochi Hand"/>
              </a:rPr>
              <a:t>Mạng nơ-ron tích chập trong bài toán nhận ảnh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3645403" y="1101336"/>
            <a:ext cx="1091348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Cơ sở lý thuyết</a:t>
            </a:r>
          </a:p>
        </p:txBody>
      </p:sp>
      <p:sp>
        <p:nvSpPr>
          <p:cNvPr id="4" name="Freeform 4"/>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6" name="Picture 6"/>
          <p:cNvPicPr>
            <a:picLocks noChangeAspect="1"/>
          </p:cNvPicPr>
          <p:nvPr/>
        </p:nvPicPr>
        <p:blipFill>
          <a:blip r:embed="rId7"/>
          <a:srcRect/>
          <a:stretch>
            <a:fillRect/>
          </a:stretch>
        </p:blipFill>
        <p:spPr>
          <a:xfrm>
            <a:off x="2860480" y="2092584"/>
            <a:ext cx="11121081" cy="8229600"/>
          </a:xfrm>
          <a:prstGeom prst="rect">
            <a:avLst/>
          </a:prstGeom>
        </p:spPr>
      </p:pic>
      <p:sp>
        <p:nvSpPr>
          <p:cNvPr id="7" name="TextBox 7"/>
          <p:cNvSpPr txBox="1"/>
          <p:nvPr/>
        </p:nvSpPr>
        <p:spPr>
          <a:xfrm>
            <a:off x="3389133" y="4338874"/>
            <a:ext cx="10063775" cy="3670346"/>
          </a:xfrm>
          <a:prstGeom prst="rect">
            <a:avLst/>
          </a:prstGeom>
        </p:spPr>
        <p:txBody>
          <a:bodyPr lIns="0" tIns="0" rIns="0" bIns="0" rtlCol="0" anchor="t">
            <a:spAutoFit/>
          </a:bodyPr>
          <a:lstStyle/>
          <a:p>
            <a:pPr algn="l">
              <a:lnSpc>
                <a:spcPts val="3248"/>
              </a:lnSpc>
            </a:pPr>
            <a:r>
              <a:rPr lang="en-US" sz="2165" b="1">
                <a:solidFill>
                  <a:srgbClr val="000000"/>
                </a:solidFill>
                <a:latin typeface="Now Bold"/>
                <a:ea typeface="Now Bold"/>
                <a:cs typeface="Now Bold"/>
                <a:sym typeface="Now Bold"/>
              </a:rPr>
              <a:t>3. Lớp tích chập:</a:t>
            </a:r>
          </a:p>
          <a:p>
            <a:pPr algn="l">
              <a:lnSpc>
                <a:spcPts val="3248"/>
              </a:lnSpc>
            </a:pPr>
            <a:r>
              <a:rPr lang="en-US" sz="2165">
                <a:solidFill>
                  <a:srgbClr val="000000"/>
                </a:solidFill>
                <a:latin typeface="Now"/>
                <a:ea typeface="Now"/>
                <a:cs typeface="Now"/>
                <a:sym typeface="Now"/>
              </a:rPr>
              <a:t>Lớp CONV sử dụng các bộ lọc (filters) nhỏ trượt trên ảnh để trích xuất đặc trưng. Mỗi bộ lọc xử lý toàn bộ độ sâu ảnh và chỉ một vùng nhỏ theo không gian. Ví dụ: bộ lọc 5x5x3 cho ảnh RGB. Kết quả là một bản đồ đặc trưng (feature map)​.</a:t>
            </a:r>
          </a:p>
          <a:p>
            <a:pPr algn="l">
              <a:lnSpc>
                <a:spcPts val="3248"/>
              </a:lnSpc>
            </a:pPr>
            <a:r>
              <a:rPr lang="en-US" sz="2165" b="1">
                <a:solidFill>
                  <a:srgbClr val="000000"/>
                </a:solidFill>
                <a:latin typeface="Now Bold"/>
                <a:ea typeface="Now Bold"/>
                <a:cs typeface="Now Bold"/>
                <a:sym typeface="Now Bold"/>
              </a:rPr>
              <a:t>4. Lớp Gộp:</a:t>
            </a:r>
          </a:p>
          <a:p>
            <a:pPr algn="l">
              <a:lnSpc>
                <a:spcPts val="3248"/>
              </a:lnSpc>
            </a:pPr>
            <a:r>
              <a:rPr lang="en-US" sz="2165">
                <a:solidFill>
                  <a:srgbClr val="000000"/>
                </a:solidFill>
                <a:latin typeface="Now"/>
                <a:ea typeface="Now"/>
                <a:cs typeface="Now"/>
                <a:sym typeface="Now"/>
              </a:rPr>
              <a:t>Lớp POOL giúp giảm kích thước không gian của đặc trưng, giảm số tham số và tính toán, đồng thời kiểm soát hiện tượng quá khớp. Có hai loại phổ biến: max pooling và average pooling.</a:t>
            </a:r>
          </a:p>
        </p:txBody>
      </p:sp>
      <p:sp>
        <p:nvSpPr>
          <p:cNvPr id="8" name="TextBox 8"/>
          <p:cNvSpPr txBox="1"/>
          <p:nvPr/>
        </p:nvSpPr>
        <p:spPr>
          <a:xfrm>
            <a:off x="3645403" y="2225934"/>
            <a:ext cx="9969043" cy="464984"/>
          </a:xfrm>
          <a:prstGeom prst="rect">
            <a:avLst/>
          </a:prstGeom>
        </p:spPr>
        <p:txBody>
          <a:bodyPr lIns="0" tIns="0" rIns="0" bIns="0" rtlCol="0" anchor="t">
            <a:spAutoFit/>
          </a:bodyPr>
          <a:lstStyle/>
          <a:p>
            <a:pPr algn="ctr">
              <a:lnSpc>
                <a:spcPts val="3239"/>
              </a:lnSpc>
            </a:pPr>
            <a:r>
              <a:rPr lang="en-US" sz="3950">
                <a:solidFill>
                  <a:srgbClr val="FFFFFF"/>
                </a:solidFill>
                <a:latin typeface="Gochi Hand"/>
                <a:ea typeface="Gochi Hand"/>
                <a:cs typeface="Gochi Hand"/>
                <a:sym typeface="Gochi Hand"/>
              </a:rPr>
              <a:t>Mạng nơ-ron tích chập trong bài toán nhận ảnh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3645403" y="1101336"/>
            <a:ext cx="1091348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Cơ sở lý thuyết</a:t>
            </a:r>
          </a:p>
        </p:txBody>
      </p:sp>
      <p:sp>
        <p:nvSpPr>
          <p:cNvPr id="4" name="Freeform 4"/>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6" name="Picture 6"/>
          <p:cNvPicPr>
            <a:picLocks noChangeAspect="1"/>
          </p:cNvPicPr>
          <p:nvPr/>
        </p:nvPicPr>
        <p:blipFill>
          <a:blip r:embed="rId7"/>
          <a:srcRect/>
          <a:stretch>
            <a:fillRect/>
          </a:stretch>
        </p:blipFill>
        <p:spPr>
          <a:xfrm>
            <a:off x="2860480" y="2092584"/>
            <a:ext cx="11121081" cy="8229600"/>
          </a:xfrm>
          <a:prstGeom prst="rect">
            <a:avLst/>
          </a:prstGeom>
        </p:spPr>
      </p:pic>
      <p:sp>
        <p:nvSpPr>
          <p:cNvPr id="7" name="TextBox 7"/>
          <p:cNvSpPr txBox="1"/>
          <p:nvPr/>
        </p:nvSpPr>
        <p:spPr>
          <a:xfrm>
            <a:off x="3389133" y="4543661"/>
            <a:ext cx="10063775" cy="3260771"/>
          </a:xfrm>
          <a:prstGeom prst="rect">
            <a:avLst/>
          </a:prstGeom>
        </p:spPr>
        <p:txBody>
          <a:bodyPr lIns="0" tIns="0" rIns="0" bIns="0" rtlCol="0" anchor="t">
            <a:spAutoFit/>
          </a:bodyPr>
          <a:lstStyle/>
          <a:p>
            <a:pPr algn="l">
              <a:lnSpc>
                <a:spcPts val="3248"/>
              </a:lnSpc>
            </a:pPr>
            <a:r>
              <a:rPr lang="en-US" sz="2165" b="1">
                <a:solidFill>
                  <a:srgbClr val="000000"/>
                </a:solidFill>
                <a:latin typeface="Now Bold"/>
                <a:ea typeface="Now Bold"/>
                <a:cs typeface="Now Bold"/>
                <a:sym typeface="Now Bold"/>
              </a:rPr>
              <a:t>1. Kiến trúc mã hóa - giải mã:</a:t>
            </a:r>
          </a:p>
          <a:p>
            <a:pPr algn="l">
              <a:lnSpc>
                <a:spcPts val="3248"/>
              </a:lnSpc>
            </a:pPr>
            <a:r>
              <a:rPr lang="en-US" sz="2165">
                <a:solidFill>
                  <a:srgbClr val="000000"/>
                </a:solidFill>
                <a:latin typeface="Now"/>
                <a:ea typeface="Now"/>
                <a:cs typeface="Now"/>
                <a:sym typeface="Now"/>
              </a:rPr>
              <a:t>Kiến trúc mã hóa - giải mã (encoder-decoder) giúp trích xuất và tái tạo lại đặc trưng của ảnh đầu vào, thường được dùng trong bài toán phân vùng ảnh (image segmentation), dịch ảnh sang ảnh hoặc phục hồi ảnh.</a:t>
            </a:r>
          </a:p>
          <a:p>
            <a:pPr algn="l">
              <a:lnSpc>
                <a:spcPts val="3248"/>
              </a:lnSpc>
            </a:pPr>
            <a:r>
              <a:rPr lang="en-US" sz="2165" b="1">
                <a:solidFill>
                  <a:srgbClr val="000000"/>
                </a:solidFill>
                <a:latin typeface="Now Bold"/>
                <a:ea typeface="Now Bold"/>
                <a:cs typeface="Now Bold"/>
                <a:sym typeface="Now Bold"/>
              </a:rPr>
              <a:t>2. Cơ chế chú ý:</a:t>
            </a:r>
          </a:p>
          <a:p>
            <a:pPr algn="l">
              <a:lnSpc>
                <a:spcPts val="3248"/>
              </a:lnSpc>
            </a:pPr>
            <a:r>
              <a:rPr lang="en-US" sz="2165">
                <a:solidFill>
                  <a:srgbClr val="000000"/>
                </a:solidFill>
                <a:latin typeface="Now"/>
                <a:ea typeface="Now"/>
                <a:cs typeface="Now"/>
                <a:sym typeface="Now"/>
              </a:rPr>
              <a:t>- Cơ chế chú ý (attention mechanism) giúp mạng học tập tập trung vào các vùng ảnh quan trọng hơn, cải thiện khả năng phân biệt cảm xúc bằng cách nhấn mạnh các đặc trưng liên quan.</a:t>
            </a:r>
          </a:p>
        </p:txBody>
      </p:sp>
      <p:sp>
        <p:nvSpPr>
          <p:cNvPr id="8" name="TextBox 8"/>
          <p:cNvSpPr txBox="1"/>
          <p:nvPr/>
        </p:nvSpPr>
        <p:spPr>
          <a:xfrm>
            <a:off x="3645403" y="2225934"/>
            <a:ext cx="9969043" cy="464984"/>
          </a:xfrm>
          <a:prstGeom prst="rect">
            <a:avLst/>
          </a:prstGeom>
        </p:spPr>
        <p:txBody>
          <a:bodyPr lIns="0" tIns="0" rIns="0" bIns="0" rtlCol="0" anchor="t">
            <a:spAutoFit/>
          </a:bodyPr>
          <a:lstStyle/>
          <a:p>
            <a:pPr algn="ctr">
              <a:lnSpc>
                <a:spcPts val="3239"/>
              </a:lnSpc>
            </a:pPr>
            <a:r>
              <a:rPr lang="en-US" sz="3950">
                <a:solidFill>
                  <a:srgbClr val="FFFFFF"/>
                </a:solidFill>
                <a:latin typeface="Gochi Hand"/>
                <a:ea typeface="Gochi Hand"/>
                <a:cs typeface="Gochi Hand"/>
                <a:sym typeface="Gochi Hand"/>
              </a:rPr>
              <a:t>Kiến trúc mã hóa - giải mã và cơ chế chú ý</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3645403" y="1101336"/>
            <a:ext cx="1091348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Cơ sở lý thuyết</a:t>
            </a:r>
          </a:p>
        </p:txBody>
      </p:sp>
      <p:sp>
        <p:nvSpPr>
          <p:cNvPr id="4" name="Freeform 4"/>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pic>
        <p:nvPicPr>
          <p:cNvPr id="6" name="Picture 6"/>
          <p:cNvPicPr>
            <a:picLocks noChangeAspect="1"/>
          </p:cNvPicPr>
          <p:nvPr/>
        </p:nvPicPr>
        <p:blipFill>
          <a:blip r:embed="rId7"/>
          <a:srcRect/>
          <a:stretch>
            <a:fillRect/>
          </a:stretch>
        </p:blipFill>
        <p:spPr>
          <a:xfrm>
            <a:off x="2860480" y="2092584"/>
            <a:ext cx="11121081" cy="8229600"/>
          </a:xfrm>
          <a:prstGeom prst="rect">
            <a:avLst/>
          </a:prstGeom>
        </p:spPr>
      </p:pic>
      <p:sp>
        <p:nvSpPr>
          <p:cNvPr id="7" name="TextBox 7"/>
          <p:cNvSpPr txBox="1"/>
          <p:nvPr/>
        </p:nvSpPr>
        <p:spPr>
          <a:xfrm>
            <a:off x="3389133" y="4543661"/>
            <a:ext cx="10063775" cy="1622471"/>
          </a:xfrm>
          <a:prstGeom prst="rect">
            <a:avLst/>
          </a:prstGeom>
        </p:spPr>
        <p:txBody>
          <a:bodyPr lIns="0" tIns="0" rIns="0" bIns="0" rtlCol="0" anchor="t">
            <a:spAutoFit/>
          </a:bodyPr>
          <a:lstStyle/>
          <a:p>
            <a:pPr algn="l">
              <a:lnSpc>
                <a:spcPts val="3248"/>
              </a:lnSpc>
            </a:pPr>
            <a:r>
              <a:rPr lang="en-US" sz="2165">
                <a:solidFill>
                  <a:srgbClr val="000000"/>
                </a:solidFill>
                <a:latin typeface="Now"/>
                <a:ea typeface="Now"/>
                <a:cs typeface="Now"/>
                <a:sym typeface="Now"/>
              </a:rPr>
              <a:t>Các phương pháp nhận diện khuôn mặt hiện nay có thể chia làm hai nhóm: dựa trên ảnh tĩnh và chuỗi ảnh động. Với ảnh tĩnh, hệ thống sử dụng đặc trưng không gian, còn ảnh động kết hợp thông tin thời gian (temporal) để nhận diện chính xác hơn​.</a:t>
            </a:r>
          </a:p>
        </p:txBody>
      </p:sp>
      <p:sp>
        <p:nvSpPr>
          <p:cNvPr id="8" name="TextBox 8"/>
          <p:cNvSpPr txBox="1"/>
          <p:nvPr/>
        </p:nvSpPr>
        <p:spPr>
          <a:xfrm>
            <a:off x="3645403" y="2225934"/>
            <a:ext cx="9969043" cy="464984"/>
          </a:xfrm>
          <a:prstGeom prst="rect">
            <a:avLst/>
          </a:prstGeom>
        </p:spPr>
        <p:txBody>
          <a:bodyPr lIns="0" tIns="0" rIns="0" bIns="0" rtlCol="0" anchor="t">
            <a:spAutoFit/>
          </a:bodyPr>
          <a:lstStyle/>
          <a:p>
            <a:pPr algn="ctr">
              <a:lnSpc>
                <a:spcPts val="3239"/>
              </a:lnSpc>
            </a:pPr>
            <a:r>
              <a:rPr lang="en-US" sz="3950">
                <a:solidFill>
                  <a:srgbClr val="FFFFFF"/>
                </a:solidFill>
                <a:latin typeface="Gochi Hand"/>
                <a:ea typeface="Gochi Hand"/>
                <a:cs typeface="Gochi Hand"/>
                <a:sym typeface="Gochi Hand"/>
              </a:rPr>
              <a:t>Phương pháp nhận diện khuôn mặt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3641845" y="2356990"/>
            <a:ext cx="12935390" cy="5696802"/>
          </a:xfrm>
          <a:custGeom>
            <a:avLst/>
            <a:gdLst/>
            <a:ahLst/>
            <a:cxnLst/>
            <a:rect l="l" t="t" r="r" b="b"/>
            <a:pathLst>
              <a:path w="12935390" h="5696802">
                <a:moveTo>
                  <a:pt x="0" y="0"/>
                </a:moveTo>
                <a:lnTo>
                  <a:pt x="12935390" y="0"/>
                </a:lnTo>
                <a:lnTo>
                  <a:pt x="12935390" y="5696802"/>
                </a:lnTo>
                <a:lnTo>
                  <a:pt x="0" y="5696802"/>
                </a:lnTo>
                <a:lnTo>
                  <a:pt x="0" y="0"/>
                </a:lnTo>
                <a:close/>
              </a:path>
            </a:pathLst>
          </a:custGeom>
          <a:blipFill>
            <a:blip r:embed="rId3"/>
            <a:stretch>
              <a:fillRect l="-16157" t="-92539"/>
            </a:stretch>
          </a:blipFill>
        </p:spPr>
      </p:sp>
      <p:sp>
        <p:nvSpPr>
          <p:cNvPr id="4" name="Freeform 4"/>
          <p:cNvSpPr/>
          <p:nvPr/>
        </p:nvSpPr>
        <p:spPr>
          <a:xfrm rot="-3026566">
            <a:off x="1947920" y="1582855"/>
            <a:ext cx="3728345" cy="2367499"/>
          </a:xfrm>
          <a:custGeom>
            <a:avLst/>
            <a:gdLst/>
            <a:ahLst/>
            <a:cxnLst/>
            <a:rect l="l" t="t" r="r" b="b"/>
            <a:pathLst>
              <a:path w="3728345" h="2367499">
                <a:moveTo>
                  <a:pt x="0" y="0"/>
                </a:moveTo>
                <a:lnTo>
                  <a:pt x="3728345" y="0"/>
                </a:lnTo>
                <a:lnTo>
                  <a:pt x="3728345" y="2367499"/>
                </a:lnTo>
                <a:lnTo>
                  <a:pt x="0" y="236749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812093" y="2913428"/>
            <a:ext cx="11426967" cy="6127537"/>
          </a:xfrm>
          <a:prstGeom prst="rect">
            <a:avLst/>
          </a:prstGeom>
        </p:spPr>
        <p:txBody>
          <a:bodyPr lIns="0" tIns="0" rIns="0" bIns="0" rtlCol="0" anchor="t">
            <a:spAutoFit/>
          </a:bodyPr>
          <a:lstStyle/>
          <a:p>
            <a:pPr algn="ctr">
              <a:lnSpc>
                <a:spcPts val="11872"/>
              </a:lnSpc>
            </a:pPr>
            <a:r>
              <a:rPr lang="en-US" sz="12630">
                <a:solidFill>
                  <a:srgbClr val="000000"/>
                </a:solidFill>
                <a:latin typeface="Gochi Hand"/>
                <a:ea typeface="Gochi Hand"/>
                <a:cs typeface="Gochi Hand"/>
                <a:sym typeface="Gochi Hand"/>
              </a:rPr>
              <a:t>Phương pháp thu thập và xử lý thông tin</a:t>
            </a:r>
          </a:p>
          <a:p>
            <a:pPr algn="ctr">
              <a:lnSpc>
                <a:spcPts val="11872"/>
              </a:lnSpc>
            </a:pPr>
            <a:endParaRPr lang="en-US" sz="12630">
              <a:solidFill>
                <a:srgbClr val="000000"/>
              </a:solidFill>
              <a:latin typeface="Gochi Hand"/>
              <a:ea typeface="Gochi Hand"/>
              <a:cs typeface="Gochi Hand"/>
              <a:sym typeface="Gochi Hand"/>
            </a:endParaRPr>
          </a:p>
        </p:txBody>
      </p:sp>
      <p:sp>
        <p:nvSpPr>
          <p:cNvPr id="6" name="Freeform 6"/>
          <p:cNvSpPr/>
          <p:nvPr/>
        </p:nvSpPr>
        <p:spPr>
          <a:xfrm rot="7671314">
            <a:off x="11833594" y="5972294"/>
            <a:ext cx="3728345" cy="2367499"/>
          </a:xfrm>
          <a:custGeom>
            <a:avLst/>
            <a:gdLst/>
            <a:ahLst/>
            <a:cxnLst/>
            <a:rect l="l" t="t" r="r" b="b"/>
            <a:pathLst>
              <a:path w="3728345" h="2367499">
                <a:moveTo>
                  <a:pt x="0" y="0"/>
                </a:moveTo>
                <a:lnTo>
                  <a:pt x="3728344" y="0"/>
                </a:lnTo>
                <a:lnTo>
                  <a:pt x="3728344" y="2367499"/>
                </a:lnTo>
                <a:lnTo>
                  <a:pt x="0" y="23674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5888283" y="-1029552"/>
            <a:ext cx="6511435" cy="12346104"/>
          </a:xfrm>
          <a:custGeom>
            <a:avLst/>
            <a:gdLst/>
            <a:ahLst/>
            <a:cxnLst/>
            <a:rect l="l" t="t" r="r" b="b"/>
            <a:pathLst>
              <a:path w="6511435" h="12346104">
                <a:moveTo>
                  <a:pt x="0" y="0"/>
                </a:moveTo>
                <a:lnTo>
                  <a:pt x="6511434" y="0"/>
                </a:lnTo>
                <a:lnTo>
                  <a:pt x="6511434" y="12346104"/>
                </a:lnTo>
                <a:lnTo>
                  <a:pt x="0" y="12346104"/>
                </a:lnTo>
                <a:lnTo>
                  <a:pt x="0" y="0"/>
                </a:lnTo>
                <a:close/>
              </a:path>
            </a:pathLst>
          </a:custGeom>
          <a:blipFill>
            <a:blip r:embed="rId3"/>
            <a:stretch>
              <a:fillRect r="-45997"/>
            </a:stretch>
          </a:blipFill>
        </p:spPr>
      </p:sp>
      <p:sp>
        <p:nvSpPr>
          <p:cNvPr id="4" name="Freeform 4"/>
          <p:cNvSpPr/>
          <p:nvPr/>
        </p:nvSpPr>
        <p:spPr>
          <a:xfrm>
            <a:off x="12963702" y="741813"/>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680835">
            <a:off x="3418528" y="2328486"/>
            <a:ext cx="1364676" cy="937905"/>
          </a:xfrm>
          <a:custGeom>
            <a:avLst/>
            <a:gdLst/>
            <a:ahLst/>
            <a:cxnLst/>
            <a:rect l="l" t="t" r="r" b="b"/>
            <a:pathLst>
              <a:path w="1364676" h="937905">
                <a:moveTo>
                  <a:pt x="0" y="0"/>
                </a:moveTo>
                <a:lnTo>
                  <a:pt x="1364676" y="0"/>
                </a:lnTo>
                <a:lnTo>
                  <a:pt x="1364676" y="937904"/>
                </a:lnTo>
                <a:lnTo>
                  <a:pt x="0" y="937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306103" y="6834503"/>
            <a:ext cx="1620925" cy="2086738"/>
          </a:xfrm>
          <a:custGeom>
            <a:avLst/>
            <a:gdLst/>
            <a:ahLst/>
            <a:cxnLst/>
            <a:rect l="l" t="t" r="r" b="b"/>
            <a:pathLst>
              <a:path w="1620925" h="2086738">
                <a:moveTo>
                  <a:pt x="0" y="0"/>
                </a:moveTo>
                <a:lnTo>
                  <a:pt x="1620925" y="0"/>
                </a:lnTo>
                <a:lnTo>
                  <a:pt x="1620925" y="2086737"/>
                </a:lnTo>
                <a:lnTo>
                  <a:pt x="0" y="20867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TextBox 9"/>
          <p:cNvSpPr txBox="1"/>
          <p:nvPr/>
        </p:nvSpPr>
        <p:spPr>
          <a:xfrm>
            <a:off x="3935240" y="4853836"/>
            <a:ext cx="10251895" cy="1949429"/>
          </a:xfrm>
          <a:prstGeom prst="rect">
            <a:avLst/>
          </a:prstGeom>
        </p:spPr>
        <p:txBody>
          <a:bodyPr lIns="0" tIns="0" rIns="0" bIns="0" rtlCol="0" anchor="t">
            <a:spAutoFit/>
          </a:bodyPr>
          <a:lstStyle/>
          <a:p>
            <a:pPr algn="l">
              <a:lnSpc>
                <a:spcPts val="3927"/>
              </a:lnSpc>
            </a:pPr>
            <a:r>
              <a:rPr lang="en-US" sz="2439">
                <a:solidFill>
                  <a:srgbClr val="000000"/>
                </a:solidFill>
                <a:latin typeface="Now"/>
                <a:ea typeface="Now"/>
                <a:cs typeface="Now"/>
                <a:sym typeface="Now"/>
              </a:rPr>
              <a:t>Luận văn sử dụng bộ dữ liệu FER2013, được công bố trong Cuộc thi “Facial Expression Recognition Challenge” trên nền tảng Kaggle năm 2013.</a:t>
            </a:r>
          </a:p>
          <a:p>
            <a:pPr algn="l">
              <a:lnSpc>
                <a:spcPts val="3927"/>
              </a:lnSpc>
            </a:pPr>
            <a:endParaRPr lang="en-US" sz="2439">
              <a:solidFill>
                <a:srgbClr val="000000"/>
              </a:solidFill>
              <a:latin typeface="Now"/>
              <a:ea typeface="Now"/>
              <a:cs typeface="Now"/>
              <a:sym typeface="Now"/>
            </a:endParaRPr>
          </a:p>
        </p:txBody>
      </p:sp>
      <p:sp>
        <p:nvSpPr>
          <p:cNvPr id="10" name="TextBox 10"/>
          <p:cNvSpPr txBox="1"/>
          <p:nvPr/>
        </p:nvSpPr>
        <p:spPr>
          <a:xfrm>
            <a:off x="4224712" y="2810557"/>
            <a:ext cx="9838576" cy="1614196"/>
          </a:xfrm>
          <a:prstGeom prst="rect">
            <a:avLst/>
          </a:prstGeom>
        </p:spPr>
        <p:txBody>
          <a:bodyPr lIns="0" tIns="0" rIns="0" bIns="0" rtlCol="0" anchor="t">
            <a:spAutoFit/>
          </a:bodyPr>
          <a:lstStyle/>
          <a:p>
            <a:pPr algn="ctr">
              <a:lnSpc>
                <a:spcPts val="5740"/>
              </a:lnSpc>
            </a:pPr>
            <a:r>
              <a:rPr lang="en-US" sz="7000">
                <a:solidFill>
                  <a:srgbClr val="000000"/>
                </a:solidFill>
                <a:latin typeface="Bryndan Write"/>
                <a:ea typeface="Bryndan Write"/>
                <a:cs typeface="Bryndan Write"/>
                <a:sym typeface="Bryndan Write"/>
              </a:rPr>
              <a:t>1. Thu thập dữ liệu:</a:t>
            </a:r>
          </a:p>
          <a:p>
            <a:pPr algn="ctr">
              <a:lnSpc>
                <a:spcPts val="5740"/>
              </a:lnSpc>
            </a:pPr>
            <a:endParaRPr lang="en-US" sz="7000">
              <a:solidFill>
                <a:srgbClr val="000000"/>
              </a:solidFill>
              <a:latin typeface="Bryndan Write"/>
              <a:ea typeface="Bryndan Write"/>
              <a:cs typeface="Bryndan Write"/>
              <a:sym typeface="Bryndan Write"/>
            </a:endParaRPr>
          </a:p>
        </p:txBody>
      </p:sp>
      <p:sp>
        <p:nvSpPr>
          <p:cNvPr id="11" name="Freeform 11"/>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5888283" y="-1029552"/>
            <a:ext cx="6511435" cy="12346104"/>
          </a:xfrm>
          <a:custGeom>
            <a:avLst/>
            <a:gdLst/>
            <a:ahLst/>
            <a:cxnLst/>
            <a:rect l="l" t="t" r="r" b="b"/>
            <a:pathLst>
              <a:path w="6511435" h="12346104">
                <a:moveTo>
                  <a:pt x="0" y="0"/>
                </a:moveTo>
                <a:lnTo>
                  <a:pt x="6511434" y="0"/>
                </a:lnTo>
                <a:lnTo>
                  <a:pt x="6511434" y="12346104"/>
                </a:lnTo>
                <a:lnTo>
                  <a:pt x="0" y="12346104"/>
                </a:lnTo>
                <a:lnTo>
                  <a:pt x="0" y="0"/>
                </a:lnTo>
                <a:close/>
              </a:path>
            </a:pathLst>
          </a:custGeom>
          <a:blipFill>
            <a:blip r:embed="rId3"/>
            <a:stretch>
              <a:fillRect r="-45997"/>
            </a:stretch>
          </a:blipFill>
        </p:spPr>
      </p:sp>
      <p:sp>
        <p:nvSpPr>
          <p:cNvPr id="4" name="Freeform 4"/>
          <p:cNvSpPr/>
          <p:nvPr/>
        </p:nvSpPr>
        <p:spPr>
          <a:xfrm>
            <a:off x="12963702" y="741813"/>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680835">
            <a:off x="3418528" y="2328486"/>
            <a:ext cx="1364676" cy="937905"/>
          </a:xfrm>
          <a:custGeom>
            <a:avLst/>
            <a:gdLst/>
            <a:ahLst/>
            <a:cxnLst/>
            <a:rect l="l" t="t" r="r" b="b"/>
            <a:pathLst>
              <a:path w="1364676" h="937905">
                <a:moveTo>
                  <a:pt x="0" y="0"/>
                </a:moveTo>
                <a:lnTo>
                  <a:pt x="1364676" y="0"/>
                </a:lnTo>
                <a:lnTo>
                  <a:pt x="1364676" y="937904"/>
                </a:lnTo>
                <a:lnTo>
                  <a:pt x="0" y="937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306103" y="6834503"/>
            <a:ext cx="1620925" cy="2086738"/>
          </a:xfrm>
          <a:custGeom>
            <a:avLst/>
            <a:gdLst/>
            <a:ahLst/>
            <a:cxnLst/>
            <a:rect l="l" t="t" r="r" b="b"/>
            <a:pathLst>
              <a:path w="1620925" h="2086738">
                <a:moveTo>
                  <a:pt x="0" y="0"/>
                </a:moveTo>
                <a:lnTo>
                  <a:pt x="1620925" y="0"/>
                </a:lnTo>
                <a:lnTo>
                  <a:pt x="1620925" y="2086737"/>
                </a:lnTo>
                <a:lnTo>
                  <a:pt x="0" y="20867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TextBox 9"/>
          <p:cNvSpPr txBox="1"/>
          <p:nvPr/>
        </p:nvSpPr>
        <p:spPr>
          <a:xfrm>
            <a:off x="3935240" y="4606186"/>
            <a:ext cx="10251895" cy="2444729"/>
          </a:xfrm>
          <a:prstGeom prst="rect">
            <a:avLst/>
          </a:prstGeom>
        </p:spPr>
        <p:txBody>
          <a:bodyPr lIns="0" tIns="0" rIns="0" bIns="0" rtlCol="0" anchor="t">
            <a:spAutoFit/>
          </a:bodyPr>
          <a:lstStyle/>
          <a:p>
            <a:pPr algn="l">
              <a:lnSpc>
                <a:spcPts val="3927"/>
              </a:lnSpc>
            </a:pPr>
            <a:r>
              <a:rPr lang="en-US" sz="2439">
                <a:solidFill>
                  <a:srgbClr val="000000"/>
                </a:solidFill>
                <a:latin typeface="Now"/>
                <a:ea typeface="Now"/>
                <a:cs typeface="Now"/>
                <a:sym typeface="Now"/>
              </a:rPr>
              <a:t>Bộ dữ liệu này bao gồm 35.887 ảnh grayscale kích thước 48×48 pixel, được gắn nhãn một trong 7 cảm xúc: Giận dữ (Angry), Ghê tởm (Disgust), Sợ hãi (Fear), Hạnh phúc (Happy), Bình thường (Neutral), Buồn bã (Sad), và Ngạc nhiên (Surprise).</a:t>
            </a:r>
          </a:p>
          <a:p>
            <a:pPr algn="l">
              <a:lnSpc>
                <a:spcPts val="3927"/>
              </a:lnSpc>
            </a:pPr>
            <a:endParaRPr lang="en-US" sz="2439">
              <a:solidFill>
                <a:srgbClr val="000000"/>
              </a:solidFill>
              <a:latin typeface="Now"/>
              <a:ea typeface="Now"/>
              <a:cs typeface="Now"/>
              <a:sym typeface="Now"/>
            </a:endParaRPr>
          </a:p>
        </p:txBody>
      </p:sp>
      <p:sp>
        <p:nvSpPr>
          <p:cNvPr id="10" name="TextBox 10"/>
          <p:cNvSpPr txBox="1"/>
          <p:nvPr/>
        </p:nvSpPr>
        <p:spPr>
          <a:xfrm>
            <a:off x="4224712" y="2810557"/>
            <a:ext cx="9838576" cy="1614196"/>
          </a:xfrm>
          <a:prstGeom prst="rect">
            <a:avLst/>
          </a:prstGeom>
        </p:spPr>
        <p:txBody>
          <a:bodyPr lIns="0" tIns="0" rIns="0" bIns="0" rtlCol="0" anchor="t">
            <a:spAutoFit/>
          </a:bodyPr>
          <a:lstStyle/>
          <a:p>
            <a:pPr algn="ctr">
              <a:lnSpc>
                <a:spcPts val="5740"/>
              </a:lnSpc>
            </a:pPr>
            <a:r>
              <a:rPr lang="en-US" sz="7000">
                <a:solidFill>
                  <a:srgbClr val="000000"/>
                </a:solidFill>
                <a:latin typeface="Bryndan Write"/>
                <a:ea typeface="Bryndan Write"/>
                <a:cs typeface="Bryndan Write"/>
                <a:sym typeface="Bryndan Write"/>
              </a:rPr>
              <a:t>1. Thu thập dữ liệu:</a:t>
            </a:r>
          </a:p>
          <a:p>
            <a:pPr algn="ctr">
              <a:lnSpc>
                <a:spcPts val="5740"/>
              </a:lnSpc>
            </a:pPr>
            <a:endParaRPr lang="en-US" sz="7000">
              <a:solidFill>
                <a:srgbClr val="000000"/>
              </a:solidFill>
              <a:latin typeface="Bryndan Write"/>
              <a:ea typeface="Bryndan Write"/>
              <a:cs typeface="Bryndan Write"/>
              <a:sym typeface="Bryndan Write"/>
            </a:endParaRPr>
          </a:p>
        </p:txBody>
      </p:sp>
      <p:sp>
        <p:nvSpPr>
          <p:cNvPr id="11" name="Freeform 11"/>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5888283" y="-1029552"/>
            <a:ext cx="6511435" cy="12346104"/>
          </a:xfrm>
          <a:custGeom>
            <a:avLst/>
            <a:gdLst/>
            <a:ahLst/>
            <a:cxnLst/>
            <a:rect l="l" t="t" r="r" b="b"/>
            <a:pathLst>
              <a:path w="6511435" h="12346104">
                <a:moveTo>
                  <a:pt x="0" y="0"/>
                </a:moveTo>
                <a:lnTo>
                  <a:pt x="6511434" y="0"/>
                </a:lnTo>
                <a:lnTo>
                  <a:pt x="6511434" y="12346104"/>
                </a:lnTo>
                <a:lnTo>
                  <a:pt x="0" y="12346104"/>
                </a:lnTo>
                <a:lnTo>
                  <a:pt x="0" y="0"/>
                </a:lnTo>
                <a:close/>
              </a:path>
            </a:pathLst>
          </a:custGeom>
          <a:blipFill>
            <a:blip r:embed="rId3"/>
            <a:stretch>
              <a:fillRect r="-45997"/>
            </a:stretch>
          </a:blipFill>
        </p:spPr>
      </p:sp>
      <p:sp>
        <p:nvSpPr>
          <p:cNvPr id="4" name="Freeform 4"/>
          <p:cNvSpPr/>
          <p:nvPr/>
        </p:nvSpPr>
        <p:spPr>
          <a:xfrm>
            <a:off x="12963702" y="741813"/>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680835">
            <a:off x="3418528" y="2328486"/>
            <a:ext cx="1364676" cy="937905"/>
          </a:xfrm>
          <a:custGeom>
            <a:avLst/>
            <a:gdLst/>
            <a:ahLst/>
            <a:cxnLst/>
            <a:rect l="l" t="t" r="r" b="b"/>
            <a:pathLst>
              <a:path w="1364676" h="937905">
                <a:moveTo>
                  <a:pt x="0" y="0"/>
                </a:moveTo>
                <a:lnTo>
                  <a:pt x="1364676" y="0"/>
                </a:lnTo>
                <a:lnTo>
                  <a:pt x="1364676" y="937904"/>
                </a:lnTo>
                <a:lnTo>
                  <a:pt x="0" y="93790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4306103" y="6834503"/>
            <a:ext cx="1620925" cy="2086738"/>
          </a:xfrm>
          <a:custGeom>
            <a:avLst/>
            <a:gdLst/>
            <a:ahLst/>
            <a:cxnLst/>
            <a:rect l="l" t="t" r="r" b="b"/>
            <a:pathLst>
              <a:path w="1620925" h="2086738">
                <a:moveTo>
                  <a:pt x="0" y="0"/>
                </a:moveTo>
                <a:lnTo>
                  <a:pt x="1620925" y="0"/>
                </a:lnTo>
                <a:lnTo>
                  <a:pt x="1620925" y="2086737"/>
                </a:lnTo>
                <a:lnTo>
                  <a:pt x="0" y="208673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TextBox 9"/>
          <p:cNvSpPr txBox="1"/>
          <p:nvPr/>
        </p:nvSpPr>
        <p:spPr>
          <a:xfrm>
            <a:off x="3935240" y="4606186"/>
            <a:ext cx="10251895" cy="2444729"/>
          </a:xfrm>
          <a:prstGeom prst="rect">
            <a:avLst/>
          </a:prstGeom>
        </p:spPr>
        <p:txBody>
          <a:bodyPr lIns="0" tIns="0" rIns="0" bIns="0" rtlCol="0" anchor="t">
            <a:spAutoFit/>
          </a:bodyPr>
          <a:lstStyle/>
          <a:p>
            <a:pPr algn="l">
              <a:lnSpc>
                <a:spcPts val="3927"/>
              </a:lnSpc>
            </a:pPr>
            <a:r>
              <a:rPr lang="en-US" sz="2439">
                <a:solidFill>
                  <a:srgbClr val="000000"/>
                </a:solidFill>
                <a:latin typeface="Now"/>
                <a:ea typeface="Now"/>
                <a:cs typeface="Now"/>
                <a:sym typeface="Now"/>
              </a:rPr>
              <a:t>+ 28.709 ảnh dùng để huấn luyện</a:t>
            </a:r>
          </a:p>
          <a:p>
            <a:pPr algn="l">
              <a:lnSpc>
                <a:spcPts val="3927"/>
              </a:lnSpc>
            </a:pPr>
            <a:r>
              <a:rPr lang="en-US" sz="2439">
                <a:solidFill>
                  <a:srgbClr val="000000"/>
                </a:solidFill>
                <a:latin typeface="Now"/>
                <a:ea typeface="Now"/>
                <a:cs typeface="Now"/>
                <a:sym typeface="Now"/>
              </a:rPr>
              <a:t>+ 3.589 ảnh dùng để kiểm tra (Private Test)</a:t>
            </a:r>
          </a:p>
          <a:p>
            <a:pPr algn="l">
              <a:lnSpc>
                <a:spcPts val="3927"/>
              </a:lnSpc>
            </a:pPr>
            <a:r>
              <a:rPr lang="en-US" sz="2439">
                <a:solidFill>
                  <a:srgbClr val="000000"/>
                </a:solidFill>
                <a:latin typeface="Now"/>
                <a:ea typeface="Now"/>
                <a:cs typeface="Now"/>
                <a:sym typeface="Now"/>
              </a:rPr>
              <a:t>+ 3.859 ảnh dùng để kiểm thử công khai (Public Test)​.</a:t>
            </a:r>
          </a:p>
          <a:p>
            <a:pPr algn="l">
              <a:lnSpc>
                <a:spcPts val="3927"/>
              </a:lnSpc>
            </a:pPr>
            <a:endParaRPr lang="en-US" sz="2439">
              <a:solidFill>
                <a:srgbClr val="000000"/>
              </a:solidFill>
              <a:latin typeface="Now"/>
              <a:ea typeface="Now"/>
              <a:cs typeface="Now"/>
              <a:sym typeface="Now"/>
            </a:endParaRPr>
          </a:p>
          <a:p>
            <a:pPr algn="l">
              <a:lnSpc>
                <a:spcPts val="3927"/>
              </a:lnSpc>
            </a:pPr>
            <a:endParaRPr lang="en-US" sz="2439">
              <a:solidFill>
                <a:srgbClr val="000000"/>
              </a:solidFill>
              <a:latin typeface="Now"/>
              <a:ea typeface="Now"/>
              <a:cs typeface="Now"/>
              <a:sym typeface="Now"/>
            </a:endParaRPr>
          </a:p>
        </p:txBody>
      </p:sp>
      <p:sp>
        <p:nvSpPr>
          <p:cNvPr id="10" name="TextBox 10"/>
          <p:cNvSpPr txBox="1"/>
          <p:nvPr/>
        </p:nvSpPr>
        <p:spPr>
          <a:xfrm>
            <a:off x="4224712" y="2810557"/>
            <a:ext cx="9838576" cy="1614196"/>
          </a:xfrm>
          <a:prstGeom prst="rect">
            <a:avLst/>
          </a:prstGeom>
        </p:spPr>
        <p:txBody>
          <a:bodyPr lIns="0" tIns="0" rIns="0" bIns="0" rtlCol="0" anchor="t">
            <a:spAutoFit/>
          </a:bodyPr>
          <a:lstStyle/>
          <a:p>
            <a:pPr algn="ctr">
              <a:lnSpc>
                <a:spcPts val="5740"/>
              </a:lnSpc>
            </a:pPr>
            <a:r>
              <a:rPr lang="en-US" sz="7000">
                <a:solidFill>
                  <a:srgbClr val="000000"/>
                </a:solidFill>
                <a:latin typeface="Bryndan Write"/>
                <a:ea typeface="Bryndan Write"/>
                <a:cs typeface="Bryndan Write"/>
                <a:sym typeface="Bryndan Write"/>
              </a:rPr>
              <a:t>1. Thu thập dữ liệu:</a:t>
            </a:r>
          </a:p>
          <a:p>
            <a:pPr algn="ctr">
              <a:lnSpc>
                <a:spcPts val="5740"/>
              </a:lnSpc>
            </a:pPr>
            <a:endParaRPr lang="en-US" sz="7000">
              <a:solidFill>
                <a:srgbClr val="000000"/>
              </a:solidFill>
              <a:latin typeface="Bryndan Write"/>
              <a:ea typeface="Bryndan Write"/>
              <a:cs typeface="Bryndan Write"/>
              <a:sym typeface="Bryndan Write"/>
            </a:endParaRPr>
          </a:p>
        </p:txBody>
      </p:sp>
      <p:sp>
        <p:nvSpPr>
          <p:cNvPr id="11" name="Freeform 11"/>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12693517" y="3418341"/>
            <a:ext cx="5594483" cy="5612507"/>
          </a:xfrm>
          <a:custGeom>
            <a:avLst/>
            <a:gdLst/>
            <a:ahLst/>
            <a:cxnLst/>
            <a:rect l="l" t="t" r="r" b="b"/>
            <a:pathLst>
              <a:path w="5594483" h="7708007">
                <a:moveTo>
                  <a:pt x="0" y="0"/>
                </a:moveTo>
                <a:lnTo>
                  <a:pt x="5594483" y="0"/>
                </a:lnTo>
                <a:lnTo>
                  <a:pt x="5594483" y="7708007"/>
                </a:lnTo>
                <a:lnTo>
                  <a:pt x="0" y="7708007"/>
                </a:lnTo>
                <a:lnTo>
                  <a:pt x="0" y="0"/>
                </a:lnTo>
                <a:close/>
              </a:path>
            </a:pathLst>
          </a:custGeom>
          <a:blipFill>
            <a:blip r:embed="rId3">
              <a:extLst>
                <a:ext uri="{96DAC541-7B7A-43D3-8B79-37D633B846F1}">
                  <asvg:svgBlip xmlns:asvg="http://schemas.microsoft.com/office/drawing/2016/SVG/main" r:embed="rId4"/>
                </a:ext>
              </a:extLst>
            </a:blip>
            <a:stretch>
              <a:fillRect r="-55779" b="-44261"/>
            </a:stretch>
          </a:blipFill>
        </p:spPr>
      </p:sp>
      <p:sp>
        <p:nvSpPr>
          <p:cNvPr id="4" name="TextBox 4"/>
          <p:cNvSpPr txBox="1"/>
          <p:nvPr/>
        </p:nvSpPr>
        <p:spPr>
          <a:xfrm>
            <a:off x="12895712" y="4109086"/>
            <a:ext cx="5190094" cy="4377689"/>
          </a:xfrm>
          <a:prstGeom prst="rect">
            <a:avLst/>
          </a:prstGeom>
        </p:spPr>
        <p:txBody>
          <a:bodyPr lIns="0" tIns="0" rIns="0" bIns="0" rtlCol="0" anchor="t">
            <a:spAutoFit/>
          </a:bodyPr>
          <a:lstStyle/>
          <a:p>
            <a:pPr algn="l">
              <a:lnSpc>
                <a:spcPts val="3150"/>
              </a:lnSpc>
            </a:pP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Ảnh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được</a:t>
            </a:r>
            <a:r>
              <a:rPr lang="en-US" sz="2100" dirty="0">
                <a:solidFill>
                  <a:srgbClr val="000000"/>
                </a:solidFill>
                <a:latin typeface="Now"/>
                <a:ea typeface="Now"/>
                <a:cs typeface="Now"/>
                <a:sym typeface="Now"/>
              </a:rPr>
              <a:t> resize </a:t>
            </a:r>
            <a:r>
              <a:rPr lang="en-US" sz="2100" dirty="0" err="1">
                <a:solidFill>
                  <a:srgbClr val="000000"/>
                </a:solidFill>
                <a:latin typeface="Now"/>
                <a:ea typeface="Now"/>
                <a:cs typeface="Now"/>
                <a:sym typeface="Now"/>
              </a:rPr>
              <a:t>về</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kích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thước</a:t>
            </a:r>
            <a:r>
              <a:rPr lang="en-US" sz="2100" dirty="0">
                <a:solidFill>
                  <a:srgbClr val="000000"/>
                </a:solidFill>
                <a:latin typeface="Now"/>
                <a:ea typeface="Now"/>
                <a:cs typeface="Now"/>
                <a:sym typeface="Now"/>
              </a:rPr>
              <a:t> 224×224.</a:t>
            </a:r>
          </a:p>
          <a:p>
            <a:pPr algn="l">
              <a:lnSpc>
                <a:spcPts val="3150"/>
              </a:lnSpc>
            </a:pP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Chuyển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ảnh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xám</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thành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ảnh</a:t>
            </a:r>
            <a:r>
              <a:rPr lang="en-US" sz="2100" dirty="0">
                <a:solidFill>
                  <a:srgbClr val="000000"/>
                </a:solidFill>
                <a:latin typeface="Now"/>
                <a:ea typeface="Now"/>
                <a:cs typeface="Now"/>
                <a:sym typeface="Now"/>
              </a:rPr>
              <a:t> RGB </a:t>
            </a:r>
            <a:r>
              <a:rPr lang="en-US" sz="2100" dirty="0" err="1">
                <a:solidFill>
                  <a:srgbClr val="000000"/>
                </a:solidFill>
                <a:latin typeface="Now"/>
                <a:ea typeface="Now"/>
                <a:cs typeface="Now"/>
                <a:sym typeface="Now"/>
              </a:rPr>
              <a:t>bằng</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cách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chồng</a:t>
            </a:r>
            <a:r>
              <a:rPr lang="en-US" sz="2100" dirty="0">
                <a:solidFill>
                  <a:srgbClr val="000000"/>
                </a:solidFill>
                <a:latin typeface="Now"/>
                <a:ea typeface="Now"/>
                <a:cs typeface="Now"/>
                <a:sym typeface="Now"/>
              </a:rPr>
              <a:t> 3 </a:t>
            </a:r>
            <a:r>
              <a:rPr lang="en-US" sz="2100" dirty="0" err="1">
                <a:solidFill>
                  <a:srgbClr val="000000"/>
                </a:solidFill>
                <a:latin typeface="Now"/>
                <a:ea typeface="Now"/>
                <a:cs typeface="Now"/>
                <a:sym typeface="Now"/>
              </a:rPr>
              <a:t>lần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lên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nhau</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để</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tạo</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ảnh</a:t>
            </a:r>
            <a:r>
              <a:rPr lang="en-US" sz="2100" dirty="0">
                <a:solidFill>
                  <a:srgbClr val="000000"/>
                </a:solidFill>
                <a:latin typeface="Now"/>
                <a:ea typeface="Now"/>
                <a:cs typeface="Now"/>
                <a:sym typeface="Now"/>
              </a:rPr>
              <a:t> 3 </a:t>
            </a:r>
            <a:r>
              <a:rPr lang="en-US" sz="2100" dirty="0" err="1">
                <a:solidFill>
                  <a:srgbClr val="000000"/>
                </a:solidFill>
                <a:latin typeface="Now"/>
                <a:ea typeface="Now"/>
                <a:cs typeface="Now"/>
                <a:sym typeface="Now"/>
              </a:rPr>
              <a:t>kênh</a:t>
            </a:r>
            <a:r>
              <a:rPr lang="en-US" sz="2100" dirty="0">
                <a:solidFill>
                  <a:srgbClr val="000000"/>
                </a:solidFill>
                <a:latin typeface="Now"/>
                <a:ea typeface="Now"/>
                <a:cs typeface="Now"/>
                <a:sym typeface="Now"/>
              </a:rPr>
              <a:t>.</a:t>
            </a:r>
          </a:p>
          <a:p>
            <a:pPr algn="l">
              <a:lnSpc>
                <a:spcPts val="3150"/>
              </a:lnSpc>
            </a:pP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Dữ</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liệu</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được</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chuyển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đổi</a:t>
            </a:r>
            <a:r>
              <a:rPr lang="en-US" sz="2100" dirty="0">
                <a:solidFill>
                  <a:srgbClr val="000000"/>
                </a:solidFill>
                <a:latin typeface="Now"/>
                <a:ea typeface="Now"/>
                <a:cs typeface="Now"/>
                <a:sym typeface="Now"/>
              </a:rPr>
              <a:t> sang tensor </a:t>
            </a:r>
            <a:r>
              <a:rPr lang="en-US" sz="2100" dirty="0" err="1">
                <a:solidFill>
                  <a:srgbClr val="000000"/>
                </a:solidFill>
                <a:latin typeface="Now"/>
                <a:ea typeface="Now"/>
                <a:cs typeface="Now"/>
                <a:sym typeface="Now"/>
              </a:rPr>
              <a:t>để</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huấn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luyện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trên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PyTorch</a:t>
            </a:r>
            <a:r>
              <a:rPr lang="en-US" sz="2100" dirty="0">
                <a:solidFill>
                  <a:srgbClr val="000000"/>
                </a:solidFill>
                <a:latin typeface="Now"/>
                <a:ea typeface="Now"/>
                <a:cs typeface="Now"/>
                <a:sym typeface="Now"/>
              </a:rPr>
              <a:t>.</a:t>
            </a:r>
          </a:p>
          <a:p>
            <a:pPr algn="l">
              <a:lnSpc>
                <a:spcPts val="3150"/>
              </a:lnSpc>
            </a:pPr>
            <a:r>
              <a:rPr lang="en-US" sz="2100" dirty="0">
                <a:solidFill>
                  <a:srgbClr val="000000"/>
                </a:solidFill>
                <a:latin typeface="Now"/>
                <a:ea typeface="Now"/>
                <a:cs typeface="Now"/>
                <a:sym typeface="Now"/>
              </a:rPr>
              <a:t>+ Các </a:t>
            </a:r>
            <a:r>
              <a:rPr lang="en-US" sz="2100" dirty="0" err="1">
                <a:solidFill>
                  <a:srgbClr val="000000"/>
                </a:solidFill>
                <a:latin typeface="Now"/>
                <a:ea typeface="Now"/>
                <a:cs typeface="Now"/>
                <a:sym typeface="Now"/>
              </a:rPr>
              <a:t>bước</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xử</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lý</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này</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được</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đóng</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gói</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trong</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lớp</a:t>
            </a:r>
            <a:r>
              <a:rPr lang="en-US" sz="2100" dirty="0">
                <a:solidFill>
                  <a:srgbClr val="000000"/>
                </a:solidFill>
                <a:latin typeface="Now"/>
                <a:ea typeface="Now"/>
                <a:cs typeface="Now"/>
                <a:sym typeface="Now"/>
              </a:rPr>
              <a:t> FER2013, </a:t>
            </a:r>
            <a:r>
              <a:rPr lang="en-US" sz="2100" dirty="0" err="1">
                <a:solidFill>
                  <a:srgbClr val="000000"/>
                </a:solidFill>
                <a:latin typeface="Now"/>
                <a:ea typeface="Now"/>
                <a:cs typeface="Now"/>
                <a:sym typeface="Now"/>
              </a:rPr>
              <a:t>kế</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thừa</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từ</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torch.utils.data.Dataset</a:t>
            </a:r>
            <a:r>
              <a:rPr lang="en-US" sz="2100" dirty="0">
                <a:solidFill>
                  <a:srgbClr val="000000"/>
                </a:solidFill>
                <a:latin typeface="Now"/>
                <a:ea typeface="Now"/>
                <a:cs typeface="Now"/>
                <a:sym typeface="Now"/>
              </a:rPr>
              <a:t>​.</a:t>
            </a:r>
          </a:p>
          <a:p>
            <a:pPr algn="l">
              <a:lnSpc>
                <a:spcPts val="3150"/>
              </a:lnSpc>
            </a:pPr>
            <a:endParaRPr lang="en-US" sz="2100" dirty="0">
              <a:solidFill>
                <a:srgbClr val="000000"/>
              </a:solidFill>
              <a:latin typeface="Now"/>
              <a:ea typeface="Now"/>
              <a:cs typeface="Now"/>
              <a:sym typeface="Now"/>
            </a:endParaRPr>
          </a:p>
        </p:txBody>
      </p:sp>
      <p:sp>
        <p:nvSpPr>
          <p:cNvPr id="5" name="TextBox 5"/>
          <p:cNvSpPr txBox="1"/>
          <p:nvPr/>
        </p:nvSpPr>
        <p:spPr>
          <a:xfrm>
            <a:off x="3645403" y="1101336"/>
            <a:ext cx="10913483" cy="18675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2. Xử lý dữ liệu:</a:t>
            </a:r>
          </a:p>
          <a:p>
            <a:pPr algn="ctr">
              <a:lnSpc>
                <a:spcPts val="6970"/>
              </a:lnSpc>
            </a:pPr>
            <a:endParaRPr lang="en-US" sz="8500">
              <a:solidFill>
                <a:srgbClr val="FFFFFF"/>
              </a:solidFill>
              <a:latin typeface="Gochi Hand"/>
              <a:ea typeface="Gochi Hand"/>
              <a:cs typeface="Gochi Hand"/>
              <a:sym typeface="Gochi Hand"/>
            </a:endParaRPr>
          </a:p>
        </p:txBody>
      </p:sp>
      <p:sp>
        <p:nvSpPr>
          <p:cNvPr id="6" name="Freeform 6"/>
          <p:cNvSpPr/>
          <p:nvPr/>
        </p:nvSpPr>
        <p:spPr>
          <a:xfrm>
            <a:off x="6187724" y="3312799"/>
            <a:ext cx="5594483" cy="5718049"/>
          </a:xfrm>
          <a:custGeom>
            <a:avLst/>
            <a:gdLst/>
            <a:ahLst/>
            <a:cxnLst/>
            <a:rect l="l" t="t" r="r" b="b"/>
            <a:pathLst>
              <a:path w="5594483" h="7708007">
                <a:moveTo>
                  <a:pt x="0" y="0"/>
                </a:moveTo>
                <a:lnTo>
                  <a:pt x="5594483" y="0"/>
                </a:lnTo>
                <a:lnTo>
                  <a:pt x="5594483" y="7708007"/>
                </a:lnTo>
                <a:lnTo>
                  <a:pt x="0" y="7708007"/>
                </a:lnTo>
                <a:lnTo>
                  <a:pt x="0" y="0"/>
                </a:lnTo>
                <a:close/>
              </a:path>
            </a:pathLst>
          </a:custGeom>
          <a:blipFill>
            <a:blip r:embed="rId3">
              <a:extLst>
                <a:ext uri="{96DAC541-7B7A-43D3-8B79-37D633B846F1}">
                  <asvg:svgBlip xmlns:asvg="http://schemas.microsoft.com/office/drawing/2016/SVG/main" r:embed="rId4"/>
                </a:ext>
              </a:extLst>
            </a:blip>
            <a:stretch>
              <a:fillRect r="-55779" b="-44261"/>
            </a:stretch>
          </a:blipFill>
        </p:spPr>
      </p:sp>
      <p:sp>
        <p:nvSpPr>
          <p:cNvPr id="7" name="TextBox 7"/>
          <p:cNvSpPr txBox="1"/>
          <p:nvPr/>
        </p:nvSpPr>
        <p:spPr>
          <a:xfrm>
            <a:off x="6586276" y="4109086"/>
            <a:ext cx="4904356" cy="2849434"/>
          </a:xfrm>
          <a:prstGeom prst="rect">
            <a:avLst/>
          </a:prstGeom>
        </p:spPr>
        <p:txBody>
          <a:bodyPr wrap="square" lIns="0" tIns="0" rIns="0" bIns="0" rtlCol="0" anchor="t">
            <a:spAutoFit/>
          </a:bodyPr>
          <a:lstStyle/>
          <a:p>
            <a:pPr algn="l">
              <a:lnSpc>
                <a:spcPts val="3150"/>
              </a:lnSpc>
            </a:pP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Lật</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ảnh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theo</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trục</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dọc</a:t>
            </a:r>
            <a:r>
              <a:rPr lang="en-US" sz="2100" dirty="0">
                <a:solidFill>
                  <a:srgbClr val="000000"/>
                </a:solidFill>
                <a:latin typeface="Now"/>
                <a:ea typeface="Now"/>
                <a:cs typeface="Now"/>
                <a:sym typeface="Now"/>
              </a:rPr>
              <a:t> (Flip Left Right).</a:t>
            </a:r>
          </a:p>
          <a:p>
            <a:pPr algn="l">
              <a:lnSpc>
                <a:spcPts val="3150"/>
              </a:lnSpc>
            </a:pP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Xoay</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ảnh</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ngẫu</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nhiên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trong</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khoảng</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từ</a:t>
            </a:r>
            <a:r>
              <a:rPr lang="en-US" sz="2100" dirty="0">
                <a:solidFill>
                  <a:srgbClr val="000000"/>
                </a:solidFill>
                <a:latin typeface="Now"/>
                <a:ea typeface="Now"/>
                <a:cs typeface="Now"/>
                <a:sym typeface="Now"/>
              </a:rPr>
              <a:t> -30 </a:t>
            </a:r>
            <a:r>
              <a:rPr lang="en-US" sz="2100" dirty="0" err="1">
                <a:solidFill>
                  <a:srgbClr val="000000"/>
                </a:solidFill>
                <a:latin typeface="Now"/>
                <a:ea typeface="Now"/>
                <a:cs typeface="Now"/>
                <a:sym typeface="Now"/>
              </a:rPr>
              <a:t>đến</a:t>
            </a:r>
            <a:r>
              <a:rPr lang="en-US" sz="2100" dirty="0">
                <a:solidFill>
                  <a:srgbClr val="000000"/>
                </a:solidFill>
                <a:latin typeface="Now"/>
                <a:ea typeface="Now"/>
                <a:cs typeface="Now"/>
                <a:sym typeface="Now"/>
              </a:rPr>
              <a:t> 30 </a:t>
            </a:r>
            <a:r>
              <a:rPr lang="en-US" sz="2100" dirty="0" err="1">
                <a:solidFill>
                  <a:srgbClr val="000000"/>
                </a:solidFill>
                <a:latin typeface="Now"/>
                <a:ea typeface="Now"/>
                <a:cs typeface="Now"/>
                <a:sym typeface="Now"/>
              </a:rPr>
              <a:t>độ</a:t>
            </a:r>
            <a:r>
              <a:rPr lang="en-US" sz="2100" dirty="0">
                <a:solidFill>
                  <a:srgbClr val="000000"/>
                </a:solidFill>
                <a:latin typeface="Now"/>
                <a:ea typeface="Now"/>
                <a:cs typeface="Now"/>
                <a:sym typeface="Now"/>
              </a:rPr>
              <a:t>.</a:t>
            </a:r>
          </a:p>
          <a:p>
            <a:pPr algn="l">
              <a:lnSpc>
                <a:spcPts val="3150"/>
              </a:lnSpc>
            </a:pP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Việc</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làm</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giàu</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dữ</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liệu</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được</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cài</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đặt</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bằng</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thư</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viện</a:t>
            </a:r>
            <a:r>
              <a:rPr lang="en-US" sz="2100" dirty="0">
                <a:solidFill>
                  <a:srgbClr val="000000"/>
                </a:solidFill>
                <a:latin typeface="Now"/>
                <a:ea typeface="Now"/>
                <a:cs typeface="Now"/>
                <a:sym typeface="Now"/>
              </a:rPr>
              <a:t> </a:t>
            </a:r>
            <a:r>
              <a:rPr lang="en-US" sz="2100" dirty="0" err="1">
                <a:solidFill>
                  <a:srgbClr val="000000"/>
                </a:solidFill>
                <a:latin typeface="Now"/>
                <a:ea typeface="Now"/>
                <a:cs typeface="Now"/>
                <a:sym typeface="Now"/>
              </a:rPr>
              <a:t>imgaug</a:t>
            </a:r>
            <a:r>
              <a:rPr lang="en-US" sz="2100" dirty="0">
                <a:solidFill>
                  <a:srgbClr val="000000"/>
                </a:solidFill>
                <a:latin typeface="Now"/>
                <a:ea typeface="Now"/>
                <a:cs typeface="Now"/>
                <a:sym typeface="Now"/>
              </a:rPr>
              <a:t>​.</a:t>
            </a:r>
          </a:p>
          <a:p>
            <a:pPr algn="l">
              <a:lnSpc>
                <a:spcPts val="3150"/>
              </a:lnSpc>
            </a:pPr>
            <a:endParaRPr lang="en-US" sz="2100" dirty="0">
              <a:solidFill>
                <a:srgbClr val="000000"/>
              </a:solidFill>
              <a:latin typeface="Now"/>
              <a:ea typeface="Now"/>
              <a:cs typeface="Now"/>
              <a:sym typeface="Now"/>
            </a:endParaRPr>
          </a:p>
        </p:txBody>
      </p:sp>
      <p:sp>
        <p:nvSpPr>
          <p:cNvPr id="8" name="Freeform 8"/>
          <p:cNvSpPr/>
          <p:nvPr/>
        </p:nvSpPr>
        <p:spPr>
          <a:xfrm>
            <a:off x="0" y="3418341"/>
            <a:ext cx="5594483" cy="5612507"/>
          </a:xfrm>
          <a:custGeom>
            <a:avLst/>
            <a:gdLst/>
            <a:ahLst/>
            <a:cxnLst/>
            <a:rect l="l" t="t" r="r" b="b"/>
            <a:pathLst>
              <a:path w="5594483" h="7708007">
                <a:moveTo>
                  <a:pt x="0" y="0"/>
                </a:moveTo>
                <a:lnTo>
                  <a:pt x="5594483" y="0"/>
                </a:lnTo>
                <a:lnTo>
                  <a:pt x="5594483" y="7708007"/>
                </a:lnTo>
                <a:lnTo>
                  <a:pt x="0" y="7708007"/>
                </a:lnTo>
                <a:lnTo>
                  <a:pt x="0" y="0"/>
                </a:lnTo>
                <a:close/>
              </a:path>
            </a:pathLst>
          </a:custGeom>
          <a:blipFill>
            <a:blip r:embed="rId3">
              <a:extLst>
                <a:ext uri="{96DAC541-7B7A-43D3-8B79-37D633B846F1}">
                  <asvg:svgBlip xmlns:asvg="http://schemas.microsoft.com/office/drawing/2016/SVG/main" r:embed="rId4"/>
                </a:ext>
              </a:extLst>
            </a:blip>
            <a:stretch>
              <a:fillRect r="-55779" b="-44261"/>
            </a:stretch>
          </a:blipFill>
        </p:spPr>
      </p:sp>
      <p:sp>
        <p:nvSpPr>
          <p:cNvPr id="9" name="TextBox 9"/>
          <p:cNvSpPr txBox="1"/>
          <p:nvPr/>
        </p:nvSpPr>
        <p:spPr>
          <a:xfrm>
            <a:off x="239518" y="4109086"/>
            <a:ext cx="5074785" cy="1539875"/>
          </a:xfrm>
          <a:prstGeom prst="rect">
            <a:avLst/>
          </a:prstGeom>
        </p:spPr>
        <p:txBody>
          <a:bodyPr lIns="0" tIns="0" rIns="0" bIns="0" rtlCol="0" anchor="t">
            <a:spAutoFit/>
          </a:bodyPr>
          <a:lstStyle/>
          <a:p>
            <a:pPr algn="just">
              <a:lnSpc>
                <a:spcPts val="3125"/>
              </a:lnSpc>
            </a:pPr>
            <a:r>
              <a:rPr lang="en-US" sz="2083">
                <a:solidFill>
                  <a:srgbClr val="000000"/>
                </a:solidFill>
                <a:latin typeface="Now"/>
                <a:ea typeface="Now"/>
                <a:cs typeface="Now"/>
                <a:sym typeface="Now"/>
              </a:rPr>
              <a:t>Với những ảnh chưa qua bước phát hiện khuôn mặt, tác giả sử dụng phương pháp phát hiện khuôn mặt của OpenCV 3.4.</a:t>
            </a:r>
          </a:p>
        </p:txBody>
      </p:sp>
      <p:sp>
        <p:nvSpPr>
          <p:cNvPr id="10" name="TextBox 10"/>
          <p:cNvSpPr txBox="1"/>
          <p:nvPr/>
        </p:nvSpPr>
        <p:spPr>
          <a:xfrm>
            <a:off x="892565" y="2496198"/>
            <a:ext cx="3809353" cy="1418723"/>
          </a:xfrm>
          <a:prstGeom prst="rect">
            <a:avLst/>
          </a:prstGeom>
        </p:spPr>
        <p:txBody>
          <a:bodyPr lIns="0" tIns="0" rIns="0" bIns="0" rtlCol="0" anchor="t">
            <a:spAutoFit/>
          </a:bodyPr>
          <a:lstStyle/>
          <a:p>
            <a:pPr algn="ctr">
              <a:lnSpc>
                <a:spcPts val="3578"/>
              </a:lnSpc>
            </a:pPr>
            <a:r>
              <a:rPr lang="en-US" sz="4364" dirty="0">
                <a:solidFill>
                  <a:srgbClr val="FFFFFF"/>
                </a:solidFill>
                <a:latin typeface="Gochi Hand"/>
                <a:ea typeface="Gochi Hand"/>
                <a:cs typeface="Gochi Hand"/>
                <a:sym typeface="Gochi Hand"/>
              </a:rPr>
              <a:t> </a:t>
            </a:r>
            <a:r>
              <a:rPr lang="en-US" sz="4364" dirty="0" err="1">
                <a:solidFill>
                  <a:srgbClr val="FFFFFF"/>
                </a:solidFill>
                <a:latin typeface="Gochi Hand"/>
                <a:ea typeface="Gochi Hand"/>
                <a:cs typeface="Gochi Hand"/>
                <a:sym typeface="Gochi Hand"/>
              </a:rPr>
              <a:t>Phát</a:t>
            </a:r>
            <a:r>
              <a:rPr lang="en-US" sz="4364" dirty="0">
                <a:solidFill>
                  <a:srgbClr val="FFFFFF"/>
                </a:solidFill>
                <a:latin typeface="Gochi Hand"/>
                <a:ea typeface="Gochi Hand"/>
                <a:cs typeface="Gochi Hand"/>
                <a:sym typeface="Gochi Hand"/>
              </a:rPr>
              <a:t> </a:t>
            </a:r>
            <a:r>
              <a:rPr lang="en-US" sz="4364" dirty="0" err="1">
                <a:solidFill>
                  <a:srgbClr val="FFFFFF"/>
                </a:solidFill>
                <a:latin typeface="Gochi Hand"/>
                <a:ea typeface="Gochi Hand"/>
                <a:cs typeface="Gochi Hand"/>
                <a:sym typeface="Gochi Hand"/>
              </a:rPr>
              <a:t>hiện</a:t>
            </a:r>
            <a:r>
              <a:rPr lang="en-US" sz="4364" dirty="0">
                <a:solidFill>
                  <a:srgbClr val="FFFFFF"/>
                </a:solidFill>
                <a:latin typeface="Gochi Hand"/>
                <a:ea typeface="Gochi Hand"/>
                <a:cs typeface="Gochi Hand"/>
                <a:sym typeface="Gochi Hand"/>
              </a:rPr>
              <a:t> </a:t>
            </a:r>
            <a:r>
              <a:rPr lang="en-US" sz="4364" dirty="0" err="1">
                <a:solidFill>
                  <a:srgbClr val="FFFFFF"/>
                </a:solidFill>
                <a:latin typeface="Gochi Hand"/>
                <a:ea typeface="Gochi Hand"/>
                <a:cs typeface="Gochi Hand"/>
                <a:sym typeface="Gochi Hand"/>
              </a:rPr>
              <a:t>khuôn</a:t>
            </a:r>
            <a:r>
              <a:rPr lang="en-US" sz="4364" dirty="0">
                <a:solidFill>
                  <a:srgbClr val="FFFFFF"/>
                </a:solidFill>
                <a:latin typeface="Gochi Hand"/>
                <a:ea typeface="Gochi Hand"/>
                <a:cs typeface="Gochi Hand"/>
                <a:sym typeface="Gochi Hand"/>
              </a:rPr>
              <a:t> </a:t>
            </a:r>
            <a:r>
              <a:rPr lang="en-US" sz="4364" dirty="0" err="1">
                <a:solidFill>
                  <a:srgbClr val="FFFFFF"/>
                </a:solidFill>
                <a:latin typeface="Gochi Hand"/>
                <a:ea typeface="Gochi Hand"/>
                <a:cs typeface="Gochi Hand"/>
                <a:sym typeface="Gochi Hand"/>
              </a:rPr>
              <a:t>mặt</a:t>
            </a:r>
            <a:r>
              <a:rPr lang="en-US" sz="4364" dirty="0">
                <a:solidFill>
                  <a:srgbClr val="FFFFFF"/>
                </a:solidFill>
                <a:latin typeface="Gochi Hand"/>
                <a:ea typeface="Gochi Hand"/>
                <a:cs typeface="Gochi Hand"/>
                <a:sym typeface="Gochi Hand"/>
              </a:rPr>
              <a:t>:</a:t>
            </a:r>
          </a:p>
          <a:p>
            <a:pPr algn="ctr">
              <a:lnSpc>
                <a:spcPts val="3578"/>
              </a:lnSpc>
            </a:pPr>
            <a:endParaRPr lang="en-US" sz="4364" dirty="0">
              <a:solidFill>
                <a:srgbClr val="FFFFFF"/>
              </a:solidFill>
              <a:latin typeface="Gochi Hand"/>
              <a:ea typeface="Gochi Hand"/>
              <a:cs typeface="Gochi Hand"/>
              <a:sym typeface="Gochi Hand"/>
            </a:endParaRPr>
          </a:p>
        </p:txBody>
      </p:sp>
      <p:sp>
        <p:nvSpPr>
          <p:cNvPr id="11" name="TextBox 11"/>
          <p:cNvSpPr txBox="1"/>
          <p:nvPr/>
        </p:nvSpPr>
        <p:spPr>
          <a:xfrm>
            <a:off x="5414535" y="2162189"/>
            <a:ext cx="7278982" cy="1900200"/>
          </a:xfrm>
          <a:prstGeom prst="rect">
            <a:avLst/>
          </a:prstGeom>
        </p:spPr>
        <p:txBody>
          <a:bodyPr wrap="square" lIns="0" tIns="0" rIns="0" bIns="0" rtlCol="0" anchor="t">
            <a:spAutoFit/>
          </a:bodyPr>
          <a:lstStyle/>
          <a:p>
            <a:pPr algn="ctr">
              <a:lnSpc>
                <a:spcPts val="3603"/>
              </a:lnSpc>
            </a:pP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Mạng</a:t>
            </a: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nơ-ron</a:t>
            </a: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tích</a:t>
            </a: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chập</a:t>
            </a:r>
            <a:r>
              <a:rPr lang="en-US" sz="4393" dirty="0">
                <a:solidFill>
                  <a:srgbClr val="FFFFFF"/>
                </a:solidFill>
                <a:latin typeface="Gochi Hand"/>
                <a:ea typeface="Gochi Hand"/>
                <a:cs typeface="Gochi Hand"/>
                <a:sym typeface="Gochi Hand"/>
              </a:rPr>
              <a:t> (CNN)</a:t>
            </a:r>
            <a:r>
              <a:rPr lang="en-US" sz="4393" dirty="0" err="1">
                <a:solidFill>
                  <a:srgbClr val="FFFFFF"/>
                </a:solidFill>
                <a:latin typeface="Gochi Hand"/>
                <a:ea typeface="Gochi Hand"/>
                <a:cs typeface="Gochi Hand"/>
                <a:sym typeface="Gochi Hand"/>
              </a:rPr>
              <a:t>Làm</a:t>
            </a: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giàu</a:t>
            </a: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dữ</a:t>
            </a:r>
            <a:r>
              <a:rPr lang="en-US" sz="4393" dirty="0">
                <a:solidFill>
                  <a:srgbClr val="FFFFFF"/>
                </a:solidFill>
                <a:latin typeface="Gochi Hand"/>
                <a:ea typeface="Gochi Hand"/>
                <a:cs typeface="Gochi Hand"/>
                <a:sym typeface="Gochi Hand"/>
              </a:rPr>
              <a:t> </a:t>
            </a:r>
            <a:r>
              <a:rPr lang="en-US" sz="4393" dirty="0" err="1">
                <a:solidFill>
                  <a:srgbClr val="FFFFFF"/>
                </a:solidFill>
                <a:latin typeface="Gochi Hand"/>
                <a:ea typeface="Gochi Hand"/>
                <a:cs typeface="Gochi Hand"/>
                <a:sym typeface="Gochi Hand"/>
              </a:rPr>
              <a:t>liệu</a:t>
            </a:r>
            <a:r>
              <a:rPr lang="en-US" sz="4393" dirty="0">
                <a:solidFill>
                  <a:srgbClr val="FFFFFF"/>
                </a:solidFill>
                <a:latin typeface="Gochi Hand"/>
                <a:ea typeface="Gochi Hand"/>
                <a:cs typeface="Gochi Hand"/>
                <a:sym typeface="Gochi Hand"/>
              </a:rPr>
              <a:t> (Data Augmentation):</a:t>
            </a:r>
          </a:p>
          <a:p>
            <a:pPr algn="ctr">
              <a:lnSpc>
                <a:spcPts val="3603"/>
              </a:lnSpc>
            </a:pPr>
            <a:endParaRPr lang="en-US" sz="4393" dirty="0">
              <a:solidFill>
                <a:srgbClr val="FFFFFF"/>
              </a:solidFill>
              <a:latin typeface="Gochi Hand"/>
              <a:ea typeface="Gochi Hand"/>
              <a:cs typeface="Gochi Hand"/>
              <a:sym typeface="Gochi Hand"/>
            </a:endParaRPr>
          </a:p>
        </p:txBody>
      </p:sp>
      <p:sp>
        <p:nvSpPr>
          <p:cNvPr id="12" name="TextBox 12"/>
          <p:cNvSpPr txBox="1"/>
          <p:nvPr/>
        </p:nvSpPr>
        <p:spPr>
          <a:xfrm>
            <a:off x="13286757" y="2295673"/>
            <a:ext cx="4408002" cy="1219963"/>
          </a:xfrm>
          <a:prstGeom prst="rect">
            <a:avLst/>
          </a:prstGeom>
        </p:spPr>
        <p:txBody>
          <a:bodyPr lIns="0" tIns="0" rIns="0" bIns="0" rtlCol="0" anchor="t">
            <a:spAutoFit/>
          </a:bodyPr>
          <a:lstStyle/>
          <a:p>
            <a:pPr algn="ctr">
              <a:lnSpc>
                <a:spcPts val="3081"/>
              </a:lnSpc>
            </a:pPr>
            <a:r>
              <a:rPr lang="en-US" sz="3758" dirty="0" err="1">
                <a:solidFill>
                  <a:srgbClr val="FFFFFF"/>
                </a:solidFill>
                <a:latin typeface="Gochi Hand"/>
                <a:ea typeface="Gochi Hand"/>
                <a:cs typeface="Gochi Hand"/>
                <a:sym typeface="Gochi Hand"/>
              </a:rPr>
              <a:t>Chuẩn</a:t>
            </a:r>
            <a:r>
              <a:rPr lang="en-US" sz="3758" dirty="0">
                <a:solidFill>
                  <a:srgbClr val="FFFFFF"/>
                </a:solidFill>
                <a:latin typeface="Gochi Hand"/>
                <a:ea typeface="Gochi Hand"/>
                <a:cs typeface="Gochi Hand"/>
                <a:sym typeface="Gochi Hand"/>
              </a:rPr>
              <a:t> </a:t>
            </a:r>
            <a:r>
              <a:rPr lang="en-US" sz="3758" dirty="0" err="1">
                <a:solidFill>
                  <a:srgbClr val="FFFFFF"/>
                </a:solidFill>
                <a:latin typeface="Gochi Hand"/>
                <a:ea typeface="Gochi Hand"/>
                <a:cs typeface="Gochi Hand"/>
                <a:sym typeface="Gochi Hand"/>
              </a:rPr>
              <a:t>hóa</a:t>
            </a:r>
            <a:r>
              <a:rPr lang="en-US" sz="3758" dirty="0">
                <a:solidFill>
                  <a:srgbClr val="FFFFFF"/>
                </a:solidFill>
                <a:latin typeface="Gochi Hand"/>
                <a:ea typeface="Gochi Hand"/>
                <a:cs typeface="Gochi Hand"/>
                <a:sym typeface="Gochi Hand"/>
              </a:rPr>
              <a:t> </a:t>
            </a:r>
            <a:r>
              <a:rPr lang="en-US" sz="3758" dirty="0" err="1">
                <a:solidFill>
                  <a:srgbClr val="FFFFFF"/>
                </a:solidFill>
                <a:latin typeface="Gochi Hand"/>
                <a:ea typeface="Gochi Hand"/>
                <a:cs typeface="Gochi Hand"/>
                <a:sym typeface="Gochi Hand"/>
              </a:rPr>
              <a:t>và</a:t>
            </a:r>
            <a:r>
              <a:rPr lang="en-US" sz="3758" dirty="0">
                <a:solidFill>
                  <a:srgbClr val="FFFFFF"/>
                </a:solidFill>
                <a:latin typeface="Gochi Hand"/>
                <a:ea typeface="Gochi Hand"/>
                <a:cs typeface="Gochi Hand"/>
                <a:sym typeface="Gochi Hand"/>
              </a:rPr>
              <a:t> </a:t>
            </a:r>
            <a:r>
              <a:rPr lang="en-US" sz="3758" dirty="0" err="1">
                <a:solidFill>
                  <a:srgbClr val="FFFFFF"/>
                </a:solidFill>
                <a:latin typeface="Gochi Hand"/>
                <a:ea typeface="Gochi Hand"/>
                <a:cs typeface="Gochi Hand"/>
                <a:sym typeface="Gochi Hand"/>
              </a:rPr>
              <a:t>tiền</a:t>
            </a:r>
            <a:r>
              <a:rPr lang="en-US" sz="3758" dirty="0">
                <a:solidFill>
                  <a:srgbClr val="FFFFFF"/>
                </a:solidFill>
                <a:latin typeface="Gochi Hand"/>
                <a:ea typeface="Gochi Hand"/>
                <a:cs typeface="Gochi Hand"/>
                <a:sym typeface="Gochi Hand"/>
              </a:rPr>
              <a:t> </a:t>
            </a:r>
            <a:r>
              <a:rPr lang="en-US" sz="3758" dirty="0" err="1">
                <a:solidFill>
                  <a:srgbClr val="FFFFFF"/>
                </a:solidFill>
                <a:latin typeface="Gochi Hand"/>
                <a:ea typeface="Gochi Hand"/>
                <a:cs typeface="Gochi Hand"/>
                <a:sym typeface="Gochi Hand"/>
              </a:rPr>
              <a:t>xử</a:t>
            </a:r>
            <a:r>
              <a:rPr lang="en-US" sz="3758" dirty="0">
                <a:solidFill>
                  <a:srgbClr val="FFFFFF"/>
                </a:solidFill>
                <a:latin typeface="Gochi Hand"/>
                <a:ea typeface="Gochi Hand"/>
                <a:cs typeface="Gochi Hand"/>
                <a:sym typeface="Gochi Hand"/>
              </a:rPr>
              <a:t> </a:t>
            </a:r>
            <a:r>
              <a:rPr lang="en-US" sz="3758" dirty="0" err="1">
                <a:solidFill>
                  <a:srgbClr val="FFFFFF"/>
                </a:solidFill>
                <a:latin typeface="Gochi Hand"/>
                <a:ea typeface="Gochi Hand"/>
                <a:cs typeface="Gochi Hand"/>
                <a:sym typeface="Gochi Hand"/>
              </a:rPr>
              <a:t>lý</a:t>
            </a:r>
            <a:r>
              <a:rPr lang="en-US" sz="3758" dirty="0">
                <a:solidFill>
                  <a:srgbClr val="FFFFFF"/>
                </a:solidFill>
                <a:latin typeface="Gochi Hand"/>
                <a:ea typeface="Gochi Hand"/>
                <a:cs typeface="Gochi Hand"/>
                <a:sym typeface="Gochi Hand"/>
              </a:rPr>
              <a:t> </a:t>
            </a:r>
            <a:r>
              <a:rPr lang="en-US" sz="3758" dirty="0" err="1">
                <a:solidFill>
                  <a:srgbClr val="FFFFFF"/>
                </a:solidFill>
                <a:latin typeface="Gochi Hand"/>
                <a:ea typeface="Gochi Hand"/>
                <a:cs typeface="Gochi Hand"/>
                <a:sym typeface="Gochi Hand"/>
              </a:rPr>
              <a:t>ảnh</a:t>
            </a:r>
            <a:r>
              <a:rPr lang="en-US" sz="3758" dirty="0">
                <a:solidFill>
                  <a:srgbClr val="FFFFFF"/>
                </a:solidFill>
                <a:latin typeface="Gochi Hand"/>
                <a:ea typeface="Gochi Hand"/>
                <a:cs typeface="Gochi Hand"/>
                <a:sym typeface="Gochi Hand"/>
              </a:rPr>
              <a:t>:</a:t>
            </a:r>
          </a:p>
          <a:p>
            <a:pPr algn="ctr">
              <a:lnSpc>
                <a:spcPts val="3081"/>
              </a:lnSpc>
            </a:pPr>
            <a:endParaRPr lang="en-US" sz="3758" dirty="0">
              <a:solidFill>
                <a:srgbClr val="FFFFFF"/>
              </a:solidFill>
              <a:latin typeface="Gochi Hand"/>
              <a:ea typeface="Gochi Hand"/>
              <a:cs typeface="Gochi Hand"/>
              <a:sym typeface="Gochi Hand"/>
            </a:endParaRPr>
          </a:p>
        </p:txBody>
      </p:sp>
      <p:sp>
        <p:nvSpPr>
          <p:cNvPr id="13" name="Freeform 13"/>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1105367" y="-614565"/>
            <a:ext cx="3402500" cy="3006572"/>
          </a:xfrm>
          <a:custGeom>
            <a:avLst/>
            <a:gdLst/>
            <a:ahLst/>
            <a:cxnLst/>
            <a:rect l="l" t="t" r="r" b="b"/>
            <a:pathLst>
              <a:path w="3402500" h="3006572">
                <a:moveTo>
                  <a:pt x="0" y="0"/>
                </a:moveTo>
                <a:lnTo>
                  <a:pt x="3402500" y="0"/>
                </a:lnTo>
                <a:lnTo>
                  <a:pt x="3402500" y="3006572"/>
                </a:lnTo>
                <a:lnTo>
                  <a:pt x="0" y="30065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667622">
            <a:off x="15839248" y="7911485"/>
            <a:ext cx="1709996" cy="1669578"/>
          </a:xfrm>
          <a:custGeom>
            <a:avLst/>
            <a:gdLst/>
            <a:ahLst/>
            <a:cxnLst/>
            <a:rect l="l" t="t" r="r" b="b"/>
            <a:pathLst>
              <a:path w="1709996" h="1669578">
                <a:moveTo>
                  <a:pt x="0" y="0"/>
                </a:moveTo>
                <a:lnTo>
                  <a:pt x="1709996" y="0"/>
                </a:lnTo>
                <a:lnTo>
                  <a:pt x="1709996" y="1669579"/>
                </a:lnTo>
                <a:lnTo>
                  <a:pt x="0" y="16695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629133" y="664489"/>
            <a:ext cx="4130225" cy="728422"/>
          </a:xfrm>
          <a:custGeom>
            <a:avLst/>
            <a:gdLst/>
            <a:ahLst/>
            <a:cxnLst/>
            <a:rect l="l" t="t" r="r" b="b"/>
            <a:pathLst>
              <a:path w="4130225" h="728422">
                <a:moveTo>
                  <a:pt x="0" y="0"/>
                </a:moveTo>
                <a:lnTo>
                  <a:pt x="4130226" y="0"/>
                </a:lnTo>
                <a:lnTo>
                  <a:pt x="4130226" y="728422"/>
                </a:lnTo>
                <a:lnTo>
                  <a:pt x="0" y="7284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4760595" y="1325588"/>
            <a:ext cx="8766810" cy="1605298"/>
          </a:xfrm>
          <a:prstGeom prst="rect">
            <a:avLst/>
          </a:prstGeom>
        </p:spPr>
        <p:txBody>
          <a:bodyPr lIns="0" tIns="0" rIns="0" bIns="0" rtlCol="0" anchor="t">
            <a:spAutoFit/>
          </a:bodyPr>
          <a:lstStyle/>
          <a:p>
            <a:pPr algn="ctr">
              <a:lnSpc>
                <a:spcPts val="6110"/>
              </a:lnSpc>
            </a:pPr>
            <a:r>
              <a:rPr lang="en-US" sz="6500">
                <a:solidFill>
                  <a:srgbClr val="FFFFFF"/>
                </a:solidFill>
                <a:latin typeface="Gochi Hand"/>
                <a:ea typeface="Gochi Hand"/>
                <a:cs typeface="Gochi Hand"/>
                <a:sym typeface="Gochi Hand"/>
              </a:rPr>
              <a:t>3. Cài đặt huấn luyện:</a:t>
            </a:r>
          </a:p>
          <a:p>
            <a:pPr algn="ctr">
              <a:lnSpc>
                <a:spcPts val="6110"/>
              </a:lnSpc>
            </a:pPr>
            <a:endParaRPr lang="en-US" sz="6500">
              <a:solidFill>
                <a:srgbClr val="FFFFFF"/>
              </a:solidFill>
              <a:latin typeface="Gochi Hand"/>
              <a:ea typeface="Gochi Hand"/>
              <a:cs typeface="Gochi Hand"/>
              <a:sym typeface="Gochi Hand"/>
            </a:endParaRPr>
          </a:p>
        </p:txBody>
      </p:sp>
      <p:sp>
        <p:nvSpPr>
          <p:cNvPr id="7" name="Freeform 7"/>
          <p:cNvSpPr/>
          <p:nvPr/>
        </p:nvSpPr>
        <p:spPr>
          <a:xfrm rot="-5400000">
            <a:off x="5710854" y="-35334"/>
            <a:ext cx="6866293" cy="11720976"/>
          </a:xfrm>
          <a:custGeom>
            <a:avLst/>
            <a:gdLst/>
            <a:ahLst/>
            <a:cxnLst/>
            <a:rect l="l" t="t" r="r" b="b"/>
            <a:pathLst>
              <a:path w="6866293" h="11720976">
                <a:moveTo>
                  <a:pt x="0" y="0"/>
                </a:moveTo>
                <a:lnTo>
                  <a:pt x="6866292" y="0"/>
                </a:lnTo>
                <a:lnTo>
                  <a:pt x="6866292" y="11720975"/>
                </a:lnTo>
                <a:lnTo>
                  <a:pt x="0" y="11720975"/>
                </a:lnTo>
                <a:lnTo>
                  <a:pt x="0" y="0"/>
                </a:lnTo>
                <a:close/>
              </a:path>
            </a:pathLst>
          </a:custGeom>
          <a:blipFill>
            <a:blip r:embed="rId9"/>
            <a:stretch>
              <a:fillRect t="-5536" r="-45997" b="-5536"/>
            </a:stretch>
          </a:blipFill>
        </p:spPr>
      </p:sp>
      <p:sp>
        <p:nvSpPr>
          <p:cNvPr id="8" name="TextBox 8"/>
          <p:cNvSpPr txBox="1"/>
          <p:nvPr/>
        </p:nvSpPr>
        <p:spPr>
          <a:xfrm>
            <a:off x="4270307" y="2580149"/>
            <a:ext cx="9747386" cy="6166125"/>
          </a:xfrm>
          <a:prstGeom prst="rect">
            <a:avLst/>
          </a:prstGeom>
        </p:spPr>
        <p:txBody>
          <a:bodyPr lIns="0" tIns="0" rIns="0" bIns="0" rtlCol="0" anchor="t">
            <a:spAutoFit/>
          </a:bodyPr>
          <a:lstStyle/>
          <a:p>
            <a:pPr algn="l">
              <a:lnSpc>
                <a:spcPts val="6109"/>
              </a:lnSpc>
              <a:spcBef>
                <a:spcPct val="0"/>
              </a:spcBef>
            </a:pPr>
            <a:r>
              <a:rPr lang="en-US" sz="4364">
                <a:solidFill>
                  <a:srgbClr val="000000"/>
                </a:solidFill>
                <a:latin typeface="Gochi Hand"/>
                <a:ea typeface="Gochi Hand"/>
                <a:cs typeface="Gochi Hand"/>
                <a:sym typeface="Gochi Hand"/>
              </a:rPr>
              <a:t>Thực nghiệm được tổ chức có cấu hình cố định để đảm bảo công bằng giữa các mô hình:</a:t>
            </a:r>
          </a:p>
          <a:p>
            <a:pPr algn="l">
              <a:lnSpc>
                <a:spcPts val="6109"/>
              </a:lnSpc>
              <a:spcBef>
                <a:spcPct val="0"/>
              </a:spcBef>
            </a:pPr>
            <a:r>
              <a:rPr lang="en-US" sz="4364">
                <a:solidFill>
                  <a:srgbClr val="000000"/>
                </a:solidFill>
                <a:latin typeface="Gochi Hand"/>
                <a:ea typeface="Gochi Hand"/>
                <a:cs typeface="Gochi Hand"/>
                <a:sym typeface="Gochi Hand"/>
              </a:rPr>
              <a:t>+ Cỡ ảnh: 224×224×3</a:t>
            </a:r>
          </a:p>
          <a:p>
            <a:pPr algn="l">
              <a:lnSpc>
                <a:spcPts val="6109"/>
              </a:lnSpc>
              <a:spcBef>
                <a:spcPct val="0"/>
              </a:spcBef>
            </a:pPr>
            <a:r>
              <a:rPr lang="en-US" sz="4364">
                <a:solidFill>
                  <a:srgbClr val="000000"/>
                </a:solidFill>
                <a:latin typeface="Gochi Hand"/>
                <a:ea typeface="Gochi Hand"/>
                <a:cs typeface="Gochi Hand"/>
                <a:sym typeface="Gochi Hand"/>
              </a:rPr>
              <a:t>+ Số lớp phân loại: 7</a:t>
            </a:r>
          </a:p>
          <a:p>
            <a:pPr algn="l">
              <a:lnSpc>
                <a:spcPts val="6109"/>
              </a:lnSpc>
              <a:spcBef>
                <a:spcPct val="0"/>
              </a:spcBef>
            </a:pPr>
            <a:r>
              <a:rPr lang="en-US" sz="4364">
                <a:solidFill>
                  <a:srgbClr val="000000"/>
                </a:solidFill>
                <a:latin typeface="Gochi Hand"/>
                <a:ea typeface="Gochi Hand"/>
                <a:cs typeface="Gochi Hand"/>
                <a:sym typeface="Gochi Hand"/>
              </a:rPr>
              <a:t>+ Learning rate: 0.0001</a:t>
            </a:r>
          </a:p>
          <a:p>
            <a:pPr algn="l">
              <a:lnSpc>
                <a:spcPts val="6109"/>
              </a:lnSpc>
              <a:spcBef>
                <a:spcPct val="0"/>
              </a:spcBef>
            </a:pPr>
            <a:r>
              <a:rPr lang="en-US" sz="4364">
                <a:solidFill>
                  <a:srgbClr val="000000"/>
                </a:solidFill>
                <a:latin typeface="Gochi Hand"/>
                <a:ea typeface="Gochi Hand"/>
                <a:cs typeface="Gochi Hand"/>
                <a:sym typeface="Gochi Hand"/>
              </a:rPr>
              <a:t>+ Momentum: 0.9</a:t>
            </a:r>
          </a:p>
          <a:p>
            <a:pPr algn="l">
              <a:lnSpc>
                <a:spcPts val="6109"/>
              </a:lnSpc>
              <a:spcBef>
                <a:spcPct val="0"/>
              </a:spcBef>
            </a:pPr>
            <a:r>
              <a:rPr lang="en-US" sz="4364">
                <a:solidFill>
                  <a:srgbClr val="000000"/>
                </a:solidFill>
                <a:latin typeface="Gochi Hand"/>
                <a:ea typeface="Gochi Hand"/>
                <a:cs typeface="Gochi Hand"/>
                <a:sym typeface="Gochi Hand"/>
              </a:rPr>
              <a:t>+ Weight decay: 0.001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1105367" y="-614565"/>
            <a:ext cx="3402500" cy="3006572"/>
          </a:xfrm>
          <a:custGeom>
            <a:avLst/>
            <a:gdLst/>
            <a:ahLst/>
            <a:cxnLst/>
            <a:rect l="l" t="t" r="r" b="b"/>
            <a:pathLst>
              <a:path w="3402500" h="3006572">
                <a:moveTo>
                  <a:pt x="0" y="0"/>
                </a:moveTo>
                <a:lnTo>
                  <a:pt x="3402500" y="0"/>
                </a:lnTo>
                <a:lnTo>
                  <a:pt x="3402500" y="3006572"/>
                </a:lnTo>
                <a:lnTo>
                  <a:pt x="0" y="300657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667622">
            <a:off x="15839248" y="7911485"/>
            <a:ext cx="1709996" cy="1669578"/>
          </a:xfrm>
          <a:custGeom>
            <a:avLst/>
            <a:gdLst/>
            <a:ahLst/>
            <a:cxnLst/>
            <a:rect l="l" t="t" r="r" b="b"/>
            <a:pathLst>
              <a:path w="1709996" h="1669578">
                <a:moveTo>
                  <a:pt x="0" y="0"/>
                </a:moveTo>
                <a:lnTo>
                  <a:pt x="1709996" y="0"/>
                </a:lnTo>
                <a:lnTo>
                  <a:pt x="1709996" y="1669579"/>
                </a:lnTo>
                <a:lnTo>
                  <a:pt x="0" y="16695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a:off x="14629133" y="664489"/>
            <a:ext cx="4130225" cy="728422"/>
          </a:xfrm>
          <a:custGeom>
            <a:avLst/>
            <a:gdLst/>
            <a:ahLst/>
            <a:cxnLst/>
            <a:rect l="l" t="t" r="r" b="b"/>
            <a:pathLst>
              <a:path w="4130225" h="728422">
                <a:moveTo>
                  <a:pt x="0" y="0"/>
                </a:moveTo>
                <a:lnTo>
                  <a:pt x="4130226" y="0"/>
                </a:lnTo>
                <a:lnTo>
                  <a:pt x="4130226" y="728422"/>
                </a:lnTo>
                <a:lnTo>
                  <a:pt x="0" y="72842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TextBox 6"/>
          <p:cNvSpPr txBox="1"/>
          <p:nvPr/>
        </p:nvSpPr>
        <p:spPr>
          <a:xfrm>
            <a:off x="4760595" y="1325588"/>
            <a:ext cx="8766810" cy="1605298"/>
          </a:xfrm>
          <a:prstGeom prst="rect">
            <a:avLst/>
          </a:prstGeom>
        </p:spPr>
        <p:txBody>
          <a:bodyPr lIns="0" tIns="0" rIns="0" bIns="0" rtlCol="0" anchor="t">
            <a:spAutoFit/>
          </a:bodyPr>
          <a:lstStyle/>
          <a:p>
            <a:pPr algn="ctr">
              <a:lnSpc>
                <a:spcPts val="6110"/>
              </a:lnSpc>
            </a:pPr>
            <a:r>
              <a:rPr lang="en-US" sz="6500">
                <a:solidFill>
                  <a:srgbClr val="FFFFFF"/>
                </a:solidFill>
                <a:latin typeface="Gochi Hand"/>
                <a:ea typeface="Gochi Hand"/>
                <a:cs typeface="Gochi Hand"/>
                <a:sym typeface="Gochi Hand"/>
              </a:rPr>
              <a:t>3. Cài đặt huấn luyện:</a:t>
            </a:r>
          </a:p>
          <a:p>
            <a:pPr algn="ctr">
              <a:lnSpc>
                <a:spcPts val="6110"/>
              </a:lnSpc>
            </a:pPr>
            <a:endParaRPr lang="en-US" sz="6500">
              <a:solidFill>
                <a:srgbClr val="FFFFFF"/>
              </a:solidFill>
              <a:latin typeface="Gochi Hand"/>
              <a:ea typeface="Gochi Hand"/>
              <a:cs typeface="Gochi Hand"/>
              <a:sym typeface="Gochi Hand"/>
            </a:endParaRPr>
          </a:p>
        </p:txBody>
      </p:sp>
      <p:sp>
        <p:nvSpPr>
          <p:cNvPr id="7" name="Freeform 7"/>
          <p:cNvSpPr/>
          <p:nvPr/>
        </p:nvSpPr>
        <p:spPr>
          <a:xfrm rot="-5400000">
            <a:off x="5710854" y="-35334"/>
            <a:ext cx="6866293" cy="11720976"/>
          </a:xfrm>
          <a:custGeom>
            <a:avLst/>
            <a:gdLst/>
            <a:ahLst/>
            <a:cxnLst/>
            <a:rect l="l" t="t" r="r" b="b"/>
            <a:pathLst>
              <a:path w="6866293" h="11720976">
                <a:moveTo>
                  <a:pt x="0" y="0"/>
                </a:moveTo>
                <a:lnTo>
                  <a:pt x="6866292" y="0"/>
                </a:lnTo>
                <a:lnTo>
                  <a:pt x="6866292" y="11720975"/>
                </a:lnTo>
                <a:lnTo>
                  <a:pt x="0" y="11720975"/>
                </a:lnTo>
                <a:lnTo>
                  <a:pt x="0" y="0"/>
                </a:lnTo>
                <a:close/>
              </a:path>
            </a:pathLst>
          </a:custGeom>
          <a:blipFill>
            <a:blip r:embed="rId9"/>
            <a:stretch>
              <a:fillRect t="-5536" r="-45997" b="-5536"/>
            </a:stretch>
          </a:blipFill>
        </p:spPr>
      </p:sp>
      <p:sp>
        <p:nvSpPr>
          <p:cNvPr id="8" name="TextBox 8"/>
          <p:cNvSpPr txBox="1"/>
          <p:nvPr/>
        </p:nvSpPr>
        <p:spPr>
          <a:xfrm>
            <a:off x="4270307" y="3910626"/>
            <a:ext cx="9747386" cy="3851550"/>
          </a:xfrm>
          <a:prstGeom prst="rect">
            <a:avLst/>
          </a:prstGeom>
        </p:spPr>
        <p:txBody>
          <a:bodyPr lIns="0" tIns="0" rIns="0" bIns="0" rtlCol="0" anchor="t">
            <a:spAutoFit/>
          </a:bodyPr>
          <a:lstStyle/>
          <a:p>
            <a:pPr algn="l">
              <a:lnSpc>
                <a:spcPts val="6109"/>
              </a:lnSpc>
            </a:pPr>
            <a:r>
              <a:rPr lang="en-US" sz="4364">
                <a:solidFill>
                  <a:srgbClr val="000000"/>
                </a:solidFill>
                <a:latin typeface="Gochi Hand"/>
                <a:ea typeface="Gochi Hand"/>
                <a:cs typeface="Gochi Hand"/>
                <a:sym typeface="Gochi Hand"/>
              </a:rPr>
              <a:t>Các thành phần hỗ trợ như optimizer, hàm mất mát, và trainer đều được định nghĩa riêng để dễ tái sử dụng và mở rộng​.</a:t>
            </a:r>
          </a:p>
          <a:p>
            <a:pPr algn="l">
              <a:lnSpc>
                <a:spcPts val="6109"/>
              </a:lnSpc>
            </a:pPr>
            <a:endParaRPr lang="en-US" sz="4364">
              <a:solidFill>
                <a:srgbClr val="000000"/>
              </a:solidFill>
              <a:latin typeface="Gochi Hand"/>
              <a:ea typeface="Gochi Hand"/>
              <a:cs typeface="Gochi Hand"/>
              <a:sym typeface="Gochi Ha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4291370" y="3588120"/>
            <a:ext cx="9705260" cy="4274239"/>
          </a:xfrm>
          <a:custGeom>
            <a:avLst/>
            <a:gdLst/>
            <a:ahLst/>
            <a:cxnLst/>
            <a:rect l="l" t="t" r="r" b="b"/>
            <a:pathLst>
              <a:path w="9705260" h="4274239">
                <a:moveTo>
                  <a:pt x="0" y="0"/>
                </a:moveTo>
                <a:lnTo>
                  <a:pt x="9705260" y="0"/>
                </a:lnTo>
                <a:lnTo>
                  <a:pt x="9705260" y="4274238"/>
                </a:lnTo>
                <a:lnTo>
                  <a:pt x="0" y="4274238"/>
                </a:lnTo>
                <a:lnTo>
                  <a:pt x="0" y="0"/>
                </a:lnTo>
                <a:close/>
              </a:path>
            </a:pathLst>
          </a:custGeom>
          <a:blipFill>
            <a:blip r:embed="rId3"/>
            <a:stretch>
              <a:fillRect l="-16157" t="-92539"/>
            </a:stretch>
          </a:blipFill>
        </p:spPr>
      </p:sp>
      <p:sp>
        <p:nvSpPr>
          <p:cNvPr id="4" name="Freeform 4"/>
          <p:cNvSpPr/>
          <p:nvPr/>
        </p:nvSpPr>
        <p:spPr>
          <a:xfrm rot="721296">
            <a:off x="6325472" y="5529041"/>
            <a:ext cx="5637056" cy="1434887"/>
          </a:xfrm>
          <a:custGeom>
            <a:avLst/>
            <a:gdLst/>
            <a:ahLst/>
            <a:cxnLst/>
            <a:rect l="l" t="t" r="r" b="b"/>
            <a:pathLst>
              <a:path w="5637056" h="1434887">
                <a:moveTo>
                  <a:pt x="0" y="0"/>
                </a:moveTo>
                <a:lnTo>
                  <a:pt x="5637056" y="0"/>
                </a:lnTo>
                <a:lnTo>
                  <a:pt x="5637056" y="1434887"/>
                </a:lnTo>
                <a:lnTo>
                  <a:pt x="0" y="1434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3026566">
            <a:off x="2743604" y="2404370"/>
            <a:ext cx="3728345" cy="2367499"/>
          </a:xfrm>
          <a:custGeom>
            <a:avLst/>
            <a:gdLst/>
            <a:ahLst/>
            <a:cxnLst/>
            <a:rect l="l" t="t" r="r" b="b"/>
            <a:pathLst>
              <a:path w="3728345" h="2367499">
                <a:moveTo>
                  <a:pt x="0" y="0"/>
                </a:moveTo>
                <a:lnTo>
                  <a:pt x="3728345" y="0"/>
                </a:lnTo>
                <a:lnTo>
                  <a:pt x="3728345" y="2367499"/>
                </a:lnTo>
                <a:lnTo>
                  <a:pt x="0" y="23674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687259" y="4273677"/>
            <a:ext cx="10913483" cy="2092071"/>
          </a:xfrm>
          <a:prstGeom prst="rect">
            <a:avLst/>
          </a:prstGeom>
        </p:spPr>
        <p:txBody>
          <a:bodyPr lIns="0" tIns="0" rIns="0" bIns="0" rtlCol="0" anchor="t">
            <a:spAutoFit/>
          </a:bodyPr>
          <a:lstStyle/>
          <a:p>
            <a:pPr algn="ctr">
              <a:lnSpc>
                <a:spcPts val="7872"/>
              </a:lnSpc>
            </a:pPr>
            <a:r>
              <a:rPr lang="en-US" sz="9600">
                <a:solidFill>
                  <a:srgbClr val="000000"/>
                </a:solidFill>
                <a:latin typeface="Gochi Hand"/>
                <a:ea typeface="Gochi Hand"/>
                <a:cs typeface="Gochi Hand"/>
                <a:sym typeface="Gochi Hand"/>
              </a:rPr>
              <a:t>Kết quả đạt được</a:t>
            </a:r>
          </a:p>
          <a:p>
            <a:pPr algn="ctr">
              <a:lnSpc>
                <a:spcPts val="7872"/>
              </a:lnSpc>
            </a:pPr>
            <a:endParaRPr lang="en-US" sz="9600">
              <a:solidFill>
                <a:srgbClr val="000000"/>
              </a:solidFill>
              <a:latin typeface="Gochi Hand"/>
              <a:ea typeface="Gochi Hand"/>
              <a:cs typeface="Gochi Hand"/>
              <a:sym typeface="Gochi Hand"/>
            </a:endParaRPr>
          </a:p>
        </p:txBody>
      </p:sp>
      <p:sp>
        <p:nvSpPr>
          <p:cNvPr id="7" name="Freeform 7"/>
          <p:cNvSpPr/>
          <p:nvPr/>
        </p:nvSpPr>
        <p:spPr>
          <a:xfrm rot="7671314">
            <a:off x="11833594" y="5972294"/>
            <a:ext cx="3728345" cy="2367499"/>
          </a:xfrm>
          <a:custGeom>
            <a:avLst/>
            <a:gdLst/>
            <a:ahLst/>
            <a:cxnLst/>
            <a:rect l="l" t="t" r="r" b="b"/>
            <a:pathLst>
              <a:path w="3728345" h="2367499">
                <a:moveTo>
                  <a:pt x="0" y="0"/>
                </a:moveTo>
                <a:lnTo>
                  <a:pt x="3728344" y="0"/>
                </a:lnTo>
                <a:lnTo>
                  <a:pt x="3728344" y="2367499"/>
                </a:lnTo>
                <a:lnTo>
                  <a:pt x="0" y="23674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16181" r="48502"/>
            <a:stretch>
              <a:fillRect/>
            </a:stretch>
          </p:blipFill>
          <p:spPr>
            <a:xfrm>
              <a:off x="0" y="0"/>
              <a:ext cx="7370417" cy="13913357"/>
            </a:xfrm>
            <a:prstGeom prst="rect">
              <a:avLst/>
            </a:prstGeom>
          </p:spPr>
        </p:pic>
      </p:grpSp>
      <p:sp>
        <p:nvSpPr>
          <p:cNvPr id="5" name="TextBox 5"/>
          <p:cNvSpPr txBox="1"/>
          <p:nvPr/>
        </p:nvSpPr>
        <p:spPr>
          <a:xfrm>
            <a:off x="5629356" y="1707927"/>
            <a:ext cx="11373959" cy="3489324"/>
          </a:xfrm>
          <a:prstGeom prst="rect">
            <a:avLst/>
          </a:prstGeom>
        </p:spPr>
        <p:txBody>
          <a:bodyPr lIns="0" tIns="0" rIns="0" bIns="0" rtlCol="0" anchor="t">
            <a:spAutoFit/>
          </a:bodyPr>
          <a:lstStyle/>
          <a:p>
            <a:pPr marL="539754" lvl="1" indent="-269877" algn="l">
              <a:lnSpc>
                <a:spcPts val="3500"/>
              </a:lnSpc>
              <a:buAutoNum type="arabicPeriod"/>
            </a:pPr>
            <a:r>
              <a:rPr lang="en-US" sz="2500">
                <a:solidFill>
                  <a:srgbClr val="FFFFFF"/>
                </a:solidFill>
                <a:latin typeface="Now"/>
                <a:ea typeface="Now"/>
                <a:cs typeface="Now"/>
                <a:sym typeface="Now"/>
              </a:rPr>
              <a:t>Tác giả đã huấn luyện lại các mô hình học sâu hiện đại dưới cùng một cấu hình để đảm bảo công bằng trong so sánh. Kết quả thể hiện như sau:</a:t>
            </a:r>
          </a:p>
          <a:p>
            <a:pPr algn="l">
              <a:lnSpc>
                <a:spcPts val="3500"/>
              </a:lnSpc>
            </a:pPr>
            <a:endParaRPr lang="en-US" sz="2500">
              <a:solidFill>
                <a:srgbClr val="FFFFFF"/>
              </a:solidFill>
              <a:latin typeface="Now"/>
              <a:ea typeface="Now"/>
              <a:cs typeface="Now"/>
              <a:sym typeface="Now"/>
            </a:endParaRPr>
          </a:p>
          <a:p>
            <a:pPr algn="l">
              <a:lnSpc>
                <a:spcPts val="3500"/>
              </a:lnSpc>
            </a:pPr>
            <a:endParaRPr lang="en-US" sz="2500">
              <a:solidFill>
                <a:srgbClr val="FFFFFF"/>
              </a:solidFill>
              <a:latin typeface="Now"/>
              <a:ea typeface="Now"/>
              <a:cs typeface="Now"/>
              <a:sym typeface="Now"/>
            </a:endParaRPr>
          </a:p>
          <a:p>
            <a:pPr algn="l">
              <a:lnSpc>
                <a:spcPts val="3500"/>
              </a:lnSpc>
            </a:pPr>
            <a:endParaRPr lang="en-US" sz="2500">
              <a:solidFill>
                <a:srgbClr val="FFFFFF"/>
              </a:solidFill>
              <a:latin typeface="Now"/>
              <a:ea typeface="Now"/>
              <a:cs typeface="Now"/>
              <a:sym typeface="Now"/>
            </a:endParaRPr>
          </a:p>
          <a:p>
            <a:pPr algn="l">
              <a:lnSpc>
                <a:spcPts val="3500"/>
              </a:lnSpc>
            </a:pPr>
            <a:endParaRPr lang="en-US" sz="2500">
              <a:solidFill>
                <a:srgbClr val="FFFFFF"/>
              </a:solidFill>
              <a:latin typeface="Now"/>
              <a:ea typeface="Now"/>
              <a:cs typeface="Now"/>
              <a:sym typeface="Now"/>
            </a:endParaRPr>
          </a:p>
          <a:p>
            <a:pPr algn="l">
              <a:lnSpc>
                <a:spcPts val="3500"/>
              </a:lnSpc>
            </a:pPr>
            <a:endParaRPr lang="en-US" sz="2500">
              <a:solidFill>
                <a:srgbClr val="FFFFFF"/>
              </a:solidFill>
              <a:latin typeface="Now"/>
              <a:ea typeface="Now"/>
              <a:cs typeface="Now"/>
              <a:sym typeface="Now"/>
            </a:endParaRPr>
          </a:p>
        </p:txBody>
      </p:sp>
      <p:sp>
        <p:nvSpPr>
          <p:cNvPr id="6" name="Freeform 6"/>
          <p:cNvSpPr/>
          <p:nvPr/>
        </p:nvSpPr>
        <p:spPr>
          <a:xfrm rot="-4393055" flipH="1">
            <a:off x="2261869" y="1827708"/>
            <a:ext cx="4947445" cy="1942997"/>
          </a:xfrm>
          <a:custGeom>
            <a:avLst/>
            <a:gdLst/>
            <a:ahLst/>
            <a:cxnLst/>
            <a:rect l="l" t="t" r="r" b="b"/>
            <a:pathLst>
              <a:path w="4947445" h="1942997">
                <a:moveTo>
                  <a:pt x="4947445" y="0"/>
                </a:moveTo>
                <a:lnTo>
                  <a:pt x="0" y="0"/>
                </a:lnTo>
                <a:lnTo>
                  <a:pt x="0" y="1942997"/>
                </a:lnTo>
                <a:lnTo>
                  <a:pt x="4947445" y="1942997"/>
                </a:lnTo>
                <a:lnTo>
                  <a:pt x="4947445"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5717653" y="8108592"/>
            <a:ext cx="3083294" cy="3083294"/>
          </a:xfrm>
          <a:custGeom>
            <a:avLst/>
            <a:gdLst/>
            <a:ahLst/>
            <a:cxnLst/>
            <a:rect l="l" t="t" r="r" b="b"/>
            <a:pathLst>
              <a:path w="3083294" h="3083294">
                <a:moveTo>
                  <a:pt x="0" y="0"/>
                </a:moveTo>
                <a:lnTo>
                  <a:pt x="3083294" y="0"/>
                </a:lnTo>
                <a:lnTo>
                  <a:pt x="3083294" y="3083294"/>
                </a:lnTo>
                <a:lnTo>
                  <a:pt x="0" y="308329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3666746" y="931350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5847959" y="2917909"/>
            <a:ext cx="6592083" cy="6956351"/>
          </a:xfrm>
          <a:custGeom>
            <a:avLst/>
            <a:gdLst/>
            <a:ahLst/>
            <a:cxnLst/>
            <a:rect l="l" t="t" r="r" b="b"/>
            <a:pathLst>
              <a:path w="6592083" h="6956351">
                <a:moveTo>
                  <a:pt x="0" y="0"/>
                </a:moveTo>
                <a:lnTo>
                  <a:pt x="6592082" y="0"/>
                </a:lnTo>
                <a:lnTo>
                  <a:pt x="6592082" y="6956351"/>
                </a:lnTo>
                <a:lnTo>
                  <a:pt x="0" y="6956351"/>
                </a:lnTo>
                <a:lnTo>
                  <a:pt x="0" y="0"/>
                </a:lnTo>
                <a:close/>
              </a:path>
            </a:pathLst>
          </a:custGeom>
          <a:blipFill>
            <a:blip r:embed="rId10"/>
            <a:stretch>
              <a:fillRect/>
            </a:stretch>
          </a:blipFill>
        </p:spPr>
      </p:sp>
      <p:sp>
        <p:nvSpPr>
          <p:cNvPr id="10" name="TextBox 10"/>
          <p:cNvSpPr txBox="1"/>
          <p:nvPr/>
        </p:nvSpPr>
        <p:spPr>
          <a:xfrm>
            <a:off x="6637217" y="552450"/>
            <a:ext cx="9640627"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1. Trên bộ dữ liệu FER2013</a:t>
            </a:r>
          </a:p>
        </p:txBody>
      </p:sp>
      <p:sp>
        <p:nvSpPr>
          <p:cNvPr id="11" name="TextBox 11"/>
          <p:cNvSpPr txBox="1"/>
          <p:nvPr/>
        </p:nvSpPr>
        <p:spPr>
          <a:xfrm>
            <a:off x="12840091" y="4432123"/>
            <a:ext cx="4745247" cy="3051174"/>
          </a:xfrm>
          <a:prstGeom prst="rect">
            <a:avLst/>
          </a:prstGeom>
        </p:spPr>
        <p:txBody>
          <a:bodyPr lIns="0" tIns="0" rIns="0" bIns="0" rtlCol="0" anchor="t">
            <a:spAutoFit/>
          </a:bodyPr>
          <a:lstStyle/>
          <a:p>
            <a:pPr algn="l">
              <a:lnSpc>
                <a:spcPts val="3500"/>
              </a:lnSpc>
            </a:pPr>
            <a:r>
              <a:rPr lang="en-US" sz="2500">
                <a:solidFill>
                  <a:srgbClr val="FFFFFF"/>
                </a:solidFill>
                <a:latin typeface="Now"/>
                <a:ea typeface="Now"/>
                <a:cs typeface="Now"/>
                <a:sym typeface="Now"/>
              </a:rPr>
              <a:t>Ngoài ra, khi kết hợp ResMaskingNet với 6 mạng CNN khác (Ensemble), mô hình đạt độ chính xác lên đến 76.82%, cao hơn tất cả các mô hình so sánh​.</a:t>
            </a:r>
          </a:p>
          <a:p>
            <a:pPr algn="l">
              <a:lnSpc>
                <a:spcPts val="3500"/>
              </a:lnSpc>
            </a:pPr>
            <a:endParaRPr lang="en-US" sz="2500">
              <a:solidFill>
                <a:srgbClr val="FFFFFF"/>
              </a:solidFill>
              <a:latin typeface="Now"/>
              <a:ea typeface="Now"/>
              <a:cs typeface="Now"/>
              <a:sym typeface="Now"/>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5888283" y="-1029552"/>
            <a:ext cx="6511435" cy="12346104"/>
          </a:xfrm>
          <a:custGeom>
            <a:avLst/>
            <a:gdLst/>
            <a:ahLst/>
            <a:cxnLst/>
            <a:rect l="l" t="t" r="r" b="b"/>
            <a:pathLst>
              <a:path w="6511435" h="12346104">
                <a:moveTo>
                  <a:pt x="0" y="0"/>
                </a:moveTo>
                <a:lnTo>
                  <a:pt x="6511434" y="0"/>
                </a:lnTo>
                <a:lnTo>
                  <a:pt x="6511434" y="12346104"/>
                </a:lnTo>
                <a:lnTo>
                  <a:pt x="0" y="12346104"/>
                </a:lnTo>
                <a:lnTo>
                  <a:pt x="0" y="0"/>
                </a:lnTo>
                <a:close/>
              </a:path>
            </a:pathLst>
          </a:custGeom>
          <a:blipFill>
            <a:blip r:embed="rId3"/>
            <a:stretch>
              <a:fillRect r="-45997"/>
            </a:stretch>
          </a:blipFill>
        </p:spPr>
      </p:sp>
      <p:sp>
        <p:nvSpPr>
          <p:cNvPr id="4" name="Freeform 4"/>
          <p:cNvSpPr/>
          <p:nvPr/>
        </p:nvSpPr>
        <p:spPr>
          <a:xfrm rot="-1391118">
            <a:off x="10316583" y="-2915471"/>
            <a:ext cx="3665666" cy="3796829"/>
          </a:xfrm>
          <a:custGeom>
            <a:avLst/>
            <a:gdLst/>
            <a:ahLst/>
            <a:cxnLst/>
            <a:rect l="l" t="t" r="r" b="b"/>
            <a:pathLst>
              <a:path w="3665666" h="3796829">
                <a:moveTo>
                  <a:pt x="0" y="0"/>
                </a:moveTo>
                <a:lnTo>
                  <a:pt x="3665665" y="0"/>
                </a:lnTo>
                <a:lnTo>
                  <a:pt x="3665665" y="3796829"/>
                </a:lnTo>
                <a:lnTo>
                  <a:pt x="0" y="37968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6979330">
            <a:off x="-712187" y="8552632"/>
            <a:ext cx="3453702" cy="1902676"/>
          </a:xfrm>
          <a:custGeom>
            <a:avLst/>
            <a:gdLst/>
            <a:ahLst/>
            <a:cxnLst/>
            <a:rect l="l" t="t" r="r" b="b"/>
            <a:pathLst>
              <a:path w="3453702" h="1902676">
                <a:moveTo>
                  <a:pt x="0" y="0"/>
                </a:moveTo>
                <a:lnTo>
                  <a:pt x="3453703" y="0"/>
                </a:lnTo>
                <a:lnTo>
                  <a:pt x="3453703" y="1902676"/>
                </a:lnTo>
                <a:lnTo>
                  <a:pt x="0" y="19026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0800000">
            <a:off x="3311855" y="1236710"/>
            <a:ext cx="789010" cy="1764347"/>
          </a:xfrm>
          <a:custGeom>
            <a:avLst/>
            <a:gdLst/>
            <a:ahLst/>
            <a:cxnLst/>
            <a:rect l="l" t="t" r="r" b="b"/>
            <a:pathLst>
              <a:path w="789010" h="1764347">
                <a:moveTo>
                  <a:pt x="0" y="0"/>
                </a:moveTo>
                <a:lnTo>
                  <a:pt x="789011" y="0"/>
                </a:lnTo>
                <a:lnTo>
                  <a:pt x="789011" y="1764347"/>
                </a:lnTo>
                <a:lnTo>
                  <a:pt x="0" y="17643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4187134" y="7285943"/>
            <a:ext cx="789010" cy="1764347"/>
          </a:xfrm>
          <a:custGeom>
            <a:avLst/>
            <a:gdLst/>
            <a:ahLst/>
            <a:cxnLst/>
            <a:rect l="l" t="t" r="r" b="b"/>
            <a:pathLst>
              <a:path w="789010" h="1764347">
                <a:moveTo>
                  <a:pt x="0" y="0"/>
                </a:moveTo>
                <a:lnTo>
                  <a:pt x="789011" y="0"/>
                </a:lnTo>
                <a:lnTo>
                  <a:pt x="789011" y="1764347"/>
                </a:lnTo>
                <a:lnTo>
                  <a:pt x="0" y="176434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832840" y="5476927"/>
            <a:ext cx="1600479" cy="2057400"/>
          </a:xfrm>
          <a:custGeom>
            <a:avLst/>
            <a:gdLst/>
            <a:ahLst/>
            <a:cxnLst/>
            <a:rect l="l" t="t" r="r" b="b"/>
            <a:pathLst>
              <a:path w="1600479" h="2057400">
                <a:moveTo>
                  <a:pt x="0" y="0"/>
                </a:moveTo>
                <a:lnTo>
                  <a:pt x="1600480" y="0"/>
                </a:lnTo>
                <a:lnTo>
                  <a:pt x="1600480" y="2057400"/>
                </a:lnTo>
                <a:lnTo>
                  <a:pt x="0" y="20574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6183823" y="641041"/>
            <a:ext cx="2999781" cy="2955685"/>
          </a:xfrm>
          <a:custGeom>
            <a:avLst/>
            <a:gdLst/>
            <a:ahLst/>
            <a:cxnLst/>
            <a:rect l="l" t="t" r="r" b="b"/>
            <a:pathLst>
              <a:path w="2999781" h="2955685">
                <a:moveTo>
                  <a:pt x="0" y="0"/>
                </a:moveTo>
                <a:lnTo>
                  <a:pt x="2999781" y="0"/>
                </a:lnTo>
                <a:lnTo>
                  <a:pt x="2999781" y="2955684"/>
                </a:lnTo>
                <a:lnTo>
                  <a:pt x="0" y="295568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TextBox 10"/>
          <p:cNvSpPr txBox="1"/>
          <p:nvPr/>
        </p:nvSpPr>
        <p:spPr>
          <a:xfrm>
            <a:off x="4100866" y="4653425"/>
            <a:ext cx="10086269" cy="2389631"/>
          </a:xfrm>
          <a:prstGeom prst="rect">
            <a:avLst/>
          </a:prstGeom>
        </p:spPr>
        <p:txBody>
          <a:bodyPr lIns="0" tIns="0" rIns="0" bIns="0" rtlCol="0" anchor="t">
            <a:spAutoFit/>
          </a:bodyPr>
          <a:lstStyle/>
          <a:p>
            <a:pPr algn="l">
              <a:lnSpc>
                <a:spcPts val="3864"/>
              </a:lnSpc>
            </a:pPr>
            <a:r>
              <a:rPr lang="en-US" sz="2400">
                <a:solidFill>
                  <a:srgbClr val="000000"/>
                </a:solidFill>
                <a:latin typeface="Now"/>
                <a:ea typeface="Now"/>
                <a:cs typeface="Now"/>
                <a:sym typeface="Now"/>
              </a:rPr>
              <a:t>-Mô hình ResMaskingNet cũng đạt kết quả tốt trên tập dữ liệu VEMO do tác giả xây dựng, mặc dù không nêu cụ thể con số chính xác, nhưng đã đánh giá bằng ma trận nhầm lẫn.</a:t>
            </a:r>
          </a:p>
          <a:p>
            <a:pPr algn="l">
              <a:lnSpc>
                <a:spcPts val="3864"/>
              </a:lnSpc>
            </a:pPr>
            <a:endParaRPr lang="en-US" sz="2400">
              <a:solidFill>
                <a:srgbClr val="000000"/>
              </a:solidFill>
              <a:latin typeface="Now"/>
              <a:ea typeface="Now"/>
              <a:cs typeface="Now"/>
              <a:sym typeface="Now"/>
            </a:endParaRPr>
          </a:p>
          <a:p>
            <a:pPr algn="l">
              <a:lnSpc>
                <a:spcPts val="3864"/>
              </a:lnSpc>
            </a:pPr>
            <a:endParaRPr lang="en-US" sz="2400">
              <a:solidFill>
                <a:srgbClr val="000000"/>
              </a:solidFill>
              <a:latin typeface="Now"/>
              <a:ea typeface="Now"/>
              <a:cs typeface="Now"/>
              <a:sym typeface="Now"/>
            </a:endParaRPr>
          </a:p>
        </p:txBody>
      </p:sp>
      <p:sp>
        <p:nvSpPr>
          <p:cNvPr id="11" name="TextBox 11"/>
          <p:cNvSpPr txBox="1"/>
          <p:nvPr/>
        </p:nvSpPr>
        <p:spPr>
          <a:xfrm>
            <a:off x="4224712" y="2086657"/>
            <a:ext cx="9838576" cy="3061996"/>
          </a:xfrm>
          <a:prstGeom prst="rect">
            <a:avLst/>
          </a:prstGeom>
        </p:spPr>
        <p:txBody>
          <a:bodyPr lIns="0" tIns="0" rIns="0" bIns="0" rtlCol="0" anchor="t">
            <a:spAutoFit/>
          </a:bodyPr>
          <a:lstStyle/>
          <a:p>
            <a:pPr algn="ctr">
              <a:lnSpc>
                <a:spcPts val="5740"/>
              </a:lnSpc>
            </a:pPr>
            <a:r>
              <a:rPr lang="en-US" sz="7000">
                <a:solidFill>
                  <a:srgbClr val="000000"/>
                </a:solidFill>
                <a:latin typeface="Bryndan Write"/>
                <a:ea typeface="Bryndan Write"/>
                <a:cs typeface="Bryndan Write"/>
                <a:sym typeface="Bryndan Write"/>
              </a:rPr>
              <a:t>2. Trên bộ dữ liệu VEMO (biểu cảm người Việt Nam)</a:t>
            </a:r>
          </a:p>
          <a:p>
            <a:pPr algn="ctr">
              <a:lnSpc>
                <a:spcPts val="5740"/>
              </a:lnSpc>
            </a:pPr>
            <a:endParaRPr lang="en-US" sz="7000">
              <a:solidFill>
                <a:srgbClr val="000000"/>
              </a:solidFill>
              <a:latin typeface="Bryndan Write"/>
              <a:ea typeface="Bryndan Write"/>
              <a:cs typeface="Bryndan Write"/>
              <a:sym typeface="Bryndan Writ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5888283" y="-1029552"/>
            <a:ext cx="6511435" cy="12346104"/>
          </a:xfrm>
          <a:custGeom>
            <a:avLst/>
            <a:gdLst/>
            <a:ahLst/>
            <a:cxnLst/>
            <a:rect l="l" t="t" r="r" b="b"/>
            <a:pathLst>
              <a:path w="6511435" h="12346104">
                <a:moveTo>
                  <a:pt x="0" y="0"/>
                </a:moveTo>
                <a:lnTo>
                  <a:pt x="6511434" y="0"/>
                </a:lnTo>
                <a:lnTo>
                  <a:pt x="6511434" y="12346104"/>
                </a:lnTo>
                <a:lnTo>
                  <a:pt x="0" y="12346104"/>
                </a:lnTo>
                <a:lnTo>
                  <a:pt x="0" y="0"/>
                </a:lnTo>
                <a:close/>
              </a:path>
            </a:pathLst>
          </a:custGeom>
          <a:blipFill>
            <a:blip r:embed="rId3"/>
            <a:stretch>
              <a:fillRect r="-45997"/>
            </a:stretch>
          </a:blipFill>
        </p:spPr>
      </p:sp>
      <p:sp>
        <p:nvSpPr>
          <p:cNvPr id="4" name="Freeform 4"/>
          <p:cNvSpPr/>
          <p:nvPr/>
        </p:nvSpPr>
        <p:spPr>
          <a:xfrm rot="-1391118">
            <a:off x="10316583" y="-2915471"/>
            <a:ext cx="3665666" cy="3796829"/>
          </a:xfrm>
          <a:custGeom>
            <a:avLst/>
            <a:gdLst/>
            <a:ahLst/>
            <a:cxnLst/>
            <a:rect l="l" t="t" r="r" b="b"/>
            <a:pathLst>
              <a:path w="3665666" h="3796829">
                <a:moveTo>
                  <a:pt x="0" y="0"/>
                </a:moveTo>
                <a:lnTo>
                  <a:pt x="3665665" y="0"/>
                </a:lnTo>
                <a:lnTo>
                  <a:pt x="3665665" y="3796829"/>
                </a:lnTo>
                <a:lnTo>
                  <a:pt x="0" y="37968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6979330">
            <a:off x="-712187" y="8552632"/>
            <a:ext cx="3453702" cy="1902676"/>
          </a:xfrm>
          <a:custGeom>
            <a:avLst/>
            <a:gdLst/>
            <a:ahLst/>
            <a:cxnLst/>
            <a:rect l="l" t="t" r="r" b="b"/>
            <a:pathLst>
              <a:path w="3453702" h="1902676">
                <a:moveTo>
                  <a:pt x="0" y="0"/>
                </a:moveTo>
                <a:lnTo>
                  <a:pt x="3453703" y="0"/>
                </a:lnTo>
                <a:lnTo>
                  <a:pt x="3453703" y="1902676"/>
                </a:lnTo>
                <a:lnTo>
                  <a:pt x="0" y="19026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10800000">
            <a:off x="3311855" y="1236710"/>
            <a:ext cx="789010" cy="1764347"/>
          </a:xfrm>
          <a:custGeom>
            <a:avLst/>
            <a:gdLst/>
            <a:ahLst/>
            <a:cxnLst/>
            <a:rect l="l" t="t" r="r" b="b"/>
            <a:pathLst>
              <a:path w="789010" h="1764347">
                <a:moveTo>
                  <a:pt x="0" y="0"/>
                </a:moveTo>
                <a:lnTo>
                  <a:pt x="789011" y="0"/>
                </a:lnTo>
                <a:lnTo>
                  <a:pt x="789011" y="1764347"/>
                </a:lnTo>
                <a:lnTo>
                  <a:pt x="0" y="17643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p:cNvSpPr/>
          <p:nvPr/>
        </p:nvSpPr>
        <p:spPr>
          <a:xfrm>
            <a:off x="14187134" y="7285943"/>
            <a:ext cx="789010" cy="1764347"/>
          </a:xfrm>
          <a:custGeom>
            <a:avLst/>
            <a:gdLst/>
            <a:ahLst/>
            <a:cxnLst/>
            <a:rect l="l" t="t" r="r" b="b"/>
            <a:pathLst>
              <a:path w="789010" h="1764347">
                <a:moveTo>
                  <a:pt x="0" y="0"/>
                </a:moveTo>
                <a:lnTo>
                  <a:pt x="789011" y="0"/>
                </a:lnTo>
                <a:lnTo>
                  <a:pt x="789011" y="1764347"/>
                </a:lnTo>
                <a:lnTo>
                  <a:pt x="0" y="176434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8" name="Freeform 8"/>
          <p:cNvSpPr/>
          <p:nvPr/>
        </p:nvSpPr>
        <p:spPr>
          <a:xfrm>
            <a:off x="1832840" y="5476927"/>
            <a:ext cx="1600479" cy="2057400"/>
          </a:xfrm>
          <a:custGeom>
            <a:avLst/>
            <a:gdLst/>
            <a:ahLst/>
            <a:cxnLst/>
            <a:rect l="l" t="t" r="r" b="b"/>
            <a:pathLst>
              <a:path w="1600479" h="2057400">
                <a:moveTo>
                  <a:pt x="0" y="0"/>
                </a:moveTo>
                <a:lnTo>
                  <a:pt x="1600480" y="0"/>
                </a:lnTo>
                <a:lnTo>
                  <a:pt x="1600480" y="2057400"/>
                </a:lnTo>
                <a:lnTo>
                  <a:pt x="0" y="205740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9" name="Freeform 9"/>
          <p:cNvSpPr/>
          <p:nvPr/>
        </p:nvSpPr>
        <p:spPr>
          <a:xfrm>
            <a:off x="16183823" y="641041"/>
            <a:ext cx="2999781" cy="2955685"/>
          </a:xfrm>
          <a:custGeom>
            <a:avLst/>
            <a:gdLst/>
            <a:ahLst/>
            <a:cxnLst/>
            <a:rect l="l" t="t" r="r" b="b"/>
            <a:pathLst>
              <a:path w="2999781" h="2955685">
                <a:moveTo>
                  <a:pt x="0" y="0"/>
                </a:moveTo>
                <a:lnTo>
                  <a:pt x="2999781" y="0"/>
                </a:lnTo>
                <a:lnTo>
                  <a:pt x="2999781" y="2955684"/>
                </a:lnTo>
                <a:lnTo>
                  <a:pt x="0" y="295568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0" name="TextBox 10"/>
          <p:cNvSpPr txBox="1"/>
          <p:nvPr/>
        </p:nvSpPr>
        <p:spPr>
          <a:xfrm>
            <a:off x="4100866" y="4239249"/>
            <a:ext cx="10086269" cy="2389631"/>
          </a:xfrm>
          <a:prstGeom prst="rect">
            <a:avLst/>
          </a:prstGeom>
        </p:spPr>
        <p:txBody>
          <a:bodyPr lIns="0" tIns="0" rIns="0" bIns="0" rtlCol="0" anchor="t">
            <a:spAutoFit/>
          </a:bodyPr>
          <a:lstStyle/>
          <a:p>
            <a:pPr algn="l">
              <a:lnSpc>
                <a:spcPts val="3864"/>
              </a:lnSpc>
            </a:pPr>
            <a:endParaRPr/>
          </a:p>
          <a:p>
            <a:pPr algn="l">
              <a:lnSpc>
                <a:spcPts val="3864"/>
              </a:lnSpc>
            </a:pPr>
            <a:r>
              <a:rPr lang="en-US" sz="2400">
                <a:solidFill>
                  <a:srgbClr val="000000"/>
                </a:solidFill>
                <a:latin typeface="Now"/>
                <a:ea typeface="Now"/>
                <a:cs typeface="Now"/>
                <a:sym typeface="Now"/>
              </a:rPr>
              <a:t>Thực nghiệm trên dữ liệu thực tế và hình ảnh từ phim (ví dụ: Mắt Biếc, Harry Potter…) cũng cho thấy mô hình có thể nhận diện cảm xúc đúng trong điều kiện ngoài đời thực​.</a:t>
            </a:r>
          </a:p>
          <a:p>
            <a:pPr algn="l">
              <a:lnSpc>
                <a:spcPts val="3864"/>
              </a:lnSpc>
            </a:pPr>
            <a:endParaRPr lang="en-US" sz="2400">
              <a:solidFill>
                <a:srgbClr val="000000"/>
              </a:solidFill>
              <a:latin typeface="Now"/>
              <a:ea typeface="Now"/>
              <a:cs typeface="Now"/>
              <a:sym typeface="Now"/>
            </a:endParaRPr>
          </a:p>
        </p:txBody>
      </p:sp>
      <p:sp>
        <p:nvSpPr>
          <p:cNvPr id="11" name="TextBox 11"/>
          <p:cNvSpPr txBox="1"/>
          <p:nvPr/>
        </p:nvSpPr>
        <p:spPr>
          <a:xfrm>
            <a:off x="4224712" y="2086657"/>
            <a:ext cx="9838576" cy="3061996"/>
          </a:xfrm>
          <a:prstGeom prst="rect">
            <a:avLst/>
          </a:prstGeom>
        </p:spPr>
        <p:txBody>
          <a:bodyPr lIns="0" tIns="0" rIns="0" bIns="0" rtlCol="0" anchor="t">
            <a:spAutoFit/>
          </a:bodyPr>
          <a:lstStyle/>
          <a:p>
            <a:pPr algn="ctr">
              <a:lnSpc>
                <a:spcPts val="5740"/>
              </a:lnSpc>
            </a:pPr>
            <a:r>
              <a:rPr lang="en-US" sz="7000">
                <a:solidFill>
                  <a:srgbClr val="000000"/>
                </a:solidFill>
                <a:latin typeface="Bryndan Write"/>
                <a:ea typeface="Bryndan Write"/>
                <a:cs typeface="Bryndan Write"/>
                <a:sym typeface="Bryndan Write"/>
              </a:rPr>
              <a:t>2. Trên bộ dữ liệu VEMO (biểu cảm người Việt Nam)</a:t>
            </a:r>
          </a:p>
          <a:p>
            <a:pPr algn="ctr">
              <a:lnSpc>
                <a:spcPts val="5740"/>
              </a:lnSpc>
            </a:pPr>
            <a:endParaRPr lang="en-US" sz="7000">
              <a:solidFill>
                <a:srgbClr val="000000"/>
              </a:solidFill>
              <a:latin typeface="Bryndan Write"/>
              <a:ea typeface="Bryndan Write"/>
              <a:cs typeface="Bryndan Write"/>
              <a:sym typeface="Bryndan Writ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6496022" y="1759980"/>
            <a:ext cx="10763278" cy="17716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3. Các công cụ trực quan hóa</a:t>
            </a:r>
          </a:p>
          <a:p>
            <a:pPr algn="l">
              <a:lnSpc>
                <a:spcPts val="6600"/>
              </a:lnSpc>
            </a:pPr>
            <a:endParaRPr lang="en-US" sz="6000">
              <a:solidFill>
                <a:srgbClr val="FFFFFF"/>
              </a:solidFill>
              <a:latin typeface="Bryndan Write"/>
              <a:ea typeface="Bryndan Write"/>
              <a:cs typeface="Bryndan Write"/>
              <a:sym typeface="Bryndan Write"/>
            </a:endParaRPr>
          </a:p>
        </p:txBody>
      </p:sp>
      <p:sp>
        <p:nvSpPr>
          <p:cNvPr id="6" name="TextBox 6"/>
          <p:cNvSpPr txBox="1"/>
          <p:nvPr/>
        </p:nvSpPr>
        <p:spPr>
          <a:xfrm>
            <a:off x="6278687" y="3215224"/>
            <a:ext cx="9854029" cy="3956945"/>
          </a:xfrm>
          <a:prstGeom prst="rect">
            <a:avLst/>
          </a:prstGeom>
        </p:spPr>
        <p:txBody>
          <a:bodyPr lIns="0" tIns="0" rIns="0" bIns="0" rtlCol="0" anchor="t">
            <a:spAutoFit/>
          </a:bodyPr>
          <a:lstStyle/>
          <a:p>
            <a:pPr algn="l">
              <a:lnSpc>
                <a:spcPts val="3975"/>
              </a:lnSpc>
            </a:pPr>
            <a:r>
              <a:rPr lang="en-US" sz="2839" b="1">
                <a:solidFill>
                  <a:srgbClr val="FFFFFF"/>
                </a:solidFill>
                <a:latin typeface="Now Bold"/>
                <a:ea typeface="Now Bold"/>
                <a:cs typeface="Now Bold"/>
                <a:sym typeface="Now Bold"/>
              </a:rPr>
              <a:t> Tác giả sử dụng Grad-CAM và gộp theo chiều kênh (channel-wise pooling) để trực quan hóa vùng quan tâm (attention regions) của mô hình.</a:t>
            </a:r>
          </a:p>
          <a:p>
            <a:pPr algn="l">
              <a:lnSpc>
                <a:spcPts val="3975"/>
              </a:lnSpc>
            </a:pPr>
            <a:endParaRPr lang="en-US" sz="2839" b="1">
              <a:solidFill>
                <a:srgbClr val="FFFFFF"/>
              </a:solidFill>
              <a:latin typeface="Now Bold"/>
              <a:ea typeface="Now Bold"/>
              <a:cs typeface="Now Bold"/>
              <a:sym typeface="Now Bold"/>
            </a:endParaRPr>
          </a:p>
          <a:p>
            <a:pPr algn="l">
              <a:lnSpc>
                <a:spcPts val="3975"/>
              </a:lnSpc>
            </a:pPr>
            <a:r>
              <a:rPr lang="en-US" sz="2839" b="1">
                <a:solidFill>
                  <a:srgbClr val="FFFFFF"/>
                </a:solidFill>
                <a:latin typeface="Now Bold"/>
                <a:ea typeface="Now Bold"/>
                <a:cs typeface="Now Bold"/>
                <a:sym typeface="Now Bold"/>
              </a:rPr>
              <a:t>Các hình ảnh cho thấy mạng đã chú ý đúng vào các vùng biểu hiện cảm xúc như mắt, miệng, mũi... giúp củng cố niềm tin vào hiệu quả của mô hình​.</a:t>
            </a:r>
          </a:p>
          <a:p>
            <a:pPr algn="l">
              <a:lnSpc>
                <a:spcPts val="3975"/>
              </a:lnSpc>
            </a:pPr>
            <a:endParaRPr lang="en-US" sz="2839" b="1">
              <a:solidFill>
                <a:srgbClr val="FFFFFF"/>
              </a:solidFill>
              <a:latin typeface="Now Bold"/>
              <a:ea typeface="Now Bold"/>
              <a:cs typeface="Now Bold"/>
              <a:sym typeface="Now Bold"/>
            </a:endParaRPr>
          </a:p>
        </p:txBody>
      </p:sp>
      <p:sp>
        <p:nvSpPr>
          <p:cNvPr id="7" name="Freeform 7"/>
          <p:cNvSpPr/>
          <p:nvPr/>
        </p:nvSpPr>
        <p:spPr>
          <a:xfrm rot="1353809">
            <a:off x="13566310" y="25331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4291370" y="3588120"/>
            <a:ext cx="9705260" cy="4274239"/>
          </a:xfrm>
          <a:custGeom>
            <a:avLst/>
            <a:gdLst/>
            <a:ahLst/>
            <a:cxnLst/>
            <a:rect l="l" t="t" r="r" b="b"/>
            <a:pathLst>
              <a:path w="9705260" h="4274239">
                <a:moveTo>
                  <a:pt x="0" y="0"/>
                </a:moveTo>
                <a:lnTo>
                  <a:pt x="9705260" y="0"/>
                </a:lnTo>
                <a:lnTo>
                  <a:pt x="9705260" y="4274238"/>
                </a:lnTo>
                <a:lnTo>
                  <a:pt x="0" y="4274238"/>
                </a:lnTo>
                <a:lnTo>
                  <a:pt x="0" y="0"/>
                </a:lnTo>
                <a:close/>
              </a:path>
            </a:pathLst>
          </a:custGeom>
          <a:blipFill>
            <a:blip r:embed="rId3"/>
            <a:stretch>
              <a:fillRect l="-16157" t="-92539"/>
            </a:stretch>
          </a:blipFill>
        </p:spPr>
      </p:sp>
      <p:sp>
        <p:nvSpPr>
          <p:cNvPr id="4" name="Freeform 4"/>
          <p:cNvSpPr/>
          <p:nvPr/>
        </p:nvSpPr>
        <p:spPr>
          <a:xfrm rot="721296">
            <a:off x="6325472" y="5529041"/>
            <a:ext cx="5637056" cy="1434887"/>
          </a:xfrm>
          <a:custGeom>
            <a:avLst/>
            <a:gdLst/>
            <a:ahLst/>
            <a:cxnLst/>
            <a:rect l="l" t="t" r="r" b="b"/>
            <a:pathLst>
              <a:path w="5637056" h="1434887">
                <a:moveTo>
                  <a:pt x="0" y="0"/>
                </a:moveTo>
                <a:lnTo>
                  <a:pt x="5637056" y="0"/>
                </a:lnTo>
                <a:lnTo>
                  <a:pt x="5637056" y="1434887"/>
                </a:lnTo>
                <a:lnTo>
                  <a:pt x="0" y="143488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3026566">
            <a:off x="2743604" y="2404370"/>
            <a:ext cx="3728345" cy="2367499"/>
          </a:xfrm>
          <a:custGeom>
            <a:avLst/>
            <a:gdLst/>
            <a:ahLst/>
            <a:cxnLst/>
            <a:rect l="l" t="t" r="r" b="b"/>
            <a:pathLst>
              <a:path w="3728345" h="2367499">
                <a:moveTo>
                  <a:pt x="0" y="0"/>
                </a:moveTo>
                <a:lnTo>
                  <a:pt x="3728345" y="0"/>
                </a:lnTo>
                <a:lnTo>
                  <a:pt x="3728345" y="2367499"/>
                </a:lnTo>
                <a:lnTo>
                  <a:pt x="0" y="23674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687259" y="4273677"/>
            <a:ext cx="10913483" cy="3082671"/>
          </a:xfrm>
          <a:prstGeom prst="rect">
            <a:avLst/>
          </a:prstGeom>
        </p:spPr>
        <p:txBody>
          <a:bodyPr lIns="0" tIns="0" rIns="0" bIns="0" rtlCol="0" anchor="t">
            <a:spAutoFit/>
          </a:bodyPr>
          <a:lstStyle/>
          <a:p>
            <a:pPr algn="ctr">
              <a:lnSpc>
                <a:spcPts val="7872"/>
              </a:lnSpc>
            </a:pPr>
            <a:r>
              <a:rPr lang="en-US" sz="9600">
                <a:solidFill>
                  <a:srgbClr val="000000"/>
                </a:solidFill>
                <a:latin typeface="Gochi Hand"/>
                <a:ea typeface="Gochi Hand"/>
                <a:cs typeface="Gochi Hand"/>
                <a:sym typeface="Gochi Hand"/>
              </a:rPr>
              <a:t>Hạn chế của công trình</a:t>
            </a:r>
          </a:p>
          <a:p>
            <a:pPr algn="ctr">
              <a:lnSpc>
                <a:spcPts val="7872"/>
              </a:lnSpc>
            </a:pPr>
            <a:endParaRPr lang="en-US" sz="9600">
              <a:solidFill>
                <a:srgbClr val="000000"/>
              </a:solidFill>
              <a:latin typeface="Gochi Hand"/>
              <a:ea typeface="Gochi Hand"/>
              <a:cs typeface="Gochi Hand"/>
              <a:sym typeface="Gochi Hand"/>
            </a:endParaRPr>
          </a:p>
        </p:txBody>
      </p:sp>
      <p:sp>
        <p:nvSpPr>
          <p:cNvPr id="7" name="Freeform 7"/>
          <p:cNvSpPr/>
          <p:nvPr/>
        </p:nvSpPr>
        <p:spPr>
          <a:xfrm rot="7671314">
            <a:off x="11833594" y="5972294"/>
            <a:ext cx="3728345" cy="2367499"/>
          </a:xfrm>
          <a:custGeom>
            <a:avLst/>
            <a:gdLst/>
            <a:ahLst/>
            <a:cxnLst/>
            <a:rect l="l" t="t" r="r" b="b"/>
            <a:pathLst>
              <a:path w="3728345" h="2367499">
                <a:moveTo>
                  <a:pt x="0" y="0"/>
                </a:moveTo>
                <a:lnTo>
                  <a:pt x="3728344" y="0"/>
                </a:lnTo>
                <a:lnTo>
                  <a:pt x="3728344" y="2367499"/>
                </a:lnTo>
                <a:lnTo>
                  <a:pt x="0" y="23674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6496022" y="1759980"/>
            <a:ext cx="11560172" cy="17716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1. Chưa đánh giá hiệu năng mô hình trên các dạng bài toán khác</a:t>
            </a:r>
          </a:p>
        </p:txBody>
      </p:sp>
      <p:sp>
        <p:nvSpPr>
          <p:cNvPr id="6" name="TextBox 6"/>
          <p:cNvSpPr txBox="1"/>
          <p:nvPr/>
        </p:nvSpPr>
        <p:spPr>
          <a:xfrm>
            <a:off x="6496022" y="3745377"/>
            <a:ext cx="9854029" cy="4454626"/>
          </a:xfrm>
          <a:prstGeom prst="rect">
            <a:avLst/>
          </a:prstGeom>
        </p:spPr>
        <p:txBody>
          <a:bodyPr lIns="0" tIns="0" rIns="0" bIns="0" rtlCol="0" anchor="t">
            <a:spAutoFit/>
          </a:bodyPr>
          <a:lstStyle/>
          <a:p>
            <a:pPr algn="l">
              <a:lnSpc>
                <a:spcPts val="3975"/>
              </a:lnSpc>
            </a:pPr>
            <a:r>
              <a:rPr lang="en-US" sz="2839" b="1">
                <a:solidFill>
                  <a:srgbClr val="FFFFFF"/>
                </a:solidFill>
                <a:latin typeface="Now Bold"/>
                <a:ea typeface="Now Bold"/>
                <a:cs typeface="Now Bold"/>
                <a:sym typeface="Now Bold"/>
              </a:rPr>
              <a:t>Mô hình Residual Masking Network (RMN) được thiết kế cho bài toán phân loại cảm xúc khuôn mặt, tuy nhiên chưa có thực nghiệm chứng minh hiệu quả trên các bài toán phân lớp khác, dù có tiềm năng áp dụng được​.</a:t>
            </a: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p:txBody>
      </p:sp>
      <p:sp>
        <p:nvSpPr>
          <p:cNvPr id="7" name="Freeform 7"/>
          <p:cNvSpPr/>
          <p:nvPr/>
        </p:nvSpPr>
        <p:spPr>
          <a:xfrm rot="1353809">
            <a:off x="13566310" y="25331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6496022" y="499599"/>
            <a:ext cx="11560172" cy="4286250"/>
          </a:xfrm>
          <a:prstGeom prst="rect">
            <a:avLst/>
          </a:prstGeom>
        </p:spPr>
        <p:txBody>
          <a:bodyPr lIns="0" tIns="0" rIns="0" bIns="0" rtlCol="0" anchor="t">
            <a:spAutoFit/>
          </a:bodyPr>
          <a:lstStyle/>
          <a:p>
            <a:pPr algn="l">
              <a:lnSpc>
                <a:spcPts val="6600"/>
              </a:lnSpc>
            </a:pPr>
            <a:endParaRPr/>
          </a:p>
          <a:p>
            <a:pPr algn="l">
              <a:lnSpc>
                <a:spcPts val="6600"/>
              </a:lnSpc>
            </a:pPr>
            <a:r>
              <a:rPr lang="en-US" sz="6000">
                <a:solidFill>
                  <a:srgbClr val="FFFFFF"/>
                </a:solidFill>
                <a:latin typeface="Bryndan Write"/>
                <a:ea typeface="Bryndan Write"/>
                <a:cs typeface="Bryndan Write"/>
                <a:sym typeface="Bryndan Write"/>
              </a:rPr>
              <a:t>2. Chưa thử nghiệm nhiều cấu hình cho khối chú ý (Masking Block)</a:t>
            </a:r>
          </a:p>
          <a:p>
            <a:pPr algn="l">
              <a:lnSpc>
                <a:spcPts val="6600"/>
              </a:lnSpc>
            </a:pPr>
            <a:endParaRPr lang="en-US" sz="6000">
              <a:solidFill>
                <a:srgbClr val="FFFFFF"/>
              </a:solidFill>
              <a:latin typeface="Bryndan Write"/>
              <a:ea typeface="Bryndan Write"/>
              <a:cs typeface="Bryndan Write"/>
              <a:sym typeface="Bryndan Write"/>
            </a:endParaRPr>
          </a:p>
        </p:txBody>
      </p:sp>
      <p:sp>
        <p:nvSpPr>
          <p:cNvPr id="6" name="TextBox 6"/>
          <p:cNvSpPr txBox="1"/>
          <p:nvPr/>
        </p:nvSpPr>
        <p:spPr>
          <a:xfrm>
            <a:off x="6496022" y="3742645"/>
            <a:ext cx="9854029" cy="4454626"/>
          </a:xfrm>
          <a:prstGeom prst="rect">
            <a:avLst/>
          </a:prstGeom>
        </p:spPr>
        <p:txBody>
          <a:bodyPr lIns="0" tIns="0" rIns="0" bIns="0" rtlCol="0" anchor="t">
            <a:spAutoFit/>
          </a:bodyPr>
          <a:lstStyle/>
          <a:p>
            <a:pPr algn="l">
              <a:lnSpc>
                <a:spcPts val="3975"/>
              </a:lnSpc>
            </a:pPr>
            <a:endParaRPr/>
          </a:p>
          <a:p>
            <a:pPr algn="l">
              <a:lnSpc>
                <a:spcPts val="3975"/>
              </a:lnSpc>
            </a:pPr>
            <a:r>
              <a:rPr lang="en-US" sz="2839" b="1">
                <a:solidFill>
                  <a:srgbClr val="FFFFFF"/>
                </a:solidFill>
                <a:latin typeface="Now Bold"/>
                <a:ea typeface="Now Bold"/>
                <a:cs typeface="Now Bold"/>
                <a:sym typeface="Now Bold"/>
              </a:rPr>
              <a:t>Do giới hạn thời gian, tác giả chưa thực hiện các thử nghiệm so sánh hiệu năng khi thay đổi kích thước và kiến trúc của khối Residual Masking, dẫn đến việc chưa khai thác tối đa tiềm năng của mô hình​.</a:t>
            </a: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p:txBody>
      </p:sp>
      <p:sp>
        <p:nvSpPr>
          <p:cNvPr id="7" name="Freeform 7"/>
          <p:cNvSpPr/>
          <p:nvPr/>
        </p:nvSpPr>
        <p:spPr>
          <a:xfrm rot="1353809">
            <a:off x="16426607" y="-8379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5978916" y="1759980"/>
            <a:ext cx="11560172"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3. Số lượng tham số lớn</a:t>
            </a:r>
          </a:p>
        </p:txBody>
      </p:sp>
      <p:sp>
        <p:nvSpPr>
          <p:cNvPr id="6" name="TextBox 6"/>
          <p:cNvSpPr txBox="1"/>
          <p:nvPr/>
        </p:nvSpPr>
        <p:spPr>
          <a:xfrm>
            <a:off x="5978916" y="3184293"/>
            <a:ext cx="9854029" cy="3459264"/>
          </a:xfrm>
          <a:prstGeom prst="rect">
            <a:avLst/>
          </a:prstGeom>
        </p:spPr>
        <p:txBody>
          <a:bodyPr lIns="0" tIns="0" rIns="0" bIns="0" rtlCol="0" anchor="t">
            <a:spAutoFit/>
          </a:bodyPr>
          <a:lstStyle/>
          <a:p>
            <a:pPr algn="l">
              <a:lnSpc>
                <a:spcPts val="3975"/>
              </a:lnSpc>
            </a:pPr>
            <a:endParaRPr/>
          </a:p>
          <a:p>
            <a:pPr algn="l">
              <a:lnSpc>
                <a:spcPts val="3975"/>
              </a:lnSpc>
            </a:pPr>
            <a:r>
              <a:rPr lang="en-US" sz="2839" b="1">
                <a:solidFill>
                  <a:srgbClr val="FFFFFF"/>
                </a:solidFill>
                <a:latin typeface="Now Bold"/>
                <a:ea typeface="Now Bold"/>
                <a:cs typeface="Now Bold"/>
                <a:sym typeface="Now Bold"/>
              </a:rPr>
              <a:t>Mạng RMN có kích thước tương đối lớn (142.9 triệu tham số), gây tiêu tốn tài nguyên huấn luyện và khó triển khai trên thiết bị giới hạn tài nguyên như điện thoại hay thiết bị IoT​.</a:t>
            </a: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p:txBody>
      </p:sp>
      <p:sp>
        <p:nvSpPr>
          <p:cNvPr id="7" name="Freeform 7"/>
          <p:cNvSpPr/>
          <p:nvPr/>
        </p:nvSpPr>
        <p:spPr>
          <a:xfrm rot="1353809">
            <a:off x="13566310" y="25331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6496022" y="342220"/>
            <a:ext cx="11560172" cy="3448050"/>
          </a:xfrm>
          <a:prstGeom prst="rect">
            <a:avLst/>
          </a:prstGeom>
        </p:spPr>
        <p:txBody>
          <a:bodyPr lIns="0" tIns="0" rIns="0" bIns="0" rtlCol="0" anchor="t">
            <a:spAutoFit/>
          </a:bodyPr>
          <a:lstStyle/>
          <a:p>
            <a:pPr algn="l">
              <a:lnSpc>
                <a:spcPts val="6600"/>
              </a:lnSpc>
            </a:pPr>
            <a:endParaRPr/>
          </a:p>
          <a:p>
            <a:pPr algn="l">
              <a:lnSpc>
                <a:spcPts val="6600"/>
              </a:lnSpc>
            </a:pPr>
            <a:endParaRPr/>
          </a:p>
          <a:p>
            <a:pPr algn="l">
              <a:lnSpc>
                <a:spcPts val="6600"/>
              </a:lnSpc>
            </a:pPr>
            <a:r>
              <a:rPr lang="en-US" sz="6000">
                <a:solidFill>
                  <a:srgbClr val="FFFFFF"/>
                </a:solidFill>
                <a:latin typeface="Bryndan Write"/>
                <a:ea typeface="Bryndan Write"/>
                <a:cs typeface="Bryndan Write"/>
                <a:sym typeface="Bryndan Write"/>
              </a:rPr>
              <a:t>4. Dữ liệu VEMO còn hạn chế</a:t>
            </a:r>
          </a:p>
          <a:p>
            <a:pPr algn="l">
              <a:lnSpc>
                <a:spcPts val="6600"/>
              </a:lnSpc>
            </a:pPr>
            <a:endParaRPr lang="en-US" sz="6000">
              <a:solidFill>
                <a:srgbClr val="FFFFFF"/>
              </a:solidFill>
              <a:latin typeface="Bryndan Write"/>
              <a:ea typeface="Bryndan Write"/>
              <a:cs typeface="Bryndan Write"/>
              <a:sym typeface="Bryndan Write"/>
            </a:endParaRPr>
          </a:p>
        </p:txBody>
      </p:sp>
      <p:sp>
        <p:nvSpPr>
          <p:cNvPr id="6" name="TextBox 6"/>
          <p:cNvSpPr txBox="1"/>
          <p:nvPr/>
        </p:nvSpPr>
        <p:spPr>
          <a:xfrm>
            <a:off x="6496022" y="3742645"/>
            <a:ext cx="9854029" cy="2961583"/>
          </a:xfrm>
          <a:prstGeom prst="rect">
            <a:avLst/>
          </a:prstGeom>
        </p:spPr>
        <p:txBody>
          <a:bodyPr lIns="0" tIns="0" rIns="0" bIns="0" rtlCol="0" anchor="t">
            <a:spAutoFit/>
          </a:bodyPr>
          <a:lstStyle/>
          <a:p>
            <a:pPr algn="l">
              <a:lnSpc>
                <a:spcPts val="3975"/>
              </a:lnSpc>
            </a:pPr>
            <a:r>
              <a:rPr lang="en-US" sz="2839" b="1">
                <a:solidFill>
                  <a:srgbClr val="FFFFFF"/>
                </a:solidFill>
                <a:latin typeface="Now Bold"/>
                <a:ea typeface="Now Bold"/>
                <a:cs typeface="Now Bold"/>
                <a:sym typeface="Now Bold"/>
              </a:rPr>
              <a:t>Dù là một đóng góp mới, bộ dữ liệu VEMO vẫn còn nhỏ, thiếu sự đa dạng về độ tuổi, giới tính, bối cảnh, ánh sáng... Điều này ảnh hưởng đến khả năng tổng quát hóa của mô hình trong các ứng dụng thực tế​.</a:t>
            </a: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p:txBody>
      </p:sp>
      <p:sp>
        <p:nvSpPr>
          <p:cNvPr id="7" name="Freeform 7"/>
          <p:cNvSpPr/>
          <p:nvPr/>
        </p:nvSpPr>
        <p:spPr>
          <a:xfrm rot="1353809">
            <a:off x="13566310" y="25331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5978916" y="1099065"/>
            <a:ext cx="11560172" cy="3448050"/>
          </a:xfrm>
          <a:prstGeom prst="rect">
            <a:avLst/>
          </a:prstGeom>
        </p:spPr>
        <p:txBody>
          <a:bodyPr lIns="0" tIns="0" rIns="0" bIns="0" rtlCol="0" anchor="t">
            <a:spAutoFit/>
          </a:bodyPr>
          <a:lstStyle/>
          <a:p>
            <a:pPr algn="l">
              <a:lnSpc>
                <a:spcPts val="6600"/>
              </a:lnSpc>
            </a:pPr>
            <a:endParaRPr/>
          </a:p>
          <a:p>
            <a:pPr algn="l">
              <a:lnSpc>
                <a:spcPts val="6600"/>
              </a:lnSpc>
            </a:pPr>
            <a:r>
              <a:rPr lang="en-US" sz="6000">
                <a:solidFill>
                  <a:srgbClr val="FFFFFF"/>
                </a:solidFill>
                <a:latin typeface="Bryndan Write"/>
                <a:ea typeface="Bryndan Write"/>
                <a:cs typeface="Bryndan Write"/>
                <a:sym typeface="Bryndan Write"/>
              </a:rPr>
              <a:t>5. Chưa mở rộng sang ảnh động hoặc video</a:t>
            </a:r>
          </a:p>
          <a:p>
            <a:pPr algn="l">
              <a:lnSpc>
                <a:spcPts val="6600"/>
              </a:lnSpc>
            </a:pPr>
            <a:endParaRPr lang="en-US" sz="6000">
              <a:solidFill>
                <a:srgbClr val="FFFFFF"/>
              </a:solidFill>
              <a:latin typeface="Bryndan Write"/>
              <a:ea typeface="Bryndan Write"/>
              <a:cs typeface="Bryndan Write"/>
              <a:sym typeface="Bryndan Write"/>
            </a:endParaRPr>
          </a:p>
        </p:txBody>
      </p:sp>
      <p:sp>
        <p:nvSpPr>
          <p:cNvPr id="6" name="TextBox 6"/>
          <p:cNvSpPr txBox="1"/>
          <p:nvPr/>
        </p:nvSpPr>
        <p:spPr>
          <a:xfrm>
            <a:off x="5978916" y="3464064"/>
            <a:ext cx="9854029" cy="3459264"/>
          </a:xfrm>
          <a:prstGeom prst="rect">
            <a:avLst/>
          </a:prstGeom>
        </p:spPr>
        <p:txBody>
          <a:bodyPr lIns="0" tIns="0" rIns="0" bIns="0" rtlCol="0" anchor="t">
            <a:spAutoFit/>
          </a:bodyPr>
          <a:lstStyle/>
          <a:p>
            <a:pPr algn="l">
              <a:lnSpc>
                <a:spcPts val="3975"/>
              </a:lnSpc>
            </a:pPr>
            <a:endParaRPr/>
          </a:p>
          <a:p>
            <a:pPr algn="l">
              <a:lnSpc>
                <a:spcPts val="3975"/>
              </a:lnSpc>
            </a:pPr>
            <a:r>
              <a:rPr lang="en-US" sz="2839" b="1">
                <a:solidFill>
                  <a:srgbClr val="FFFFFF"/>
                </a:solidFill>
                <a:latin typeface="Now Bold"/>
                <a:ea typeface="Now Bold"/>
                <a:cs typeface="Now Bold"/>
                <a:sym typeface="Now Bold"/>
              </a:rPr>
              <a:t>Công trình chỉ tập trung vào ảnh tĩnh, trong khi ứng dụng thực tế thường cần phân tích cảm xúc theo thời gian (ảnh động/video), ví dụ như trong chăm sóc khách hàng, giáo dục, y tế...</a:t>
            </a:r>
          </a:p>
          <a:p>
            <a:pPr algn="l">
              <a:lnSpc>
                <a:spcPts val="3975"/>
              </a:lnSpc>
            </a:pPr>
            <a:endParaRPr lang="en-US" sz="2839" b="1">
              <a:solidFill>
                <a:srgbClr val="FFFFFF"/>
              </a:solidFill>
              <a:latin typeface="Now Bold"/>
              <a:ea typeface="Now Bold"/>
              <a:cs typeface="Now Bold"/>
              <a:sym typeface="Now Bold"/>
            </a:endParaRPr>
          </a:p>
          <a:p>
            <a:pPr algn="l">
              <a:lnSpc>
                <a:spcPts val="3975"/>
              </a:lnSpc>
            </a:pPr>
            <a:endParaRPr lang="en-US" sz="2839" b="1">
              <a:solidFill>
                <a:srgbClr val="FFFFFF"/>
              </a:solidFill>
              <a:latin typeface="Now Bold"/>
              <a:ea typeface="Now Bold"/>
              <a:cs typeface="Now Bold"/>
              <a:sym typeface="Now Bold"/>
            </a:endParaRPr>
          </a:p>
        </p:txBody>
      </p:sp>
      <p:sp>
        <p:nvSpPr>
          <p:cNvPr id="7" name="Freeform 7"/>
          <p:cNvSpPr/>
          <p:nvPr/>
        </p:nvSpPr>
        <p:spPr>
          <a:xfrm rot="1353809">
            <a:off x="13566310" y="253314"/>
            <a:ext cx="1665386" cy="1729602"/>
          </a:xfrm>
          <a:custGeom>
            <a:avLst/>
            <a:gdLst/>
            <a:ahLst/>
            <a:cxnLst/>
            <a:rect l="l" t="t" r="r" b="b"/>
            <a:pathLst>
              <a:path w="1665386" h="1729602">
                <a:moveTo>
                  <a:pt x="0" y="0"/>
                </a:moveTo>
                <a:lnTo>
                  <a:pt x="1665386" y="0"/>
                </a:lnTo>
                <a:lnTo>
                  <a:pt x="1665386" y="1729602"/>
                </a:lnTo>
                <a:lnTo>
                  <a:pt x="0" y="1729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3873833" y="7639245"/>
            <a:ext cx="6632619" cy="1121516"/>
          </a:xfrm>
          <a:custGeom>
            <a:avLst/>
            <a:gdLst/>
            <a:ahLst/>
            <a:cxnLst/>
            <a:rect l="l" t="t" r="r" b="b"/>
            <a:pathLst>
              <a:path w="6632619" h="1121516">
                <a:moveTo>
                  <a:pt x="0" y="0"/>
                </a:moveTo>
                <a:lnTo>
                  <a:pt x="6632620" y="0"/>
                </a:lnTo>
                <a:lnTo>
                  <a:pt x="6632620" y="1121516"/>
                </a:lnTo>
                <a:lnTo>
                  <a:pt x="0" y="11215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1463826">
            <a:off x="11537191" y="1778400"/>
            <a:ext cx="1947347" cy="1338359"/>
          </a:xfrm>
          <a:custGeom>
            <a:avLst/>
            <a:gdLst/>
            <a:ahLst/>
            <a:cxnLst/>
            <a:rect l="l" t="t" r="r" b="b"/>
            <a:pathLst>
              <a:path w="1947347" h="1338359">
                <a:moveTo>
                  <a:pt x="0" y="0"/>
                </a:moveTo>
                <a:lnTo>
                  <a:pt x="1947347" y="0"/>
                </a:lnTo>
                <a:lnTo>
                  <a:pt x="1947347" y="1338358"/>
                </a:lnTo>
                <a:lnTo>
                  <a:pt x="0" y="13383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4107262">
            <a:off x="-865704" y="-473050"/>
            <a:ext cx="3387936" cy="2297637"/>
          </a:xfrm>
          <a:custGeom>
            <a:avLst/>
            <a:gdLst/>
            <a:ahLst/>
            <a:cxnLst/>
            <a:rect l="l" t="t" r="r" b="b"/>
            <a:pathLst>
              <a:path w="3387936" h="2297637">
                <a:moveTo>
                  <a:pt x="0" y="0"/>
                </a:moveTo>
                <a:lnTo>
                  <a:pt x="3387936" y="0"/>
                </a:lnTo>
                <a:lnTo>
                  <a:pt x="3387936" y="2297637"/>
                </a:lnTo>
                <a:lnTo>
                  <a:pt x="0" y="22976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Freeform 5"/>
          <p:cNvSpPr/>
          <p:nvPr/>
        </p:nvSpPr>
        <p:spPr>
          <a:xfrm rot="6829267">
            <a:off x="15774367" y="8189225"/>
            <a:ext cx="3715300" cy="2519649"/>
          </a:xfrm>
          <a:custGeom>
            <a:avLst/>
            <a:gdLst/>
            <a:ahLst/>
            <a:cxnLst/>
            <a:rect l="l" t="t" r="r" b="b"/>
            <a:pathLst>
              <a:path w="3715300" h="2519649">
                <a:moveTo>
                  <a:pt x="0" y="0"/>
                </a:moveTo>
                <a:lnTo>
                  <a:pt x="3715301" y="0"/>
                </a:lnTo>
                <a:lnTo>
                  <a:pt x="3715301" y="2519649"/>
                </a:lnTo>
                <a:lnTo>
                  <a:pt x="0" y="25196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391118">
            <a:off x="14634691" y="-2104991"/>
            <a:ext cx="3665666" cy="3796829"/>
          </a:xfrm>
          <a:custGeom>
            <a:avLst/>
            <a:gdLst/>
            <a:ahLst/>
            <a:cxnLst/>
            <a:rect l="l" t="t" r="r" b="b"/>
            <a:pathLst>
              <a:path w="3665666" h="3796829">
                <a:moveTo>
                  <a:pt x="0" y="0"/>
                </a:moveTo>
                <a:lnTo>
                  <a:pt x="3665665" y="0"/>
                </a:lnTo>
                <a:lnTo>
                  <a:pt x="3665665" y="3796829"/>
                </a:lnTo>
                <a:lnTo>
                  <a:pt x="0" y="379682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6979330">
            <a:off x="-712187" y="8552632"/>
            <a:ext cx="3453702" cy="1902676"/>
          </a:xfrm>
          <a:custGeom>
            <a:avLst/>
            <a:gdLst/>
            <a:ahLst/>
            <a:cxnLst/>
            <a:rect l="l" t="t" r="r" b="b"/>
            <a:pathLst>
              <a:path w="3453702" h="1902676">
                <a:moveTo>
                  <a:pt x="0" y="0"/>
                </a:moveTo>
                <a:lnTo>
                  <a:pt x="3453703" y="0"/>
                </a:lnTo>
                <a:lnTo>
                  <a:pt x="3453703" y="1902676"/>
                </a:lnTo>
                <a:lnTo>
                  <a:pt x="0" y="190267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8" name="Freeform 8"/>
          <p:cNvSpPr/>
          <p:nvPr/>
        </p:nvSpPr>
        <p:spPr>
          <a:xfrm rot="-2699999">
            <a:off x="3677137" y="2203427"/>
            <a:ext cx="2068144" cy="1756042"/>
          </a:xfrm>
          <a:custGeom>
            <a:avLst/>
            <a:gdLst/>
            <a:ahLst/>
            <a:cxnLst/>
            <a:rect l="l" t="t" r="r" b="b"/>
            <a:pathLst>
              <a:path w="2068144" h="1756042">
                <a:moveTo>
                  <a:pt x="0" y="0"/>
                </a:moveTo>
                <a:lnTo>
                  <a:pt x="2068145" y="0"/>
                </a:lnTo>
                <a:lnTo>
                  <a:pt x="2068145" y="1756043"/>
                </a:lnTo>
                <a:lnTo>
                  <a:pt x="0" y="175604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Freeform 9"/>
          <p:cNvSpPr/>
          <p:nvPr/>
        </p:nvSpPr>
        <p:spPr>
          <a:xfrm rot="7334544">
            <a:off x="13001227" y="5822549"/>
            <a:ext cx="2068144" cy="1756042"/>
          </a:xfrm>
          <a:custGeom>
            <a:avLst/>
            <a:gdLst/>
            <a:ahLst/>
            <a:cxnLst/>
            <a:rect l="l" t="t" r="r" b="b"/>
            <a:pathLst>
              <a:path w="2068144" h="1756042">
                <a:moveTo>
                  <a:pt x="0" y="0"/>
                </a:moveTo>
                <a:lnTo>
                  <a:pt x="2068144" y="0"/>
                </a:lnTo>
                <a:lnTo>
                  <a:pt x="2068144" y="1756043"/>
                </a:lnTo>
                <a:lnTo>
                  <a:pt x="0" y="175604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10" name="Freeform 10"/>
          <p:cNvSpPr/>
          <p:nvPr/>
        </p:nvSpPr>
        <p:spPr>
          <a:xfrm rot="2342060">
            <a:off x="6292314" y="3696068"/>
            <a:ext cx="5703373" cy="4904900"/>
          </a:xfrm>
          <a:custGeom>
            <a:avLst/>
            <a:gdLst/>
            <a:ahLst/>
            <a:cxnLst/>
            <a:rect l="l" t="t" r="r" b="b"/>
            <a:pathLst>
              <a:path w="5703373" h="4904900">
                <a:moveTo>
                  <a:pt x="0" y="0"/>
                </a:moveTo>
                <a:lnTo>
                  <a:pt x="5703372" y="0"/>
                </a:lnTo>
                <a:lnTo>
                  <a:pt x="5703372" y="4904900"/>
                </a:lnTo>
                <a:lnTo>
                  <a:pt x="0" y="490490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1" name="TextBox 11"/>
          <p:cNvSpPr txBox="1"/>
          <p:nvPr/>
        </p:nvSpPr>
        <p:spPr>
          <a:xfrm>
            <a:off x="5278903" y="3198570"/>
            <a:ext cx="7730195" cy="4042259"/>
          </a:xfrm>
          <a:prstGeom prst="rect">
            <a:avLst/>
          </a:prstGeom>
        </p:spPr>
        <p:txBody>
          <a:bodyPr lIns="0" tIns="0" rIns="0" bIns="0" rtlCol="0" anchor="t">
            <a:spAutoFit/>
          </a:bodyPr>
          <a:lstStyle/>
          <a:p>
            <a:pPr algn="ctr">
              <a:lnSpc>
                <a:spcPts val="15021"/>
              </a:lnSpc>
            </a:pPr>
            <a:r>
              <a:rPr lang="en-US" sz="15021">
                <a:solidFill>
                  <a:srgbClr val="FFFFFF"/>
                </a:solidFill>
                <a:latin typeface="Bryndan Write"/>
                <a:ea typeface="Bryndan Write"/>
                <a:cs typeface="Bryndan Write"/>
                <a:sym typeface="Bryndan Writ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1928</Words>
  <Application>Microsoft Office PowerPoint</Application>
  <PresentationFormat>Custom</PresentationFormat>
  <Paragraphs>119</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Now Bold</vt:lpstr>
      <vt:lpstr>Gochi Hand</vt:lpstr>
      <vt:lpstr>Now</vt:lpstr>
      <vt:lpstr>Calibri</vt:lpstr>
      <vt:lpstr>Bryndan Write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BT6_PhanTichLuanVan_N</dc:title>
  <cp:lastModifiedBy>Thái Đình</cp:lastModifiedBy>
  <cp:revision>2</cp:revision>
  <dcterms:created xsi:type="dcterms:W3CDTF">2006-08-16T00:00:00Z</dcterms:created>
  <dcterms:modified xsi:type="dcterms:W3CDTF">2025-04-18T14:56:36Z</dcterms:modified>
  <dc:identifier>DAGk8dQX8m8</dc:identifier>
</cp:coreProperties>
</file>